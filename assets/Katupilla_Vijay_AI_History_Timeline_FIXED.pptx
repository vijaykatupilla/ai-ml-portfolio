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2" r:id="rId1"/>
  </p:sldMasterIdLst>
  <p:notesMasterIdLst>
    <p:notesMasterId r:id="rId13"/>
  </p:notesMasterIdLst>
  <p:sldIdLst>
    <p:sldId id="268" r:id="rId2"/>
    <p:sldId id="257" r:id="rId3"/>
    <p:sldId id="258" r:id="rId4"/>
    <p:sldId id="259" r:id="rId5"/>
    <p:sldId id="260" r:id="rId6"/>
    <p:sldId id="262" r:id="rId7"/>
    <p:sldId id="263" r:id="rId8"/>
    <p:sldId id="264" r:id="rId9"/>
    <p:sldId id="265" r:id="rId10"/>
    <p:sldId id="266" r:id="rId11"/>
    <p:sldId id="269" r:id="rId12"/>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B8447D-74F5-4644-B9D9-8648194A2F27}" v="11" dt="2026-07-06T21:18:10.2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jay Katupilla" userId="3f75bcc49ca5e61a" providerId="LiveId" clId="{53612239-A154-456B-B401-3D5F38D92608}"/>
    <pc:docChg chg="undo custSel addSld delSld modSld">
      <pc:chgData name="Vijay Katupilla" userId="3f75bcc49ca5e61a" providerId="LiveId" clId="{53612239-A154-456B-B401-3D5F38D92608}" dt="2026-07-11T16:18:07.386" v="187" actId="14100"/>
      <pc:docMkLst>
        <pc:docMk/>
      </pc:docMkLst>
      <pc:sldChg chg="modSp mod">
        <pc:chgData name="Vijay Katupilla" userId="3f75bcc49ca5e61a" providerId="LiveId" clId="{53612239-A154-456B-B401-3D5F38D92608}" dt="2026-07-06T22:00:34.456" v="165" actId="1076"/>
        <pc:sldMkLst>
          <pc:docMk/>
          <pc:sldMk cId="0" sldId="257"/>
        </pc:sldMkLst>
        <pc:spChg chg="mod">
          <ac:chgData name="Vijay Katupilla" userId="3f75bcc49ca5e61a" providerId="LiveId" clId="{53612239-A154-456B-B401-3D5F38D92608}" dt="2026-07-06T22:00:34.456" v="165" actId="1076"/>
          <ac:spMkLst>
            <pc:docMk/>
            <pc:sldMk cId="0" sldId="257"/>
            <ac:spMk id="2" creationId="{00000000-0000-0000-0000-000000000000}"/>
          </ac:spMkLst>
        </pc:spChg>
      </pc:sldChg>
      <pc:sldChg chg="modSp mod">
        <pc:chgData name="Vijay Katupilla" userId="3f75bcc49ca5e61a" providerId="LiveId" clId="{53612239-A154-456B-B401-3D5F38D92608}" dt="2026-07-06T22:00:40.736" v="166" actId="1076"/>
        <pc:sldMkLst>
          <pc:docMk/>
          <pc:sldMk cId="0" sldId="258"/>
        </pc:sldMkLst>
        <pc:spChg chg="mod">
          <ac:chgData name="Vijay Katupilla" userId="3f75bcc49ca5e61a" providerId="LiveId" clId="{53612239-A154-456B-B401-3D5F38D92608}" dt="2026-07-06T22:00:40.736" v="166" actId="1076"/>
          <ac:spMkLst>
            <pc:docMk/>
            <pc:sldMk cId="0" sldId="258"/>
            <ac:spMk id="2" creationId="{00000000-0000-0000-0000-000000000000}"/>
          </ac:spMkLst>
        </pc:spChg>
      </pc:sldChg>
      <pc:sldChg chg="modSp mod">
        <pc:chgData name="Vijay Katupilla" userId="3f75bcc49ca5e61a" providerId="LiveId" clId="{53612239-A154-456B-B401-3D5F38D92608}" dt="2026-07-11T16:16:16.722" v="176" actId="14100"/>
        <pc:sldMkLst>
          <pc:docMk/>
          <pc:sldMk cId="0" sldId="259"/>
        </pc:sldMkLst>
        <pc:spChg chg="mod">
          <ac:chgData name="Vijay Katupilla" userId="3f75bcc49ca5e61a" providerId="LiveId" clId="{53612239-A154-456B-B401-3D5F38D92608}" dt="2026-07-06T22:00:49.352" v="167" actId="1076"/>
          <ac:spMkLst>
            <pc:docMk/>
            <pc:sldMk cId="0" sldId="259"/>
            <ac:spMk id="2" creationId="{00000000-0000-0000-0000-000000000000}"/>
          </ac:spMkLst>
        </pc:spChg>
        <pc:spChg chg="mod">
          <ac:chgData name="Vijay Katupilla" userId="3f75bcc49ca5e61a" providerId="LiveId" clId="{53612239-A154-456B-B401-3D5F38D92608}" dt="2026-07-11T16:16:03.089" v="173" actId="14100"/>
          <ac:spMkLst>
            <pc:docMk/>
            <pc:sldMk cId="0" sldId="259"/>
            <ac:spMk id="6" creationId="{00000000-0000-0000-0000-000000000000}"/>
          </ac:spMkLst>
        </pc:spChg>
        <pc:spChg chg="mod">
          <ac:chgData name="Vijay Katupilla" userId="3f75bcc49ca5e61a" providerId="LiveId" clId="{53612239-A154-456B-B401-3D5F38D92608}" dt="2026-07-11T16:16:08.905" v="174" actId="14100"/>
          <ac:spMkLst>
            <pc:docMk/>
            <pc:sldMk cId="0" sldId="259"/>
            <ac:spMk id="12" creationId="{00000000-0000-0000-0000-000000000000}"/>
          </ac:spMkLst>
        </pc:spChg>
        <pc:spChg chg="mod">
          <ac:chgData name="Vijay Katupilla" userId="3f75bcc49ca5e61a" providerId="LiveId" clId="{53612239-A154-456B-B401-3D5F38D92608}" dt="2026-07-11T16:16:12.431" v="175" actId="14100"/>
          <ac:spMkLst>
            <pc:docMk/>
            <pc:sldMk cId="0" sldId="259"/>
            <ac:spMk id="18" creationId="{00000000-0000-0000-0000-000000000000}"/>
          </ac:spMkLst>
        </pc:spChg>
        <pc:spChg chg="mod">
          <ac:chgData name="Vijay Katupilla" userId="3f75bcc49ca5e61a" providerId="LiveId" clId="{53612239-A154-456B-B401-3D5F38D92608}" dt="2026-07-11T16:16:16.722" v="176" actId="14100"/>
          <ac:spMkLst>
            <pc:docMk/>
            <pc:sldMk cId="0" sldId="259"/>
            <ac:spMk id="24" creationId="{00000000-0000-0000-0000-000000000000}"/>
          </ac:spMkLst>
        </pc:spChg>
      </pc:sldChg>
      <pc:sldChg chg="modSp mod">
        <pc:chgData name="Vijay Katupilla" userId="3f75bcc49ca5e61a" providerId="LiveId" clId="{53612239-A154-456B-B401-3D5F38D92608}" dt="2026-07-11T16:16:30.243" v="177" actId="14100"/>
        <pc:sldMkLst>
          <pc:docMk/>
          <pc:sldMk cId="0" sldId="260"/>
        </pc:sldMkLst>
        <pc:spChg chg="mod">
          <ac:chgData name="Vijay Katupilla" userId="3f75bcc49ca5e61a" providerId="LiveId" clId="{53612239-A154-456B-B401-3D5F38D92608}" dt="2026-07-06T22:00:55.201" v="168" actId="1076"/>
          <ac:spMkLst>
            <pc:docMk/>
            <pc:sldMk cId="0" sldId="260"/>
            <ac:spMk id="2" creationId="{00000000-0000-0000-0000-000000000000}"/>
          </ac:spMkLst>
        </pc:spChg>
        <pc:spChg chg="mod">
          <ac:chgData name="Vijay Katupilla" userId="3f75bcc49ca5e61a" providerId="LiveId" clId="{53612239-A154-456B-B401-3D5F38D92608}" dt="2026-07-11T16:16:30.243" v="177" actId="14100"/>
          <ac:spMkLst>
            <pc:docMk/>
            <pc:sldMk cId="0" sldId="260"/>
            <ac:spMk id="4" creationId="{00000000-0000-0000-0000-000000000000}"/>
          </ac:spMkLst>
        </pc:spChg>
      </pc:sldChg>
      <pc:sldChg chg="modSp mod">
        <pc:chgData name="Vijay Katupilla" userId="3f75bcc49ca5e61a" providerId="LiveId" clId="{53612239-A154-456B-B401-3D5F38D92608}" dt="2026-07-06T22:01:00.777" v="169" actId="1076"/>
        <pc:sldMkLst>
          <pc:docMk/>
          <pc:sldMk cId="0" sldId="262"/>
        </pc:sldMkLst>
        <pc:spChg chg="mod">
          <ac:chgData name="Vijay Katupilla" userId="3f75bcc49ca5e61a" providerId="LiveId" clId="{53612239-A154-456B-B401-3D5F38D92608}" dt="2026-07-06T22:01:00.777" v="169" actId="1076"/>
          <ac:spMkLst>
            <pc:docMk/>
            <pc:sldMk cId="0" sldId="262"/>
            <ac:spMk id="2" creationId="{00000000-0000-0000-0000-000000000000}"/>
          </ac:spMkLst>
        </pc:spChg>
      </pc:sldChg>
      <pc:sldChg chg="modSp mod">
        <pc:chgData name="Vijay Katupilla" userId="3f75bcc49ca5e61a" providerId="LiveId" clId="{53612239-A154-456B-B401-3D5F38D92608}" dt="2026-07-11T16:17:44.742" v="186" actId="1076"/>
        <pc:sldMkLst>
          <pc:docMk/>
          <pc:sldMk cId="0" sldId="263"/>
        </pc:sldMkLst>
        <pc:spChg chg="mod">
          <ac:chgData name="Vijay Katupilla" userId="3f75bcc49ca5e61a" providerId="LiveId" clId="{53612239-A154-456B-B401-3D5F38D92608}" dt="2026-07-06T22:01:12.512" v="170" actId="1076"/>
          <ac:spMkLst>
            <pc:docMk/>
            <pc:sldMk cId="0" sldId="263"/>
            <ac:spMk id="2" creationId="{00000000-0000-0000-0000-000000000000}"/>
          </ac:spMkLst>
        </pc:spChg>
        <pc:spChg chg="mod">
          <ac:chgData name="Vijay Katupilla" userId="3f75bcc49ca5e61a" providerId="LiveId" clId="{53612239-A154-456B-B401-3D5F38D92608}" dt="2026-07-11T16:17:44.742" v="186" actId="1076"/>
          <ac:spMkLst>
            <pc:docMk/>
            <pc:sldMk cId="0" sldId="263"/>
            <ac:spMk id="3" creationId="{00000000-0000-0000-0000-000000000000}"/>
          </ac:spMkLst>
        </pc:spChg>
        <pc:spChg chg="mod">
          <ac:chgData name="Vijay Katupilla" userId="3f75bcc49ca5e61a" providerId="LiveId" clId="{53612239-A154-456B-B401-3D5F38D92608}" dt="2026-07-11T16:17:32.414" v="185" actId="1076"/>
          <ac:spMkLst>
            <pc:docMk/>
            <pc:sldMk cId="0" sldId="263"/>
            <ac:spMk id="4" creationId="{00000000-0000-0000-0000-000000000000}"/>
          </ac:spMkLst>
        </pc:spChg>
        <pc:spChg chg="mod">
          <ac:chgData name="Vijay Katupilla" userId="3f75bcc49ca5e61a" providerId="LiveId" clId="{53612239-A154-456B-B401-3D5F38D92608}" dt="2026-07-11T16:17:05.411" v="181" actId="14100"/>
          <ac:spMkLst>
            <pc:docMk/>
            <pc:sldMk cId="0" sldId="263"/>
            <ac:spMk id="5" creationId="{00000000-0000-0000-0000-000000000000}"/>
          </ac:spMkLst>
        </pc:spChg>
        <pc:spChg chg="mod">
          <ac:chgData name="Vijay Katupilla" userId="3f75bcc49ca5e61a" providerId="LiveId" clId="{53612239-A154-456B-B401-3D5F38D92608}" dt="2026-07-11T16:17:12.451" v="182" actId="14100"/>
          <ac:spMkLst>
            <pc:docMk/>
            <pc:sldMk cId="0" sldId="263"/>
            <ac:spMk id="10" creationId="{00000000-0000-0000-0000-000000000000}"/>
          </ac:spMkLst>
        </pc:spChg>
        <pc:spChg chg="mod">
          <ac:chgData name="Vijay Katupilla" userId="3f75bcc49ca5e61a" providerId="LiveId" clId="{53612239-A154-456B-B401-3D5F38D92608}" dt="2026-07-11T16:17:18.004" v="183" actId="14100"/>
          <ac:spMkLst>
            <pc:docMk/>
            <pc:sldMk cId="0" sldId="263"/>
            <ac:spMk id="15" creationId="{00000000-0000-0000-0000-000000000000}"/>
          </ac:spMkLst>
        </pc:spChg>
        <pc:spChg chg="mod">
          <ac:chgData name="Vijay Katupilla" userId="3f75bcc49ca5e61a" providerId="LiveId" clId="{53612239-A154-456B-B401-3D5F38D92608}" dt="2026-07-11T16:17:23.291" v="184" actId="14100"/>
          <ac:spMkLst>
            <pc:docMk/>
            <pc:sldMk cId="0" sldId="263"/>
            <ac:spMk id="20" creationId="{00000000-0000-0000-0000-000000000000}"/>
          </ac:spMkLst>
        </pc:spChg>
      </pc:sldChg>
      <pc:sldChg chg="modSp mod">
        <pc:chgData name="Vijay Katupilla" userId="3f75bcc49ca5e61a" providerId="LiveId" clId="{53612239-A154-456B-B401-3D5F38D92608}" dt="2026-07-06T22:01:19.503" v="171" actId="1076"/>
        <pc:sldMkLst>
          <pc:docMk/>
          <pc:sldMk cId="0" sldId="264"/>
        </pc:sldMkLst>
        <pc:spChg chg="mod">
          <ac:chgData name="Vijay Katupilla" userId="3f75bcc49ca5e61a" providerId="LiveId" clId="{53612239-A154-456B-B401-3D5F38D92608}" dt="2026-07-06T22:01:19.503" v="171" actId="1076"/>
          <ac:spMkLst>
            <pc:docMk/>
            <pc:sldMk cId="0" sldId="264"/>
            <ac:spMk id="2" creationId="{00000000-0000-0000-0000-000000000000}"/>
          </ac:spMkLst>
        </pc:spChg>
      </pc:sldChg>
      <pc:sldChg chg="modSp mod">
        <pc:chgData name="Vijay Katupilla" userId="3f75bcc49ca5e61a" providerId="LiveId" clId="{53612239-A154-456B-B401-3D5F38D92608}" dt="2026-07-11T16:18:07.386" v="187" actId="14100"/>
        <pc:sldMkLst>
          <pc:docMk/>
          <pc:sldMk cId="0" sldId="265"/>
        </pc:sldMkLst>
        <pc:spChg chg="mod">
          <ac:chgData name="Vijay Katupilla" userId="3f75bcc49ca5e61a" providerId="LiveId" clId="{53612239-A154-456B-B401-3D5F38D92608}" dt="2026-07-06T22:01:25.240" v="172" actId="1076"/>
          <ac:spMkLst>
            <pc:docMk/>
            <pc:sldMk cId="0" sldId="265"/>
            <ac:spMk id="2" creationId="{00000000-0000-0000-0000-000000000000}"/>
          </ac:spMkLst>
        </pc:spChg>
        <pc:spChg chg="mod">
          <ac:chgData name="Vijay Katupilla" userId="3f75bcc49ca5e61a" providerId="LiveId" clId="{53612239-A154-456B-B401-3D5F38D92608}" dt="2026-07-11T16:18:07.386" v="187" actId="14100"/>
          <ac:spMkLst>
            <pc:docMk/>
            <pc:sldMk cId="0" sldId="265"/>
            <ac:spMk id="5" creationId="{00000000-0000-0000-0000-000000000000}"/>
          </ac:spMkLst>
        </pc:spChg>
      </pc:sldChg>
      <pc:sldChg chg="modSp mod">
        <pc:chgData name="Vijay Katupilla" userId="3f75bcc49ca5e61a" providerId="LiveId" clId="{53612239-A154-456B-B401-3D5F38D92608}" dt="2026-07-06T21:59:33.185" v="164" actId="1076"/>
        <pc:sldMkLst>
          <pc:docMk/>
          <pc:sldMk cId="0" sldId="266"/>
        </pc:sldMkLst>
        <pc:spChg chg="mod">
          <ac:chgData name="Vijay Katupilla" userId="3f75bcc49ca5e61a" providerId="LiveId" clId="{53612239-A154-456B-B401-3D5F38D92608}" dt="2026-07-06T21:59:33.185" v="164" actId="1076"/>
          <ac:spMkLst>
            <pc:docMk/>
            <pc:sldMk cId="0" sldId="266"/>
            <ac:spMk id="2" creationId="{00000000-0000-0000-0000-000000000000}"/>
          </ac:spMkLst>
        </pc:spChg>
        <pc:spChg chg="mod">
          <ac:chgData name="Vijay Katupilla" userId="3f75bcc49ca5e61a" providerId="LiveId" clId="{53612239-A154-456B-B401-3D5F38D92608}" dt="2026-07-06T21:18:40.209" v="76" actId="207"/>
          <ac:spMkLst>
            <pc:docMk/>
            <pc:sldMk cId="0" sldId="266"/>
            <ac:spMk id="21" creationId="{00000000-0000-0000-0000-000000000000}"/>
          </ac:spMkLst>
        </pc:spChg>
      </pc:sldChg>
      <pc:sldChg chg="addSp delSp modSp add del mod setBg">
        <pc:chgData name="Vijay Katupilla" userId="3f75bcc49ca5e61a" providerId="LiveId" clId="{53612239-A154-456B-B401-3D5F38D92608}" dt="2026-07-06T21:58:26.348" v="162" actId="1076"/>
        <pc:sldMkLst>
          <pc:docMk/>
          <pc:sldMk cId="0" sldId="268"/>
        </pc:sldMkLst>
        <pc:spChg chg="add">
          <ac:chgData name="Vijay Katupilla" userId="3f75bcc49ca5e61a" providerId="LiveId" clId="{53612239-A154-456B-B401-3D5F38D92608}" dt="2026-07-06T21:41:57.847" v="151" actId="478"/>
          <ac:spMkLst>
            <pc:docMk/>
            <pc:sldMk cId="0" sldId="268"/>
            <ac:spMk id="2" creationId="{00000000-0000-0000-0000-000000000000}"/>
          </ac:spMkLst>
        </pc:spChg>
        <pc:spChg chg="del">
          <ac:chgData name="Vijay Katupilla" userId="3f75bcc49ca5e61a" providerId="LiveId" clId="{53612239-A154-456B-B401-3D5F38D92608}" dt="2026-07-06T21:41:55.976" v="150" actId="478"/>
          <ac:spMkLst>
            <pc:docMk/>
            <pc:sldMk cId="0" sldId="268"/>
            <ac:spMk id="5" creationId="{00000000-0000-0000-0000-000000000000}"/>
          </ac:spMkLst>
        </pc:spChg>
        <pc:spChg chg="add">
          <ac:chgData name="Vijay Katupilla" userId="3f75bcc49ca5e61a" providerId="LiveId" clId="{53612239-A154-456B-B401-3D5F38D92608}" dt="2026-07-06T21:41:57.847" v="151" actId="478"/>
          <ac:spMkLst>
            <pc:docMk/>
            <pc:sldMk cId="0" sldId="268"/>
            <ac:spMk id="6" creationId="{00000000-0000-0000-0000-000000000000}"/>
          </ac:spMkLst>
        </pc:spChg>
        <pc:spChg chg="add">
          <ac:chgData name="Vijay Katupilla" userId="3f75bcc49ca5e61a" providerId="LiveId" clId="{53612239-A154-456B-B401-3D5F38D92608}" dt="2026-07-06T21:41:57.847" v="151" actId="478"/>
          <ac:spMkLst>
            <pc:docMk/>
            <pc:sldMk cId="0" sldId="268"/>
            <ac:spMk id="7" creationId="{00000000-0000-0000-0000-000000000000}"/>
          </ac:spMkLst>
        </pc:spChg>
        <pc:spChg chg="del">
          <ac:chgData name="Vijay Katupilla" userId="3f75bcc49ca5e61a" providerId="LiveId" clId="{53612239-A154-456B-B401-3D5F38D92608}" dt="2026-07-06T21:41:55.976" v="150" actId="478"/>
          <ac:spMkLst>
            <pc:docMk/>
            <pc:sldMk cId="0" sldId="268"/>
            <ac:spMk id="9" creationId="{00000000-0000-0000-0000-000000000000}"/>
          </ac:spMkLst>
        </pc:spChg>
        <pc:spChg chg="del">
          <ac:chgData name="Vijay Katupilla" userId="3f75bcc49ca5e61a" providerId="LiveId" clId="{53612239-A154-456B-B401-3D5F38D92608}" dt="2026-07-06T21:41:55.976" v="150" actId="478"/>
          <ac:spMkLst>
            <pc:docMk/>
            <pc:sldMk cId="0" sldId="268"/>
            <ac:spMk id="11" creationId="{00000000-0000-0000-0000-000000000000}"/>
          </ac:spMkLst>
        </pc:spChg>
        <pc:spChg chg="mod">
          <ac:chgData name="Vijay Katupilla" userId="3f75bcc49ca5e61a" providerId="LiveId" clId="{53612239-A154-456B-B401-3D5F38D92608}" dt="2026-07-06T21:58:26.348" v="162" actId="1076"/>
          <ac:spMkLst>
            <pc:docMk/>
            <pc:sldMk cId="0" sldId="268"/>
            <ac:spMk id="12" creationId="{00000000-0000-0000-0000-000000000000}"/>
          </ac:spMkLst>
        </pc:spChg>
        <pc:spChg chg="add del">
          <ac:chgData name="Vijay Katupilla" userId="3f75bcc49ca5e61a" providerId="LiveId" clId="{53612239-A154-456B-B401-3D5F38D92608}" dt="2026-07-06T21:41:57.847" v="151" actId="478"/>
          <ac:spMkLst>
            <pc:docMk/>
            <pc:sldMk cId="0" sldId="268"/>
            <ac:spMk id="13" creationId="{00000000-0000-0000-0000-000000000000}"/>
          </ac:spMkLst>
        </pc:spChg>
        <pc:spChg chg="del mod">
          <ac:chgData name="Vijay Katupilla" userId="3f75bcc49ca5e61a" providerId="LiveId" clId="{53612239-A154-456B-B401-3D5F38D92608}" dt="2026-07-06T21:42:27.004" v="158" actId="14100"/>
          <ac:spMkLst>
            <pc:docMk/>
            <pc:sldMk cId="0" sldId="268"/>
            <ac:spMk id="15" creationId="{00000000-0000-0000-0000-000000000000}"/>
          </ac:spMkLst>
        </pc:spChg>
        <pc:spChg chg="del">
          <ac:chgData name="Vijay Katupilla" userId="3f75bcc49ca5e61a" providerId="LiveId" clId="{53612239-A154-456B-B401-3D5F38D92608}" dt="2026-07-06T21:41:55.976" v="150" actId="478"/>
          <ac:spMkLst>
            <pc:docMk/>
            <pc:sldMk cId="0" sldId="268"/>
            <ac:spMk id="17" creationId="{00000000-0000-0000-0000-000000000000}"/>
          </ac:spMkLst>
        </pc:spChg>
        <pc:spChg chg="add del">
          <ac:chgData name="Vijay Katupilla" userId="3f75bcc49ca5e61a" providerId="LiveId" clId="{53612239-A154-456B-B401-3D5F38D92608}" dt="2026-07-06T21:41:57.847" v="151" actId="478"/>
          <ac:spMkLst>
            <pc:docMk/>
            <pc:sldMk cId="0" sldId="268"/>
            <ac:spMk id="20" creationId="{00000000-0000-0000-0000-000000000000}"/>
          </ac:spMkLst>
        </pc:spChg>
        <pc:spChg chg="add">
          <ac:chgData name="Vijay Katupilla" userId="3f75bcc49ca5e61a" providerId="LiveId" clId="{53612239-A154-456B-B401-3D5F38D92608}" dt="2026-07-06T21:41:57.847" v="151" actId="478"/>
          <ac:spMkLst>
            <pc:docMk/>
            <pc:sldMk cId="0" sldId="268"/>
            <ac:spMk id="21" creationId="{00000000-0000-0000-0000-000000000000}"/>
          </ac:spMkLst>
        </pc:spChg>
        <pc:spChg chg="del">
          <ac:chgData name="Vijay Katupilla" userId="3f75bcc49ca5e61a" providerId="LiveId" clId="{53612239-A154-456B-B401-3D5F38D92608}" dt="2026-07-06T21:41:55.976" v="150" actId="478"/>
          <ac:spMkLst>
            <pc:docMk/>
            <pc:sldMk cId="0" sldId="268"/>
            <ac:spMk id="23" creationId="{00000000-0000-0000-0000-000000000000}"/>
          </ac:spMkLst>
        </pc:spChg>
        <pc:spChg chg="add">
          <ac:chgData name="Vijay Katupilla" userId="3f75bcc49ca5e61a" providerId="LiveId" clId="{53612239-A154-456B-B401-3D5F38D92608}" dt="2026-07-06T21:41:57.847" v="151" actId="478"/>
          <ac:spMkLst>
            <pc:docMk/>
            <pc:sldMk cId="0" sldId="268"/>
            <ac:spMk id="28" creationId="{FC37443D-1998-1770-2811-07095EBCEEBE}"/>
          </ac:spMkLst>
        </pc:spChg>
        <pc:spChg chg="add del mod">
          <ac:chgData name="Vijay Katupilla" userId="3f75bcc49ca5e61a" providerId="LiveId" clId="{53612239-A154-456B-B401-3D5F38D92608}" dt="2026-07-06T21:41:55.976" v="150" actId="478"/>
          <ac:spMkLst>
            <pc:docMk/>
            <pc:sldMk cId="0" sldId="268"/>
            <ac:spMk id="29" creationId="{63109E56-4100-6794-3F0C-A49461C992F1}"/>
          </ac:spMkLst>
        </pc:spChg>
        <pc:spChg chg="add del mod">
          <ac:chgData name="Vijay Katupilla" userId="3f75bcc49ca5e61a" providerId="LiveId" clId="{53612239-A154-456B-B401-3D5F38D92608}" dt="2026-07-06T21:41:57.847" v="151" actId="478"/>
          <ac:spMkLst>
            <pc:docMk/>
            <pc:sldMk cId="0" sldId="268"/>
            <ac:spMk id="33" creationId="{0CF7DAE2-B301-6A9A-7FE7-14F013929A24}"/>
          </ac:spMkLst>
        </pc:spChg>
        <pc:spChg chg="add mod">
          <ac:chgData name="Vijay Katupilla" userId="3f75bcc49ca5e61a" providerId="LiveId" clId="{53612239-A154-456B-B401-3D5F38D92608}" dt="2026-07-06T21:41:57.847" v="151" actId="478"/>
          <ac:spMkLst>
            <pc:docMk/>
            <pc:sldMk cId="0" sldId="268"/>
            <ac:spMk id="37" creationId="{7982B9CE-6258-7364-5F5A-590E8B73273C}"/>
          </ac:spMkLst>
        </pc:spChg>
        <pc:spChg chg="add mod">
          <ac:chgData name="Vijay Katupilla" userId="3f75bcc49ca5e61a" providerId="LiveId" clId="{53612239-A154-456B-B401-3D5F38D92608}" dt="2026-07-06T21:41:57.847" v="151" actId="478"/>
          <ac:spMkLst>
            <pc:docMk/>
            <pc:sldMk cId="0" sldId="268"/>
            <ac:spMk id="41" creationId="{4DE6B444-E3D7-B2BF-F6F5-8E88F94CF6BD}"/>
          </ac:spMkLst>
        </pc:spChg>
        <pc:spChg chg="add mod">
          <ac:chgData name="Vijay Katupilla" userId="3f75bcc49ca5e61a" providerId="LiveId" clId="{53612239-A154-456B-B401-3D5F38D92608}" dt="2026-07-06T21:42:09.963" v="156" actId="20577"/>
          <ac:spMkLst>
            <pc:docMk/>
            <pc:sldMk cId="0" sldId="268"/>
            <ac:spMk id="45" creationId="{5755E3C2-1C5C-B657-F0F0-E0F11AA0483E}"/>
          </ac:spMkLst>
        </pc:spChg>
        <pc:spChg chg="add mod">
          <ac:chgData name="Vijay Katupilla" userId="3f75bcc49ca5e61a" providerId="LiveId" clId="{53612239-A154-456B-B401-3D5F38D92608}" dt="2026-07-06T21:42:07.849" v="155" actId="20577"/>
          <ac:spMkLst>
            <pc:docMk/>
            <pc:sldMk cId="0" sldId="268"/>
            <ac:spMk id="49" creationId="{699043FC-FA10-F95C-ED50-B19374565E54}"/>
          </ac:spMkLst>
        </pc:spChg>
        <pc:spChg chg="add mod">
          <ac:chgData name="Vijay Katupilla" userId="3f75bcc49ca5e61a" providerId="LiveId" clId="{53612239-A154-456B-B401-3D5F38D92608}" dt="2026-07-06T21:41:28.425" v="144" actId="20577"/>
          <ac:spMkLst>
            <pc:docMk/>
            <pc:sldMk cId="0" sldId="268"/>
            <ac:spMk id="53" creationId="{037328C7-BBDD-F72F-C6FB-36B2B63FCFEC}"/>
          </ac:spMkLst>
        </pc:spChg>
        <pc:spChg chg="add mod">
          <ac:chgData name="Vijay Katupilla" userId="3f75bcc49ca5e61a" providerId="LiveId" clId="{53612239-A154-456B-B401-3D5F38D92608}" dt="2026-07-06T21:41:41.420" v="147" actId="20577"/>
          <ac:spMkLst>
            <pc:docMk/>
            <pc:sldMk cId="0" sldId="268"/>
            <ac:spMk id="57" creationId="{C9C19C9B-C175-9D56-EE0A-CB4706542368}"/>
          </ac:spMkLst>
        </pc:spChg>
        <pc:spChg chg="add mod">
          <ac:chgData name="Vijay Katupilla" userId="3f75bcc49ca5e61a" providerId="LiveId" clId="{53612239-A154-456B-B401-3D5F38D92608}" dt="2026-07-06T21:58:17.166" v="160" actId="14100"/>
          <ac:spMkLst>
            <pc:docMk/>
            <pc:sldMk cId="0" sldId="268"/>
            <ac:spMk id="59" creationId="{AE5887EE-7DE3-9DC2-A1FD-792AFAD8A01F}"/>
          </ac:spMkLst>
        </pc:spChg>
        <pc:spChg chg="add mod">
          <ac:chgData name="Vijay Katupilla" userId="3f75bcc49ca5e61a" providerId="LiveId" clId="{53612239-A154-456B-B401-3D5F38D92608}" dt="2026-07-06T21:58:17.166" v="160" actId="14100"/>
          <ac:spMkLst>
            <pc:docMk/>
            <pc:sldMk cId="0" sldId="268"/>
            <ac:spMk id="61" creationId="{3EF5EEEE-1E02-97EB-FA6D-7694A9103D65}"/>
          </ac:spMkLst>
        </pc:spChg>
        <pc:spChg chg="add mod">
          <ac:chgData name="Vijay Katupilla" userId="3f75bcc49ca5e61a" providerId="LiveId" clId="{53612239-A154-456B-B401-3D5F38D92608}" dt="2026-07-06T21:58:17.166" v="160" actId="14100"/>
          <ac:spMkLst>
            <pc:docMk/>
            <pc:sldMk cId="0" sldId="268"/>
            <ac:spMk id="63" creationId="{291FC7BE-F11F-6BEB-FE68-C6C111A0EFBD}"/>
          </ac:spMkLst>
        </pc:spChg>
        <pc:spChg chg="add mod">
          <ac:chgData name="Vijay Katupilla" userId="3f75bcc49ca5e61a" providerId="LiveId" clId="{53612239-A154-456B-B401-3D5F38D92608}" dt="2026-07-06T21:58:17.166" v="160" actId="14100"/>
          <ac:spMkLst>
            <pc:docMk/>
            <pc:sldMk cId="0" sldId="268"/>
            <ac:spMk id="65" creationId="{79A9C540-9395-B43D-AA5D-CD1D9DE92B65}"/>
          </ac:spMkLst>
        </pc:spChg>
        <pc:spChg chg="add mod">
          <ac:chgData name="Vijay Katupilla" userId="3f75bcc49ca5e61a" providerId="LiveId" clId="{53612239-A154-456B-B401-3D5F38D92608}" dt="2026-07-06T21:58:17.166" v="160" actId="14100"/>
          <ac:spMkLst>
            <pc:docMk/>
            <pc:sldMk cId="0" sldId="268"/>
            <ac:spMk id="67" creationId="{22AD26F0-612E-CC85-AE13-6C1CC9AF477D}"/>
          </ac:spMkLst>
        </pc:spChg>
        <pc:spChg chg="add mod">
          <ac:chgData name="Vijay Katupilla" userId="3f75bcc49ca5e61a" providerId="LiveId" clId="{53612239-A154-456B-B401-3D5F38D92608}" dt="2026-07-06T21:58:17.166" v="160" actId="14100"/>
          <ac:spMkLst>
            <pc:docMk/>
            <pc:sldMk cId="0" sldId="268"/>
            <ac:spMk id="69" creationId="{67A3172D-6862-5F3E-F15E-5C828D85205F}"/>
          </ac:spMkLst>
        </pc:spChg>
        <pc:spChg chg="add mod">
          <ac:chgData name="Vijay Katupilla" userId="3f75bcc49ca5e61a" providerId="LiveId" clId="{53612239-A154-456B-B401-3D5F38D92608}" dt="2026-07-06T21:58:17.166" v="160" actId="14100"/>
          <ac:spMkLst>
            <pc:docMk/>
            <pc:sldMk cId="0" sldId="268"/>
            <ac:spMk id="71" creationId="{E8854EAC-4B99-04E1-0626-87A8D8074C37}"/>
          </ac:spMkLst>
        </pc:spChg>
        <pc:spChg chg="add mod">
          <ac:chgData name="Vijay Katupilla" userId="3f75bcc49ca5e61a" providerId="LiveId" clId="{53612239-A154-456B-B401-3D5F38D92608}" dt="2026-07-06T21:58:17.166" v="160" actId="14100"/>
          <ac:spMkLst>
            <pc:docMk/>
            <pc:sldMk cId="0" sldId="268"/>
            <ac:spMk id="73" creationId="{55D5929A-0ACC-404A-CF2B-E9EBA4C0F9E3}"/>
          </ac:spMkLst>
        </pc:spChg>
      </pc:sldChg>
      <pc:sldChg chg="modSp add mod setBg">
        <pc:chgData name="Vijay Katupilla" userId="3f75bcc49ca5e61a" providerId="LiveId" clId="{53612239-A154-456B-B401-3D5F38D92608}" dt="2026-07-06T21:17:12.959" v="69" actId="20577"/>
        <pc:sldMkLst>
          <pc:docMk/>
          <pc:sldMk cId="0" sldId="269"/>
        </pc:sldMkLst>
        <pc:spChg chg="mod">
          <ac:chgData name="Vijay Katupilla" userId="3f75bcc49ca5e61a" providerId="LiveId" clId="{53612239-A154-456B-B401-3D5F38D92608}" dt="2026-07-06T21:17:12.959" v="69" actId="20577"/>
          <ac:spMkLst>
            <pc:docMk/>
            <pc:sldMk cId="0" sldId="269"/>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932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slide. Introduce yourself: this timeline covers the last 75+ years of AI, from Turing's 1950 paper to today's large language models. Four categories: milestones, AI winters, breakthroughs, and modern AI.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9144000" cy="51435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866216" y="1574800"/>
            <a:ext cx="6619244" cy="2008236"/>
          </a:xfrm>
        </p:spPr>
        <p:txBody>
          <a:bodyPr anchor="b"/>
          <a:lstStyle>
            <a:lvl1pPr>
              <a:defRPr sz="4050"/>
            </a:lvl1pPr>
          </a:lstStyle>
          <a:p>
            <a:r>
              <a:rPr lang="en-US"/>
              <a:t>Click to edit Master title style</a:t>
            </a:r>
            <a:endParaRPr lang="en-US" dirty="0"/>
          </a:p>
        </p:txBody>
      </p:sp>
      <p:sp>
        <p:nvSpPr>
          <p:cNvPr id="3" name="Subtitle 2"/>
          <p:cNvSpPr>
            <a:spLocks noGrp="1"/>
          </p:cNvSpPr>
          <p:nvPr>
            <p:ph type="subTitle" idx="1"/>
          </p:nvPr>
        </p:nvSpPr>
        <p:spPr bwMode="gray">
          <a:xfrm>
            <a:off x="866216" y="3583035"/>
            <a:ext cx="6619244" cy="646065"/>
          </a:xfrm>
        </p:spPr>
        <p:txBody>
          <a:bodyPr anchor="t"/>
          <a:lstStyle>
            <a:lvl1pPr marL="0" indent="0" algn="l">
              <a:buNone/>
              <a:defRPr cap="all">
                <a:solidFill>
                  <a:schemeClr val="accent1">
                    <a:lumMod val="60000"/>
                    <a:lumOff val="4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7619239" y="1344169"/>
            <a:ext cx="742949" cy="228599"/>
          </a:xfrm>
        </p:spPr>
        <p:txBody>
          <a:bodyPr anchor="t"/>
          <a:lstStyle>
            <a:lvl1pPr algn="l">
              <a:defRPr b="0" i="0">
                <a:solidFill>
                  <a:schemeClr val="bg1">
                    <a:alpha val="60000"/>
                  </a:schemeClr>
                </a:solidFill>
              </a:defRPr>
            </a:lvl1pPr>
          </a:lstStyle>
          <a:p>
            <a:fld id="{4AAD347D-5ACD-4C99-B74B-A9C85AD731AF}" type="datetimeFigureOut">
              <a:rPr lang="en-US" smtClean="0"/>
              <a:t>7/11/2026</a:t>
            </a:fld>
            <a:endParaRPr lang="en-US" dirty="0"/>
          </a:p>
        </p:txBody>
      </p:sp>
      <p:sp>
        <p:nvSpPr>
          <p:cNvPr id="5" name="Footer Placeholder 4"/>
          <p:cNvSpPr>
            <a:spLocks noGrp="1"/>
          </p:cNvSpPr>
          <p:nvPr>
            <p:ph type="ftr" sz="quarter" idx="11"/>
          </p:nvPr>
        </p:nvSpPr>
        <p:spPr bwMode="gray">
          <a:xfrm rot="5400000">
            <a:off x="6713982" y="2420874"/>
            <a:ext cx="2894846" cy="2286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7764406" y="221797"/>
            <a:ext cx="628649" cy="575765"/>
          </a:xfrm>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26955389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866216" y="1952625"/>
            <a:ext cx="6619244" cy="2562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7/11/2026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8636392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9144000" cy="51435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866216" y="2008234"/>
            <a:ext cx="3263269" cy="1712868"/>
          </a:xfrm>
        </p:spPr>
        <p:txBody>
          <a:bodyPr anchor="ctr"/>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5171670" y="2008233"/>
            <a:ext cx="2818159" cy="1712868"/>
          </a:xfrm>
        </p:spPr>
        <p:txBody>
          <a:bodyPr anchor="ctr"/>
          <a:lstStyle>
            <a:lvl1pPr marL="0" indent="0" algn="l">
              <a:buNone/>
              <a:defRPr sz="1500" cap="all">
                <a:solidFill>
                  <a:schemeClr val="accent1">
                    <a:lumMod val="60000"/>
                    <a:lumOff val="4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7/11/2026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52344426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66215" y="1952625"/>
            <a:ext cx="3618869" cy="256222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6535" y="1952625"/>
            <a:ext cx="3618869" cy="256222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7/11/2026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077192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66216" y="1952625"/>
            <a:ext cx="3618868" cy="432197"/>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66215" y="2384822"/>
            <a:ext cx="3618869" cy="213002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56535" y="1952625"/>
            <a:ext cx="3618869" cy="432197"/>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56535" y="2384822"/>
            <a:ext cx="3618869" cy="2130029"/>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AD347D-5ACD-4C99-B74B-A9C85AD731AF}" type="datetimeFigureOut">
              <a:rPr lang="en-US" smtClean="0"/>
              <a:t>7/11/2026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84727208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866216" y="730251"/>
            <a:ext cx="6571060" cy="530223"/>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7/11/2026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0116448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7/11/2026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7451627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9144000" cy="51435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866216" y="971550"/>
            <a:ext cx="2094869" cy="1200150"/>
          </a:xfrm>
        </p:spPr>
        <p:txBody>
          <a:bodyPr anchor="b"/>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4335859" y="1085850"/>
            <a:ext cx="3892550" cy="3429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866215" y="2346961"/>
            <a:ext cx="2094869" cy="2171699"/>
          </a:xfrm>
        </p:spPr>
        <p:txBody>
          <a:bodyPr/>
          <a:lstStyle>
            <a:lvl1pPr marL="0" indent="0">
              <a:buNone/>
              <a:defRPr sz="1050">
                <a:solidFill>
                  <a:schemeClr val="accent1">
                    <a:lumMod val="60000"/>
                    <a:lumOff val="40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7/11/2026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0477241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9144000" cy="51435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866216" y="1270000"/>
            <a:ext cx="2898851" cy="1301750"/>
          </a:xfrm>
        </p:spPr>
        <p:txBody>
          <a:bodyPr anchor="b">
            <a:normAutofit/>
          </a:bodyPr>
          <a:lstStyle>
            <a:lvl1pPr algn="l">
              <a:defRPr sz="27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910903" y="857250"/>
            <a:ext cx="2420395"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866216" y="2743200"/>
            <a:ext cx="2894409" cy="1028700"/>
          </a:xfrm>
        </p:spPr>
        <p:txBody>
          <a:bodyPr>
            <a:normAutofit/>
          </a:bodyPr>
          <a:lstStyle>
            <a:lvl1pPr marL="0" indent="0">
              <a:buNone/>
              <a:defRPr sz="1050">
                <a:solidFill>
                  <a:schemeClr val="accent1">
                    <a:lumMod val="60000"/>
                    <a:lumOff val="40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7/11/2026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86445950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9144000" cy="51435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866216" y="3727445"/>
            <a:ext cx="6619244"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216" y="514350"/>
            <a:ext cx="6619244" cy="257175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5" y="4152499"/>
            <a:ext cx="6619244" cy="370284"/>
          </a:xfrm>
        </p:spPr>
        <p:txBody>
          <a:bodyPr>
            <a:normAutofit/>
          </a:bodyPr>
          <a:lstStyle>
            <a:lvl1pPr marL="0" indent="0">
              <a:buNone/>
              <a:defRPr sz="900">
                <a:solidFill>
                  <a:schemeClr val="accent1">
                    <a:lumMod val="60000"/>
                    <a:lumOff val="40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7/11/2026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22568897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9144000" cy="51435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861598" y="797563"/>
            <a:ext cx="6623862" cy="1029740"/>
          </a:xfrm>
        </p:spPr>
        <p:txBody>
          <a:bodyPr/>
          <a:lstStyle>
            <a:lvl1pPr>
              <a:defRPr sz="3000"/>
            </a:lvl1pPr>
          </a:lstStyle>
          <a:p>
            <a:r>
              <a:rPr lang="en-US"/>
              <a:t>Click to edit Master title style</a:t>
            </a:r>
            <a:endParaRPr lang="en-US" dirty="0"/>
          </a:p>
        </p:txBody>
      </p:sp>
      <p:sp>
        <p:nvSpPr>
          <p:cNvPr id="8" name="Text Placeholder 3"/>
          <p:cNvSpPr>
            <a:spLocks noGrp="1"/>
          </p:cNvSpPr>
          <p:nvPr>
            <p:ph type="body" sz="half" idx="2"/>
          </p:nvPr>
        </p:nvSpPr>
        <p:spPr>
          <a:xfrm>
            <a:off x="866216" y="2657475"/>
            <a:ext cx="6619244" cy="1857375"/>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7/11/2026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0008479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9144000" cy="51435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661175" y="455502"/>
            <a:ext cx="601434" cy="1200329"/>
          </a:xfrm>
          <a:prstGeom prst="rect">
            <a:avLst/>
          </a:prstGeom>
          <a:noFill/>
        </p:spPr>
        <p:txBody>
          <a:bodyPr wrap="square" rtlCol="0">
            <a:spAutoFit/>
          </a:bodyPr>
          <a:lstStyle/>
          <a:p>
            <a:pPr algn="r"/>
            <a:r>
              <a:rPr lang="en-US" sz="7200" b="0" i="0" dirty="0">
                <a:solidFill>
                  <a:schemeClr val="accent1">
                    <a:lumMod val="60000"/>
                    <a:lumOff val="40000"/>
                  </a:schemeClr>
                </a:solidFill>
                <a:latin typeface="Arial"/>
                <a:cs typeface="Arial"/>
              </a:rPr>
              <a:t>“</a:t>
            </a:r>
          </a:p>
        </p:txBody>
      </p:sp>
      <p:sp>
        <p:nvSpPr>
          <p:cNvPr id="13" name="TextBox 12"/>
          <p:cNvSpPr txBox="1"/>
          <p:nvPr/>
        </p:nvSpPr>
        <p:spPr bwMode="gray">
          <a:xfrm>
            <a:off x="7413344" y="1960341"/>
            <a:ext cx="489572" cy="1200329"/>
          </a:xfrm>
          <a:prstGeom prst="rect">
            <a:avLst/>
          </a:prstGeom>
          <a:noFill/>
        </p:spPr>
        <p:txBody>
          <a:bodyPr wrap="square" rtlCol="0">
            <a:spAutoFit/>
          </a:bodyPr>
          <a:lstStyle/>
          <a:p>
            <a:pPr algn="r"/>
            <a:r>
              <a:rPr lang="en-US" sz="72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186408" y="736600"/>
            <a:ext cx="6340430" cy="2022474"/>
          </a:xfrm>
        </p:spPr>
        <p:txBody>
          <a:bodyPr/>
          <a:lstStyle>
            <a:lvl1pPr>
              <a:defRPr sz="3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459459" y="2759074"/>
            <a:ext cx="5798414" cy="256631"/>
          </a:xfrm>
        </p:spPr>
        <p:txBody>
          <a:bodyPr anchor="t">
            <a:normAutofit/>
          </a:bodyPr>
          <a:lstStyle>
            <a:lvl1pPr marL="0" indent="0">
              <a:buNone/>
              <a:defRPr lang="en-US" sz="1050" b="0" i="0" kern="1200" cap="small" dirty="0">
                <a:solidFill>
                  <a:schemeClr val="accent1">
                    <a:lumMod val="60000"/>
                    <a:lumOff val="40000"/>
                  </a:schemeClr>
                </a:solidFill>
                <a:latin typeface="+mn-lt"/>
                <a:ea typeface="+mn-ea"/>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0" name="Text Placeholder 3"/>
          <p:cNvSpPr>
            <a:spLocks noGrp="1"/>
          </p:cNvSpPr>
          <p:nvPr>
            <p:ph type="body" sz="half" idx="2"/>
          </p:nvPr>
        </p:nvSpPr>
        <p:spPr>
          <a:xfrm>
            <a:off x="866216" y="3771899"/>
            <a:ext cx="6933673" cy="748393"/>
          </a:xfrm>
        </p:spPr>
        <p:txBody>
          <a:bodyPr anchor="ct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7/11/2026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00785087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9144000" cy="51435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866216" y="1778000"/>
            <a:ext cx="6619245" cy="1366886"/>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768725"/>
            <a:ext cx="6619244" cy="645300"/>
          </a:xfrm>
        </p:spPr>
        <p:txBody>
          <a:bodyPr anchor="t"/>
          <a:lstStyle>
            <a:lvl1pPr marL="0" indent="0" algn="l">
              <a:buNone/>
              <a:defRPr sz="1500" cap="none">
                <a:solidFill>
                  <a:schemeClr val="accent1">
                    <a:lumMod val="60000"/>
                    <a:lumOff val="4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7/11/2026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17919167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6216" y="730251"/>
            <a:ext cx="6619244" cy="530223"/>
          </a:xfrm>
        </p:spPr>
        <p:txBody>
          <a:bodyPr/>
          <a:lstStyle>
            <a:lvl1pPr>
              <a:defRPr sz="2700"/>
            </a:lvl1pPr>
          </a:lstStyle>
          <a:p>
            <a:r>
              <a:rPr lang="en-US"/>
              <a:t>Click to edit Master title style</a:t>
            </a:r>
            <a:endParaRPr lang="en-US" dirty="0"/>
          </a:p>
        </p:txBody>
      </p:sp>
      <p:sp>
        <p:nvSpPr>
          <p:cNvPr id="3" name="Text Placeholder 2"/>
          <p:cNvSpPr>
            <a:spLocks noGrp="1"/>
          </p:cNvSpPr>
          <p:nvPr>
            <p:ph type="body" idx="1"/>
          </p:nvPr>
        </p:nvSpPr>
        <p:spPr>
          <a:xfrm>
            <a:off x="866215" y="1952626"/>
            <a:ext cx="2356409"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6" name="Text Placeholder 3"/>
          <p:cNvSpPr>
            <a:spLocks noGrp="1"/>
          </p:cNvSpPr>
          <p:nvPr>
            <p:ph type="body" sz="half" idx="15"/>
          </p:nvPr>
        </p:nvSpPr>
        <p:spPr>
          <a:xfrm>
            <a:off x="866215" y="2384823"/>
            <a:ext cx="2356409" cy="2135470"/>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3384541" y="1952625"/>
            <a:ext cx="2360257"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9" name="Text Placeholder 3"/>
          <p:cNvSpPr>
            <a:spLocks noGrp="1"/>
          </p:cNvSpPr>
          <p:nvPr>
            <p:ph type="body" sz="half" idx="16"/>
          </p:nvPr>
        </p:nvSpPr>
        <p:spPr>
          <a:xfrm>
            <a:off x="3384541" y="2384823"/>
            <a:ext cx="2360257" cy="2135470"/>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916101" y="1952626"/>
            <a:ext cx="2359298"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Text Placeholder 3"/>
          <p:cNvSpPr>
            <a:spLocks noGrp="1"/>
          </p:cNvSpPr>
          <p:nvPr>
            <p:ph type="body" sz="half" idx="17"/>
          </p:nvPr>
        </p:nvSpPr>
        <p:spPr>
          <a:xfrm>
            <a:off x="5916247" y="2384822"/>
            <a:ext cx="2359152" cy="2135470"/>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7" name="Straight Connector 16"/>
          <p:cNvCxnSpPr/>
          <p:nvPr/>
        </p:nvCxnSpPr>
        <p:spPr>
          <a:xfrm>
            <a:off x="3302978" y="1927225"/>
            <a:ext cx="0" cy="261937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29301" y="1927225"/>
            <a:ext cx="0" cy="261937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AAD347D-5ACD-4C99-B74B-A9C85AD731AF}" type="datetimeFigureOut">
              <a:rPr lang="en-US" smtClean="0"/>
              <a:t>7/11/2026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86599537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216" y="730251"/>
            <a:ext cx="6619244" cy="530223"/>
          </a:xfrm>
        </p:spPr>
        <p:txBody>
          <a:bodyPr/>
          <a:lstStyle>
            <a:lvl1pPr>
              <a:defRPr sz="2700"/>
            </a:lvl1pPr>
          </a:lstStyle>
          <a:p>
            <a:r>
              <a:rPr lang="en-US"/>
              <a:t>Click to edit Master title style</a:t>
            </a:r>
            <a:endParaRPr lang="en-US" dirty="0"/>
          </a:p>
        </p:txBody>
      </p:sp>
      <p:sp>
        <p:nvSpPr>
          <p:cNvPr id="3" name="Text Placeholder 2"/>
          <p:cNvSpPr>
            <a:spLocks noGrp="1"/>
          </p:cNvSpPr>
          <p:nvPr>
            <p:ph type="body" idx="1"/>
          </p:nvPr>
        </p:nvSpPr>
        <p:spPr>
          <a:xfrm>
            <a:off x="866215" y="3399633"/>
            <a:ext cx="2287829"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9" name="Picture Placeholder 2"/>
          <p:cNvSpPr>
            <a:spLocks noGrp="1" noChangeAspect="1"/>
          </p:cNvSpPr>
          <p:nvPr>
            <p:ph type="pic" idx="15"/>
          </p:nvPr>
        </p:nvSpPr>
        <p:spPr>
          <a:xfrm>
            <a:off x="1000915" y="1952625"/>
            <a:ext cx="2018432" cy="119363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2" name="Text Placeholder 3"/>
          <p:cNvSpPr>
            <a:spLocks noGrp="1"/>
          </p:cNvSpPr>
          <p:nvPr>
            <p:ph type="body" sz="half" idx="18"/>
          </p:nvPr>
        </p:nvSpPr>
        <p:spPr>
          <a:xfrm>
            <a:off x="866215" y="3831830"/>
            <a:ext cx="2287829" cy="68846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3426649" y="3399634"/>
            <a:ext cx="2287829"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1" name="Picture Placeholder 2"/>
          <p:cNvSpPr>
            <a:spLocks noGrp="1" noChangeAspect="1"/>
          </p:cNvSpPr>
          <p:nvPr>
            <p:ph type="pic" idx="21"/>
          </p:nvPr>
        </p:nvSpPr>
        <p:spPr>
          <a:xfrm>
            <a:off x="3561347" y="1952625"/>
            <a:ext cx="2018432" cy="119363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3" name="Text Placeholder 3"/>
          <p:cNvSpPr>
            <a:spLocks noGrp="1"/>
          </p:cNvSpPr>
          <p:nvPr>
            <p:ph type="body" sz="half" idx="19"/>
          </p:nvPr>
        </p:nvSpPr>
        <p:spPr>
          <a:xfrm>
            <a:off x="3427629" y="3831829"/>
            <a:ext cx="2287829" cy="68846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987082" y="3399634"/>
            <a:ext cx="2288321"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2" name="Picture Placeholder 2"/>
          <p:cNvSpPr>
            <a:spLocks noGrp="1" noChangeAspect="1"/>
          </p:cNvSpPr>
          <p:nvPr>
            <p:ph type="pic" idx="22"/>
          </p:nvPr>
        </p:nvSpPr>
        <p:spPr>
          <a:xfrm>
            <a:off x="6122273" y="1952625"/>
            <a:ext cx="2018432" cy="119363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20"/>
          </p:nvPr>
        </p:nvSpPr>
        <p:spPr>
          <a:xfrm>
            <a:off x="5987081" y="3831828"/>
            <a:ext cx="2288322" cy="68846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43" name="Straight Connector 42"/>
          <p:cNvCxnSpPr/>
          <p:nvPr/>
        </p:nvCxnSpPr>
        <p:spPr>
          <a:xfrm>
            <a:off x="3304373" y="1927225"/>
            <a:ext cx="0" cy="261937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5848352" y="1927225"/>
            <a:ext cx="0" cy="261937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AAD347D-5ACD-4C99-B74B-A9C85AD731AF}" type="datetimeFigureOut">
              <a:rPr lang="en-US" smtClean="0"/>
              <a:t>7/11/2026</a:t>
            </a:fld>
            <a:endParaRPr lang="en-US" dirty="0"/>
          </a:p>
        </p:txBody>
      </p:sp>
      <p:sp>
        <p:nvSpPr>
          <p:cNvPr id="8" name="Footer Placeholder 7"/>
          <p:cNvSpPr>
            <a:spLocks noGrp="1"/>
          </p:cNvSpPr>
          <p:nvPr>
            <p:ph type="ftr" sz="quarter" idx="11"/>
          </p:nvPr>
        </p:nvSpPr>
        <p:spPr>
          <a:xfrm>
            <a:off x="420833" y="4793879"/>
            <a:ext cx="2733212" cy="2286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8746020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66216" y="730251"/>
            <a:ext cx="6619244" cy="530223"/>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866216" y="1952625"/>
            <a:ext cx="6619244" cy="2562225"/>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021580" y="4793879"/>
            <a:ext cx="742949" cy="228599"/>
          </a:xfrm>
        </p:spPr>
        <p:txBody>
          <a:bodyPr/>
          <a:lstStyle/>
          <a:p>
            <a:fld id="{4509A250-FF31-4206-8172-F9D3106AACB1}" type="datetimeFigureOut">
              <a:rPr lang="en-US" smtClean="0"/>
              <a:t>7/11/2026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55827984"/>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9144000" cy="51435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6438927" y="958850"/>
            <a:ext cx="1057474" cy="3561443"/>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66216" y="958850"/>
            <a:ext cx="4692019" cy="356144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989829" y="4793879"/>
            <a:ext cx="744101" cy="228599"/>
          </a:xfrm>
        </p:spPr>
        <p:txBody>
          <a:bodyPr/>
          <a:lstStyle/>
          <a:p>
            <a:fld id="{4509A250-FF31-4206-8172-F9D3106AACB1}" type="datetimeFigureOut">
              <a:rPr lang="en-US" smtClean="0"/>
              <a:t>7/11/2026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544067650"/>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6467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9144000" cy="5143500"/>
            <a:chOff x="0" y="0"/>
            <a:chExt cx="12192000" cy="6858000"/>
          </a:xfrm>
        </p:grpSpPr>
        <p:sp>
          <p:nvSpPr>
            <p:cNvPr id="7" name="Rectangle 6"/>
            <p:cNvSpPr/>
            <p:nvPr/>
          </p:nvSpPr>
          <p:spPr>
            <a:xfrm>
              <a:off x="0" y="0"/>
              <a:ext cx="12192000" cy="6858000"/>
            </a:xfrm>
            <a:prstGeom prst="rect">
              <a:avLst/>
            </a:prstGeom>
            <a:blipFill>
              <a:blip r:embed="rId20">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Placeholder 1"/>
          <p:cNvSpPr>
            <a:spLocks noGrp="1"/>
          </p:cNvSpPr>
          <p:nvPr>
            <p:ph type="title"/>
          </p:nvPr>
        </p:nvSpPr>
        <p:spPr bwMode="gray">
          <a:xfrm>
            <a:off x="866216" y="730251"/>
            <a:ext cx="6571060" cy="53022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66216" y="1952625"/>
            <a:ext cx="6571060" cy="25622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89829" y="4793879"/>
            <a:ext cx="742949" cy="228599"/>
          </a:xfrm>
          <a:prstGeom prst="rect">
            <a:avLst/>
          </a:prstGeom>
        </p:spPr>
        <p:txBody>
          <a:bodyPr vert="horz" lIns="91440" tIns="45720" rIns="91440" bIns="45720" rtlCol="0" anchor="ctr"/>
          <a:lstStyle>
            <a:lvl1pPr algn="r">
              <a:defRPr sz="750" b="1" i="0">
                <a:solidFill>
                  <a:schemeClr val="accent1"/>
                </a:solidFill>
              </a:defRPr>
            </a:lvl1pPr>
          </a:lstStyle>
          <a:p>
            <a:fld id="{4AAD347D-5ACD-4C99-B74B-A9C85AD731AF}" type="datetimeFigureOut">
              <a:rPr lang="en-US" smtClean="0"/>
              <a:t>7/11/2026</a:t>
            </a:fld>
            <a:endParaRPr lang="en-US" dirty="0"/>
          </a:p>
        </p:txBody>
      </p:sp>
      <p:sp>
        <p:nvSpPr>
          <p:cNvPr id="5" name="Footer Placeholder 4"/>
          <p:cNvSpPr>
            <a:spLocks noGrp="1"/>
          </p:cNvSpPr>
          <p:nvPr>
            <p:ph type="ftr" sz="quarter" idx="3"/>
          </p:nvPr>
        </p:nvSpPr>
        <p:spPr>
          <a:xfrm>
            <a:off x="420833" y="4793879"/>
            <a:ext cx="2894846" cy="228601"/>
          </a:xfrm>
          <a:prstGeom prst="rect">
            <a:avLst/>
          </a:prstGeom>
        </p:spPr>
        <p:txBody>
          <a:bodyPr vert="horz" lIns="91440" tIns="45720" rIns="91440" bIns="45720" rtlCol="0" anchor="ctr"/>
          <a:lstStyle>
            <a:lvl1pPr algn="l">
              <a:defRPr sz="750" b="1" i="0">
                <a:solidFill>
                  <a:schemeClr val="accent1"/>
                </a:solidFill>
              </a:defRPr>
            </a:lvl1pPr>
          </a:lstStyle>
          <a:p>
            <a:endParaRPr lang="en-US" dirty="0"/>
          </a:p>
        </p:txBody>
      </p:sp>
      <p:sp>
        <p:nvSpPr>
          <p:cNvPr id="21" name="Rectangle 20"/>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4"/>
          </p:nvPr>
        </p:nvSpPr>
        <p:spPr bwMode="gray">
          <a:xfrm>
            <a:off x="7764406" y="221797"/>
            <a:ext cx="628649" cy="575765"/>
          </a:xfrm>
          <a:prstGeom prst="rect">
            <a:avLst/>
          </a:prstGeom>
        </p:spPr>
        <p:txBody>
          <a:bodyPr vert="horz" lIns="91440" tIns="45720" rIns="91440" bIns="45720" rtlCol="0" anchor="b"/>
          <a:lstStyle>
            <a:lvl1pPr algn="ctr">
              <a:defRPr sz="2100" b="0" i="0">
                <a:solidFill>
                  <a:schemeClr val="bg1"/>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2076126678"/>
      </p:ext>
    </p:extLst>
  </p:cSld>
  <p:clrMap bg1="lt1" tx1="dk1" bg2="lt2" tx2="dk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 id="2147483824" r:id="rId12"/>
    <p:sldLayoutId id="2147483825" r:id="rId13"/>
    <p:sldLayoutId id="2147483826" r:id="rId14"/>
    <p:sldLayoutId id="2147483827" r:id="rId15"/>
    <p:sldLayoutId id="2147483828" r:id="rId16"/>
    <p:sldLayoutId id="2147483829" r:id="rId17"/>
    <p:sldLayoutId id="2147483830" r:id="rId18"/>
  </p:sldLayoutIdLst>
  <p:hf sldNum="0" hdr="0" ftr="0" dt="0"/>
  <p:txStyles>
    <p:titleStyle>
      <a:lvl1pPr algn="l" defTabSz="342900" rtl="0" eaLnBrk="1" latinLnBrk="0" hangingPunct="1">
        <a:spcBef>
          <a:spcPct val="0"/>
        </a:spcBef>
        <a:buNone/>
        <a:defRPr sz="27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b="0" i="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b="0" i="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b="0" i="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b="0" i="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b="0" i="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b="0" i="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b="0" i="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256032"/>
            <a:ext cx="9144000" cy="0"/>
          </a:xfrm>
          <a:prstGeom prst="line">
            <a:avLst/>
          </a:prstGeom>
          <a:noFill/>
          <a:ln w="6350">
            <a:solidFill>
              <a:srgbClr val="1E2937"/>
            </a:solidFill>
            <a:prstDash val="solid"/>
          </a:ln>
        </p:spPr>
        <p:txBody>
          <a:bodyPr/>
          <a:lstStyle/>
          <a:p>
            <a:endParaRPr lang="en-US"/>
          </a:p>
        </p:txBody>
      </p:sp>
      <p:sp>
        <p:nvSpPr>
          <p:cNvPr id="3" name="Shape 1"/>
          <p:cNvSpPr/>
          <p:nvPr/>
        </p:nvSpPr>
        <p:spPr>
          <a:xfrm>
            <a:off x="0" y="768096"/>
            <a:ext cx="9144000" cy="0"/>
          </a:xfrm>
          <a:prstGeom prst="line">
            <a:avLst/>
          </a:prstGeom>
          <a:noFill/>
          <a:ln w="6350">
            <a:solidFill>
              <a:srgbClr val="1E2937"/>
            </a:solidFill>
            <a:prstDash val="solid"/>
          </a:ln>
        </p:spPr>
        <p:txBody>
          <a:bodyPr/>
          <a:lstStyle/>
          <a:p>
            <a:endParaRPr lang="en-US"/>
          </a:p>
        </p:txBody>
      </p:sp>
      <p:sp>
        <p:nvSpPr>
          <p:cNvPr id="4" name="Shape 2"/>
          <p:cNvSpPr/>
          <p:nvPr/>
        </p:nvSpPr>
        <p:spPr>
          <a:xfrm>
            <a:off x="0" y="1280160"/>
            <a:ext cx="9144000" cy="0"/>
          </a:xfrm>
          <a:prstGeom prst="line">
            <a:avLst/>
          </a:prstGeom>
          <a:noFill/>
          <a:ln w="6350">
            <a:solidFill>
              <a:srgbClr val="1E2937"/>
            </a:solidFill>
            <a:prstDash val="solid"/>
          </a:ln>
        </p:spPr>
        <p:txBody>
          <a:bodyPr/>
          <a:lstStyle/>
          <a:p>
            <a:endParaRPr lang="en-US"/>
          </a:p>
        </p:txBody>
      </p:sp>
      <p:sp>
        <p:nvSpPr>
          <p:cNvPr id="5" name="Shape 3"/>
          <p:cNvSpPr/>
          <p:nvPr/>
        </p:nvSpPr>
        <p:spPr>
          <a:xfrm>
            <a:off x="0" y="1792224"/>
            <a:ext cx="9144000" cy="0"/>
          </a:xfrm>
          <a:prstGeom prst="line">
            <a:avLst/>
          </a:prstGeom>
          <a:noFill/>
          <a:ln w="6350">
            <a:solidFill>
              <a:srgbClr val="1E2937"/>
            </a:solidFill>
            <a:prstDash val="solid"/>
          </a:ln>
        </p:spPr>
        <p:txBody>
          <a:bodyPr/>
          <a:lstStyle/>
          <a:p>
            <a:endParaRPr lang="en-US"/>
          </a:p>
        </p:txBody>
      </p:sp>
      <p:sp>
        <p:nvSpPr>
          <p:cNvPr id="6" name="Shape 4"/>
          <p:cNvSpPr/>
          <p:nvPr/>
        </p:nvSpPr>
        <p:spPr>
          <a:xfrm>
            <a:off x="0" y="2304288"/>
            <a:ext cx="9144000" cy="0"/>
          </a:xfrm>
          <a:prstGeom prst="line">
            <a:avLst/>
          </a:prstGeom>
          <a:noFill/>
          <a:ln w="6350">
            <a:solidFill>
              <a:srgbClr val="1E2937"/>
            </a:solidFill>
            <a:prstDash val="solid"/>
          </a:ln>
        </p:spPr>
        <p:txBody>
          <a:bodyPr/>
          <a:lstStyle/>
          <a:p>
            <a:endParaRPr lang="en-US"/>
          </a:p>
        </p:txBody>
      </p:sp>
      <p:sp>
        <p:nvSpPr>
          <p:cNvPr id="7" name="Shape 5"/>
          <p:cNvSpPr/>
          <p:nvPr/>
        </p:nvSpPr>
        <p:spPr>
          <a:xfrm>
            <a:off x="0" y="2816352"/>
            <a:ext cx="9144000" cy="0"/>
          </a:xfrm>
          <a:prstGeom prst="line">
            <a:avLst/>
          </a:prstGeom>
          <a:noFill/>
          <a:ln w="6350">
            <a:solidFill>
              <a:srgbClr val="1E2937"/>
            </a:solidFill>
            <a:prstDash val="solid"/>
          </a:ln>
        </p:spPr>
        <p:txBody>
          <a:bodyPr/>
          <a:lstStyle/>
          <a:p>
            <a:endParaRPr lang="en-US"/>
          </a:p>
        </p:txBody>
      </p:sp>
      <p:sp>
        <p:nvSpPr>
          <p:cNvPr id="8" name="Shape 6"/>
          <p:cNvSpPr/>
          <p:nvPr/>
        </p:nvSpPr>
        <p:spPr>
          <a:xfrm>
            <a:off x="0" y="3328416"/>
            <a:ext cx="9144000" cy="0"/>
          </a:xfrm>
          <a:prstGeom prst="line">
            <a:avLst/>
          </a:prstGeom>
          <a:noFill/>
          <a:ln w="6350">
            <a:solidFill>
              <a:srgbClr val="1E2937"/>
            </a:solidFill>
            <a:prstDash val="solid"/>
          </a:ln>
        </p:spPr>
        <p:txBody>
          <a:bodyPr/>
          <a:lstStyle/>
          <a:p>
            <a:endParaRPr lang="en-US"/>
          </a:p>
        </p:txBody>
      </p:sp>
      <p:sp>
        <p:nvSpPr>
          <p:cNvPr id="9" name="Shape 7"/>
          <p:cNvSpPr/>
          <p:nvPr/>
        </p:nvSpPr>
        <p:spPr>
          <a:xfrm>
            <a:off x="0" y="3840480"/>
            <a:ext cx="9144000" cy="0"/>
          </a:xfrm>
          <a:prstGeom prst="line">
            <a:avLst/>
          </a:prstGeom>
          <a:noFill/>
          <a:ln w="6350">
            <a:solidFill>
              <a:srgbClr val="1E2937"/>
            </a:solidFill>
            <a:prstDash val="solid"/>
          </a:ln>
        </p:spPr>
        <p:txBody>
          <a:bodyPr/>
          <a:lstStyle/>
          <a:p>
            <a:endParaRPr lang="en-US"/>
          </a:p>
        </p:txBody>
      </p:sp>
      <p:sp>
        <p:nvSpPr>
          <p:cNvPr id="10" name="Shape 8"/>
          <p:cNvSpPr/>
          <p:nvPr/>
        </p:nvSpPr>
        <p:spPr>
          <a:xfrm>
            <a:off x="0" y="4352544"/>
            <a:ext cx="9144000" cy="0"/>
          </a:xfrm>
          <a:prstGeom prst="line">
            <a:avLst/>
          </a:prstGeom>
          <a:noFill/>
          <a:ln w="6350">
            <a:solidFill>
              <a:srgbClr val="1E2937"/>
            </a:solidFill>
            <a:prstDash val="solid"/>
          </a:ln>
        </p:spPr>
        <p:txBody>
          <a:bodyPr/>
          <a:lstStyle/>
          <a:p>
            <a:endParaRPr lang="en-US"/>
          </a:p>
        </p:txBody>
      </p:sp>
      <p:sp>
        <p:nvSpPr>
          <p:cNvPr id="11" name="Shape 9"/>
          <p:cNvSpPr/>
          <p:nvPr/>
        </p:nvSpPr>
        <p:spPr>
          <a:xfrm>
            <a:off x="0" y="4864608"/>
            <a:ext cx="9144000" cy="0"/>
          </a:xfrm>
          <a:prstGeom prst="line">
            <a:avLst/>
          </a:prstGeom>
          <a:noFill/>
          <a:ln w="6350">
            <a:solidFill>
              <a:srgbClr val="1E2937"/>
            </a:solidFill>
            <a:prstDash val="solid"/>
          </a:ln>
        </p:spPr>
        <p:txBody>
          <a:bodyPr/>
          <a:lstStyle/>
          <a:p>
            <a:endParaRPr lang="en-US"/>
          </a:p>
        </p:txBody>
      </p:sp>
      <p:sp>
        <p:nvSpPr>
          <p:cNvPr id="12" name="Shape 10"/>
          <p:cNvSpPr/>
          <p:nvPr/>
        </p:nvSpPr>
        <p:spPr>
          <a:xfrm>
            <a:off x="545552" y="834390"/>
            <a:ext cx="8046720" cy="3474720"/>
          </a:xfrm>
          <a:prstGeom prst="roundRect">
            <a:avLst>
              <a:gd name="adj" fmla="val 3947"/>
            </a:avLst>
          </a:prstGeom>
          <a:solidFill>
            <a:srgbClr val="161B22"/>
          </a:solidFill>
          <a:ln/>
          <a:effectLst>
            <a:outerShdw blurRad="101600" dist="38100" dir="2700000" algn="bl" rotWithShape="0">
              <a:srgbClr val="000000">
                <a:alpha val="25000"/>
              </a:srgbClr>
            </a:outerShdw>
          </a:effectLst>
        </p:spPr>
        <p:txBody>
          <a:bodyPr/>
          <a:lstStyle/>
          <a:p>
            <a:endParaRPr lang="en-US"/>
          </a:p>
        </p:txBody>
      </p:sp>
      <p:sp>
        <p:nvSpPr>
          <p:cNvPr id="13" name="Text 11"/>
          <p:cNvSpPr/>
          <p:nvPr/>
        </p:nvSpPr>
        <p:spPr>
          <a:xfrm>
            <a:off x="731520" y="868680"/>
            <a:ext cx="7680960" cy="457200"/>
          </a:xfrm>
          <a:prstGeom prst="rect">
            <a:avLst/>
          </a:prstGeom>
          <a:noFill/>
          <a:ln/>
        </p:spPr>
        <p:txBody>
          <a:bodyPr wrap="square" rtlCol="0" anchor="ctr"/>
          <a:lstStyle/>
          <a:p>
            <a:pPr marL="0" indent="0" algn="ctr">
              <a:buNone/>
            </a:pPr>
            <a:r>
              <a:rPr lang="en-US" sz="1400" b="1" kern="0" spc="600" dirty="0">
                <a:solidFill>
                  <a:srgbClr val="22D3EE"/>
                </a:solidFill>
                <a:latin typeface="Calibri" pitchFamily="34" charset="0"/>
                <a:ea typeface="Calibri" pitchFamily="34" charset="-122"/>
                <a:cs typeface="Calibri" pitchFamily="34" charset="-120"/>
              </a:rPr>
              <a:t>THE EVOLUTION OF</a:t>
            </a:r>
            <a:endParaRPr lang="en-US" sz="1400" dirty="0"/>
          </a:p>
        </p:txBody>
      </p:sp>
      <p:sp>
        <p:nvSpPr>
          <p:cNvPr id="14" name="Text 12"/>
          <p:cNvSpPr/>
          <p:nvPr/>
        </p:nvSpPr>
        <p:spPr>
          <a:xfrm>
            <a:off x="731520" y="1325880"/>
            <a:ext cx="7680960" cy="1005840"/>
          </a:xfrm>
          <a:prstGeom prst="rect">
            <a:avLst/>
          </a:prstGeom>
          <a:noFill/>
          <a:ln/>
        </p:spPr>
        <p:txBody>
          <a:bodyPr wrap="square" rtlCol="0" anchor="ctr"/>
          <a:lstStyle/>
          <a:p>
            <a:pPr marL="0" indent="0" algn="ctr">
              <a:buNone/>
            </a:pPr>
            <a:r>
              <a:rPr lang="en-US" sz="4600" b="1" dirty="0">
                <a:solidFill>
                  <a:srgbClr val="F0F6FC"/>
                </a:solidFill>
                <a:latin typeface="Calibri" pitchFamily="34" charset="0"/>
                <a:ea typeface="Calibri" pitchFamily="34" charset="-122"/>
                <a:cs typeface="Calibri" pitchFamily="34" charset="-120"/>
              </a:rPr>
              <a:t>Artificial Intelligence</a:t>
            </a:r>
            <a:endParaRPr lang="en-US" sz="4600" dirty="0"/>
          </a:p>
        </p:txBody>
      </p:sp>
      <p:sp>
        <p:nvSpPr>
          <p:cNvPr id="15" name="Text 13"/>
          <p:cNvSpPr/>
          <p:nvPr/>
        </p:nvSpPr>
        <p:spPr>
          <a:xfrm>
            <a:off x="731520" y="2331720"/>
            <a:ext cx="7680960" cy="250422"/>
          </a:xfrm>
          <a:prstGeom prst="rect">
            <a:avLst/>
          </a:prstGeom>
          <a:noFill/>
          <a:ln/>
        </p:spPr>
        <p:txBody>
          <a:bodyPr wrap="square" rtlCol="0" anchor="ctr"/>
          <a:lstStyle/>
          <a:p>
            <a:pPr algn="ctr"/>
            <a:r>
              <a:rPr lang="en-US" sz="1600" dirty="0">
                <a:solidFill>
                  <a:srgbClr val="6B7280"/>
                </a:solidFill>
                <a:latin typeface="Calibri" pitchFamily="34" charset="0"/>
                <a:ea typeface="Calibri" pitchFamily="34" charset="-122"/>
                <a:cs typeface="Calibri" pitchFamily="34" charset="-120"/>
              </a:rPr>
              <a:t>1950 — Present  |  A 75-Year Journey of Hype, Failure, and Breakthrough</a:t>
            </a:r>
            <a:endParaRPr lang="en-US" sz="1600" dirty="0"/>
          </a:p>
        </p:txBody>
      </p:sp>
      <p:sp>
        <p:nvSpPr>
          <p:cNvPr id="16" name="Shape 14"/>
          <p:cNvSpPr/>
          <p:nvPr/>
        </p:nvSpPr>
        <p:spPr>
          <a:xfrm>
            <a:off x="1371600" y="2834640"/>
            <a:ext cx="164592" cy="164592"/>
          </a:xfrm>
          <a:prstGeom prst="ellipse">
            <a:avLst/>
          </a:prstGeom>
          <a:solidFill>
            <a:srgbClr val="22D3EE"/>
          </a:solidFill>
          <a:ln/>
        </p:spPr>
        <p:txBody>
          <a:bodyPr/>
          <a:lstStyle/>
          <a:p>
            <a:endParaRPr lang="en-US"/>
          </a:p>
        </p:txBody>
      </p:sp>
      <p:sp>
        <p:nvSpPr>
          <p:cNvPr id="17" name="Text 15"/>
          <p:cNvSpPr/>
          <p:nvPr/>
        </p:nvSpPr>
        <p:spPr>
          <a:xfrm>
            <a:off x="1591056" y="2788920"/>
            <a:ext cx="1097280" cy="256032"/>
          </a:xfrm>
          <a:prstGeom prst="rect">
            <a:avLst/>
          </a:prstGeom>
          <a:noFill/>
          <a:ln/>
        </p:spPr>
        <p:txBody>
          <a:bodyPr wrap="square" rtlCol="0" anchor="ctr"/>
          <a:lstStyle/>
          <a:p>
            <a:pPr marL="0" indent="0">
              <a:buNone/>
            </a:pPr>
            <a:r>
              <a:rPr lang="en-US" sz="1000" dirty="0">
                <a:solidFill>
                  <a:srgbClr val="8B949E"/>
                </a:solidFill>
                <a:latin typeface="Calibri" pitchFamily="34" charset="0"/>
                <a:ea typeface="Calibri" pitchFamily="34" charset="-122"/>
                <a:cs typeface="Calibri" pitchFamily="34" charset="-120"/>
              </a:rPr>
              <a:t>Milestone</a:t>
            </a:r>
            <a:endParaRPr lang="en-US" sz="1000" dirty="0"/>
          </a:p>
        </p:txBody>
      </p:sp>
      <p:sp>
        <p:nvSpPr>
          <p:cNvPr id="18" name="Shape 16"/>
          <p:cNvSpPr/>
          <p:nvPr/>
        </p:nvSpPr>
        <p:spPr>
          <a:xfrm>
            <a:off x="2926080" y="2834640"/>
            <a:ext cx="164592" cy="164592"/>
          </a:xfrm>
          <a:prstGeom prst="ellipse">
            <a:avLst/>
          </a:prstGeom>
          <a:solidFill>
            <a:srgbClr val="F59E0B"/>
          </a:solidFill>
          <a:ln/>
        </p:spPr>
        <p:txBody>
          <a:bodyPr/>
          <a:lstStyle/>
          <a:p>
            <a:endParaRPr lang="en-US"/>
          </a:p>
        </p:txBody>
      </p:sp>
      <p:sp>
        <p:nvSpPr>
          <p:cNvPr id="19" name="Text 17"/>
          <p:cNvSpPr/>
          <p:nvPr/>
        </p:nvSpPr>
        <p:spPr>
          <a:xfrm>
            <a:off x="3145536" y="2788920"/>
            <a:ext cx="1097280" cy="256032"/>
          </a:xfrm>
          <a:prstGeom prst="rect">
            <a:avLst/>
          </a:prstGeom>
          <a:noFill/>
          <a:ln/>
        </p:spPr>
        <p:txBody>
          <a:bodyPr wrap="square" rtlCol="0" anchor="ctr"/>
          <a:lstStyle/>
          <a:p>
            <a:pPr marL="0" indent="0">
              <a:buNone/>
            </a:pPr>
            <a:r>
              <a:rPr lang="en-US" sz="1000" dirty="0">
                <a:solidFill>
                  <a:srgbClr val="8B949E"/>
                </a:solidFill>
                <a:latin typeface="Calibri" pitchFamily="34" charset="0"/>
                <a:ea typeface="Calibri" pitchFamily="34" charset="-122"/>
                <a:cs typeface="Calibri" pitchFamily="34" charset="-120"/>
              </a:rPr>
              <a:t>AI Winter</a:t>
            </a:r>
            <a:endParaRPr lang="en-US" sz="1000" dirty="0"/>
          </a:p>
        </p:txBody>
      </p:sp>
      <p:sp>
        <p:nvSpPr>
          <p:cNvPr id="20" name="Shape 18"/>
          <p:cNvSpPr/>
          <p:nvPr/>
        </p:nvSpPr>
        <p:spPr>
          <a:xfrm>
            <a:off x="4480560" y="2834640"/>
            <a:ext cx="164592" cy="164592"/>
          </a:xfrm>
          <a:prstGeom prst="ellipse">
            <a:avLst/>
          </a:prstGeom>
          <a:solidFill>
            <a:srgbClr val="4ADE80"/>
          </a:solidFill>
          <a:ln/>
        </p:spPr>
        <p:txBody>
          <a:bodyPr/>
          <a:lstStyle/>
          <a:p>
            <a:endParaRPr lang="en-US"/>
          </a:p>
        </p:txBody>
      </p:sp>
      <p:sp>
        <p:nvSpPr>
          <p:cNvPr id="21" name="Text 19"/>
          <p:cNvSpPr/>
          <p:nvPr/>
        </p:nvSpPr>
        <p:spPr>
          <a:xfrm>
            <a:off x="4700016" y="2788920"/>
            <a:ext cx="1097280" cy="256032"/>
          </a:xfrm>
          <a:prstGeom prst="rect">
            <a:avLst/>
          </a:prstGeom>
          <a:noFill/>
          <a:ln/>
        </p:spPr>
        <p:txBody>
          <a:bodyPr wrap="square" rtlCol="0" anchor="ctr"/>
          <a:lstStyle/>
          <a:p>
            <a:pPr marL="0" indent="0">
              <a:buNone/>
            </a:pPr>
            <a:r>
              <a:rPr lang="en-US" sz="1000" dirty="0">
                <a:solidFill>
                  <a:srgbClr val="8B949E"/>
                </a:solidFill>
                <a:latin typeface="Calibri" pitchFamily="34" charset="0"/>
                <a:ea typeface="Calibri" pitchFamily="34" charset="-122"/>
                <a:cs typeface="Calibri" pitchFamily="34" charset="-120"/>
              </a:rPr>
              <a:t>Breakthrough</a:t>
            </a:r>
            <a:endParaRPr lang="en-US" sz="1000" dirty="0"/>
          </a:p>
        </p:txBody>
      </p:sp>
      <p:sp>
        <p:nvSpPr>
          <p:cNvPr id="22" name="Shape 20"/>
          <p:cNvSpPr/>
          <p:nvPr/>
        </p:nvSpPr>
        <p:spPr>
          <a:xfrm>
            <a:off x="6035040" y="2834640"/>
            <a:ext cx="164592" cy="164592"/>
          </a:xfrm>
          <a:prstGeom prst="ellipse">
            <a:avLst/>
          </a:prstGeom>
          <a:solidFill>
            <a:srgbClr val="A78BFA"/>
          </a:solidFill>
          <a:ln/>
        </p:spPr>
        <p:txBody>
          <a:bodyPr/>
          <a:lstStyle/>
          <a:p>
            <a:endParaRPr lang="en-US"/>
          </a:p>
        </p:txBody>
      </p:sp>
      <p:sp>
        <p:nvSpPr>
          <p:cNvPr id="23" name="Text 21"/>
          <p:cNvSpPr/>
          <p:nvPr/>
        </p:nvSpPr>
        <p:spPr>
          <a:xfrm>
            <a:off x="6254496" y="2788920"/>
            <a:ext cx="1097280" cy="256032"/>
          </a:xfrm>
          <a:prstGeom prst="rect">
            <a:avLst/>
          </a:prstGeom>
          <a:noFill/>
          <a:ln/>
        </p:spPr>
        <p:txBody>
          <a:bodyPr wrap="square" rtlCol="0" anchor="ctr"/>
          <a:lstStyle/>
          <a:p>
            <a:pPr marL="0" indent="0">
              <a:buNone/>
            </a:pPr>
            <a:r>
              <a:rPr lang="en-US" sz="1000" dirty="0">
                <a:solidFill>
                  <a:srgbClr val="8B949E"/>
                </a:solidFill>
                <a:latin typeface="Calibri" pitchFamily="34" charset="0"/>
                <a:ea typeface="Calibri" pitchFamily="34" charset="-122"/>
                <a:cs typeface="Calibri" pitchFamily="34" charset="-120"/>
              </a:rPr>
              <a:t>Modern AI</a:t>
            </a:r>
            <a:endParaRPr lang="en-US" sz="1000" dirty="0"/>
          </a:p>
        </p:txBody>
      </p:sp>
      <p:sp>
        <p:nvSpPr>
          <p:cNvPr id="24" name="Text 22"/>
          <p:cNvSpPr/>
          <p:nvPr/>
        </p:nvSpPr>
        <p:spPr>
          <a:xfrm>
            <a:off x="448056" y="4443545"/>
            <a:ext cx="8229600" cy="274320"/>
          </a:xfrm>
          <a:prstGeom prst="rect">
            <a:avLst/>
          </a:prstGeom>
          <a:noFill/>
          <a:ln/>
        </p:spPr>
        <p:txBody>
          <a:bodyPr wrap="square" rtlCol="0" anchor="ctr"/>
          <a:lstStyle/>
          <a:p>
            <a:pPr algn="ctr"/>
            <a:r>
              <a:rPr lang="en-US" sz="900" b="1" dirty="0">
                <a:latin typeface="Calibri" pitchFamily="34" charset="0"/>
                <a:ea typeface="Calibri" pitchFamily="34" charset="-122"/>
                <a:cs typeface="Calibri" pitchFamily="34" charset="-120"/>
              </a:rPr>
              <a:t>Created by Vijay Sai Kumar Katupilla  |  Indiana Wesleyan University  |  Instructor: Dr. Glory Adebayo</a:t>
            </a:r>
            <a:endParaRPr lang="en-US" sz="900" b="1" dirty="0"/>
          </a:p>
        </p:txBody>
      </p:sp>
      <p:sp>
        <p:nvSpPr>
          <p:cNvPr id="28" name="Text 22">
            <a:extLst>
              <a:ext uri="{FF2B5EF4-FFF2-40B4-BE49-F238E27FC236}">
                <a16:creationId xmlns:a16="http://schemas.microsoft.com/office/drawing/2014/main" id="{FC37443D-1998-1770-2811-07095EBCEEBE}"/>
              </a:ext>
            </a:extLst>
          </p:cNvPr>
          <p:cNvSpPr/>
          <p:nvPr/>
        </p:nvSpPr>
        <p:spPr>
          <a:xfrm>
            <a:off x="210070" y="370333"/>
            <a:ext cx="8229600" cy="274320"/>
          </a:xfrm>
          <a:prstGeom prst="rect">
            <a:avLst/>
          </a:prstGeom>
          <a:noFill/>
          <a:ln/>
        </p:spPr>
        <p:txBody>
          <a:bodyPr wrap="square" rtlCol="0" anchor="ctr"/>
          <a:lstStyle/>
          <a:p>
            <a:pPr algn="ctr"/>
            <a:r>
              <a:rPr lang="en-US" sz="900" dirty="0">
                <a:solidFill>
                  <a:srgbClr val="8B949E"/>
                </a:solidFill>
                <a:latin typeface="Calibri" pitchFamily="34" charset="0"/>
                <a:ea typeface="Calibri" pitchFamily="34" charset="-122"/>
                <a:cs typeface="Calibri" pitchFamily="34" charset="-120"/>
              </a:rPr>
              <a:t> AIML-500: Machine Learning Fundamentals | 1.3 Discussion AI &amp; ML Timelines</a:t>
            </a:r>
            <a:endParaRPr lang="en-US" sz="900" dirty="0"/>
          </a:p>
        </p:txBody>
      </p:sp>
      <p:sp>
        <p:nvSpPr>
          <p:cNvPr id="29" name="Text 1">
            <a:extLst>
              <a:ext uri="{FF2B5EF4-FFF2-40B4-BE49-F238E27FC236}">
                <a16:creationId xmlns:a16="http://schemas.microsoft.com/office/drawing/2014/main" id="{63109E56-4100-6794-3F0C-A49461C992F1}"/>
              </a:ext>
            </a:extLst>
          </p:cNvPr>
          <p:cNvSpPr/>
          <p:nvPr/>
        </p:nvSpPr>
        <p:spPr>
          <a:xfrm>
            <a:off x="411480" y="3200400"/>
            <a:ext cx="1600200" cy="822960"/>
          </a:xfrm>
          <a:prstGeom prst="rect">
            <a:avLst/>
          </a:prstGeom>
          <a:noFill/>
          <a:ln/>
        </p:spPr>
        <p:txBody>
          <a:bodyPr wrap="square" rtlCol="0" anchor="ctr"/>
          <a:lstStyle/>
          <a:p>
            <a:pPr marL="0" indent="0" algn="ctr">
              <a:buNone/>
            </a:pPr>
            <a:endParaRPr lang="en-US" sz="950" dirty="0"/>
          </a:p>
        </p:txBody>
      </p:sp>
      <p:sp>
        <p:nvSpPr>
          <p:cNvPr id="33" name="Text 3">
            <a:extLst>
              <a:ext uri="{FF2B5EF4-FFF2-40B4-BE49-F238E27FC236}">
                <a16:creationId xmlns:a16="http://schemas.microsoft.com/office/drawing/2014/main" id="{0CF7DAE2-B301-6A9A-7FE7-14F013929A24}"/>
              </a:ext>
            </a:extLst>
          </p:cNvPr>
          <p:cNvSpPr/>
          <p:nvPr/>
        </p:nvSpPr>
        <p:spPr>
          <a:xfrm>
            <a:off x="2514600" y="3200400"/>
            <a:ext cx="1920240" cy="822960"/>
          </a:xfrm>
          <a:prstGeom prst="rect">
            <a:avLst/>
          </a:prstGeom>
          <a:noFill/>
          <a:ln/>
        </p:spPr>
        <p:txBody>
          <a:bodyPr wrap="square" rtlCol="0" anchor="ctr"/>
          <a:lstStyle/>
          <a:p>
            <a:pPr marL="0" indent="0" algn="ctr">
              <a:buNone/>
            </a:pPr>
            <a:endParaRPr lang="en-US" sz="950" dirty="0"/>
          </a:p>
        </p:txBody>
      </p:sp>
      <p:sp>
        <p:nvSpPr>
          <p:cNvPr id="37" name="Text 5">
            <a:extLst>
              <a:ext uri="{FF2B5EF4-FFF2-40B4-BE49-F238E27FC236}">
                <a16:creationId xmlns:a16="http://schemas.microsoft.com/office/drawing/2014/main" id="{7982B9CE-6258-7364-5F5A-590E8B73273C}"/>
              </a:ext>
            </a:extLst>
          </p:cNvPr>
          <p:cNvSpPr/>
          <p:nvPr/>
        </p:nvSpPr>
        <p:spPr>
          <a:xfrm>
            <a:off x="4617720" y="3200400"/>
            <a:ext cx="1920240" cy="822960"/>
          </a:xfrm>
          <a:prstGeom prst="rect">
            <a:avLst/>
          </a:prstGeom>
          <a:noFill/>
          <a:ln/>
        </p:spPr>
        <p:txBody>
          <a:bodyPr wrap="square" rtlCol="0" anchor="ctr"/>
          <a:lstStyle/>
          <a:p>
            <a:pPr marL="0" indent="0" algn="ctr">
              <a:buNone/>
            </a:pPr>
            <a:endParaRPr lang="en-US" sz="950" dirty="0"/>
          </a:p>
        </p:txBody>
      </p:sp>
      <p:sp>
        <p:nvSpPr>
          <p:cNvPr id="41" name="Text 7">
            <a:extLst>
              <a:ext uri="{FF2B5EF4-FFF2-40B4-BE49-F238E27FC236}">
                <a16:creationId xmlns:a16="http://schemas.microsoft.com/office/drawing/2014/main" id="{4DE6B444-E3D7-B2BF-F6F5-8E88F94CF6BD}"/>
              </a:ext>
            </a:extLst>
          </p:cNvPr>
          <p:cNvSpPr/>
          <p:nvPr/>
        </p:nvSpPr>
        <p:spPr>
          <a:xfrm>
            <a:off x="6720840" y="3200400"/>
            <a:ext cx="1920240" cy="822960"/>
          </a:xfrm>
          <a:prstGeom prst="rect">
            <a:avLst/>
          </a:prstGeom>
          <a:noFill/>
          <a:ln/>
        </p:spPr>
        <p:txBody>
          <a:bodyPr wrap="square" rtlCol="0" anchor="ctr"/>
          <a:lstStyle/>
          <a:p>
            <a:pPr marL="0" indent="0" algn="ctr">
              <a:buNone/>
            </a:pPr>
            <a:endParaRPr lang="en-US" sz="950" dirty="0"/>
          </a:p>
        </p:txBody>
      </p:sp>
      <p:sp>
        <p:nvSpPr>
          <p:cNvPr id="45" name="Text 1">
            <a:extLst>
              <a:ext uri="{FF2B5EF4-FFF2-40B4-BE49-F238E27FC236}">
                <a16:creationId xmlns:a16="http://schemas.microsoft.com/office/drawing/2014/main" id="{5755E3C2-1C5C-B657-F0F0-E0F11AA0483E}"/>
              </a:ext>
            </a:extLst>
          </p:cNvPr>
          <p:cNvSpPr/>
          <p:nvPr/>
        </p:nvSpPr>
        <p:spPr>
          <a:xfrm>
            <a:off x="853843" y="3094207"/>
            <a:ext cx="939228" cy="822960"/>
          </a:xfrm>
          <a:prstGeom prst="rect">
            <a:avLst/>
          </a:prstGeom>
          <a:noFill/>
          <a:ln/>
        </p:spPr>
        <p:txBody>
          <a:bodyPr wrap="square" rtlCol="0" anchor="ctr"/>
          <a:lstStyle/>
          <a:p>
            <a:pPr marL="0" indent="0" algn="ctr">
              <a:buNone/>
            </a:pPr>
            <a:endParaRPr lang="en-US" sz="950" dirty="0"/>
          </a:p>
        </p:txBody>
      </p:sp>
      <p:sp>
        <p:nvSpPr>
          <p:cNvPr id="49" name="Text 3">
            <a:extLst>
              <a:ext uri="{FF2B5EF4-FFF2-40B4-BE49-F238E27FC236}">
                <a16:creationId xmlns:a16="http://schemas.microsoft.com/office/drawing/2014/main" id="{699043FC-FA10-F95C-ED50-B19374565E54}"/>
              </a:ext>
            </a:extLst>
          </p:cNvPr>
          <p:cNvSpPr/>
          <p:nvPr/>
        </p:nvSpPr>
        <p:spPr>
          <a:xfrm>
            <a:off x="2956963" y="3094207"/>
            <a:ext cx="939228" cy="822960"/>
          </a:xfrm>
          <a:prstGeom prst="rect">
            <a:avLst/>
          </a:prstGeom>
          <a:noFill/>
          <a:ln/>
        </p:spPr>
        <p:txBody>
          <a:bodyPr wrap="square" rtlCol="0" anchor="ctr"/>
          <a:lstStyle/>
          <a:p>
            <a:pPr marL="0" indent="0" algn="ctr">
              <a:buNone/>
            </a:pPr>
            <a:endParaRPr lang="en-US" sz="950" dirty="0"/>
          </a:p>
        </p:txBody>
      </p:sp>
      <p:sp>
        <p:nvSpPr>
          <p:cNvPr id="53" name="Text 5">
            <a:extLst>
              <a:ext uri="{FF2B5EF4-FFF2-40B4-BE49-F238E27FC236}">
                <a16:creationId xmlns:a16="http://schemas.microsoft.com/office/drawing/2014/main" id="{037328C7-BBDD-F72F-C6FB-36B2B63FCFEC}"/>
              </a:ext>
            </a:extLst>
          </p:cNvPr>
          <p:cNvSpPr/>
          <p:nvPr/>
        </p:nvSpPr>
        <p:spPr>
          <a:xfrm>
            <a:off x="5060083" y="3094207"/>
            <a:ext cx="939228" cy="822960"/>
          </a:xfrm>
          <a:prstGeom prst="rect">
            <a:avLst/>
          </a:prstGeom>
          <a:noFill/>
          <a:ln/>
        </p:spPr>
        <p:txBody>
          <a:bodyPr wrap="square" rtlCol="0" anchor="ctr"/>
          <a:lstStyle/>
          <a:p>
            <a:pPr marL="0" indent="0" algn="ctr">
              <a:buNone/>
            </a:pPr>
            <a:endParaRPr lang="en-US" sz="950" dirty="0"/>
          </a:p>
        </p:txBody>
      </p:sp>
      <p:sp>
        <p:nvSpPr>
          <p:cNvPr id="57" name="Text 7">
            <a:extLst>
              <a:ext uri="{FF2B5EF4-FFF2-40B4-BE49-F238E27FC236}">
                <a16:creationId xmlns:a16="http://schemas.microsoft.com/office/drawing/2014/main" id="{C9C19C9B-C175-9D56-EE0A-CB4706542368}"/>
              </a:ext>
            </a:extLst>
          </p:cNvPr>
          <p:cNvSpPr/>
          <p:nvPr/>
        </p:nvSpPr>
        <p:spPr>
          <a:xfrm>
            <a:off x="7163203" y="3094207"/>
            <a:ext cx="939228" cy="822960"/>
          </a:xfrm>
          <a:prstGeom prst="rect">
            <a:avLst/>
          </a:prstGeom>
          <a:noFill/>
          <a:ln/>
        </p:spPr>
        <p:txBody>
          <a:bodyPr wrap="square" rtlCol="0" anchor="ctr"/>
          <a:lstStyle/>
          <a:p>
            <a:pPr marL="0" indent="0" algn="ctr">
              <a:buNone/>
            </a:pPr>
            <a:endParaRPr lang="en-US" sz="950" dirty="0"/>
          </a:p>
        </p:txBody>
      </p:sp>
      <p:sp>
        <p:nvSpPr>
          <p:cNvPr id="59" name="Shape 0">
            <a:extLst>
              <a:ext uri="{FF2B5EF4-FFF2-40B4-BE49-F238E27FC236}">
                <a16:creationId xmlns:a16="http://schemas.microsoft.com/office/drawing/2014/main" id="{AE5887EE-7DE3-9DC2-A1FD-792AFAD8A01F}"/>
              </a:ext>
            </a:extLst>
          </p:cNvPr>
          <p:cNvSpPr/>
          <p:nvPr/>
        </p:nvSpPr>
        <p:spPr>
          <a:xfrm>
            <a:off x="563880" y="3352800"/>
            <a:ext cx="1719032" cy="822960"/>
          </a:xfrm>
          <a:prstGeom prst="roundRect">
            <a:avLst>
              <a:gd name="adj" fmla="val 8889"/>
            </a:avLst>
          </a:prstGeom>
          <a:solidFill>
            <a:srgbClr val="22D3EE">
              <a:alpha val="25000"/>
            </a:srgbClr>
          </a:solidFill>
          <a:ln w="12700">
            <a:solidFill>
              <a:srgbClr val="22D3EE"/>
            </a:solidFill>
            <a:prstDash val="solid"/>
          </a:ln>
        </p:spPr>
        <p:txBody>
          <a:bodyPr/>
          <a:lstStyle/>
          <a:p>
            <a:endParaRPr lang="en-US"/>
          </a:p>
        </p:txBody>
      </p:sp>
      <p:sp>
        <p:nvSpPr>
          <p:cNvPr id="61" name="Text 1">
            <a:extLst>
              <a:ext uri="{FF2B5EF4-FFF2-40B4-BE49-F238E27FC236}">
                <a16:creationId xmlns:a16="http://schemas.microsoft.com/office/drawing/2014/main" id="{3EF5EEEE-1E02-97EB-FA6D-7694A9103D65}"/>
              </a:ext>
            </a:extLst>
          </p:cNvPr>
          <p:cNvSpPr/>
          <p:nvPr/>
        </p:nvSpPr>
        <p:spPr>
          <a:xfrm>
            <a:off x="563880" y="3352800"/>
            <a:ext cx="1719032" cy="822960"/>
          </a:xfrm>
          <a:prstGeom prst="rect">
            <a:avLst/>
          </a:prstGeom>
          <a:noFill/>
          <a:ln/>
        </p:spPr>
        <p:txBody>
          <a:bodyPr wrap="square" rtlCol="0" anchor="ctr"/>
          <a:lstStyle/>
          <a:p>
            <a:pPr marL="0" indent="0" algn="ctr">
              <a:buNone/>
            </a:pPr>
            <a:r>
              <a:rPr lang="en-US" sz="950" b="1" dirty="0">
                <a:solidFill>
                  <a:srgbClr val="F0F6FC"/>
                </a:solidFill>
                <a:latin typeface="Calibri" pitchFamily="34" charset="0"/>
                <a:ea typeface="Calibri" pitchFamily="34" charset="-122"/>
                <a:cs typeface="Calibri" pitchFamily="34" charset="-120"/>
              </a:rPr>
              <a:t>1950s–70s</a:t>
            </a:r>
            <a:endParaRPr lang="en-US" sz="950" dirty="0"/>
          </a:p>
          <a:p>
            <a:pPr marL="0" indent="0" algn="ctr">
              <a:buNone/>
            </a:pPr>
            <a:r>
              <a:rPr lang="en-US" sz="950" b="1" dirty="0">
                <a:solidFill>
                  <a:srgbClr val="F0F6FC"/>
                </a:solidFill>
                <a:latin typeface="Calibri" pitchFamily="34" charset="0"/>
                <a:ea typeface="Calibri" pitchFamily="34" charset="-122"/>
                <a:cs typeface="Calibri" pitchFamily="34" charset="-120"/>
              </a:rPr>
              <a:t>Foundations</a:t>
            </a:r>
            <a:endParaRPr lang="en-US" sz="950" dirty="0"/>
          </a:p>
        </p:txBody>
      </p:sp>
      <p:sp>
        <p:nvSpPr>
          <p:cNvPr id="63" name="Shape 2">
            <a:extLst>
              <a:ext uri="{FF2B5EF4-FFF2-40B4-BE49-F238E27FC236}">
                <a16:creationId xmlns:a16="http://schemas.microsoft.com/office/drawing/2014/main" id="{291FC7BE-F11F-6BEB-FE68-C6C111A0EFBD}"/>
              </a:ext>
            </a:extLst>
          </p:cNvPr>
          <p:cNvSpPr/>
          <p:nvPr/>
        </p:nvSpPr>
        <p:spPr>
          <a:xfrm>
            <a:off x="2667000" y="3352800"/>
            <a:ext cx="1719032" cy="822960"/>
          </a:xfrm>
          <a:prstGeom prst="roundRect">
            <a:avLst>
              <a:gd name="adj" fmla="val 8889"/>
            </a:avLst>
          </a:prstGeom>
          <a:solidFill>
            <a:srgbClr val="F59E0B">
              <a:alpha val="25000"/>
            </a:srgbClr>
          </a:solidFill>
          <a:ln w="12700">
            <a:solidFill>
              <a:srgbClr val="F59E0B"/>
            </a:solidFill>
            <a:prstDash val="solid"/>
          </a:ln>
        </p:spPr>
        <p:txBody>
          <a:bodyPr/>
          <a:lstStyle/>
          <a:p>
            <a:endParaRPr lang="en-US"/>
          </a:p>
        </p:txBody>
      </p:sp>
      <p:sp>
        <p:nvSpPr>
          <p:cNvPr id="65" name="Text 3">
            <a:extLst>
              <a:ext uri="{FF2B5EF4-FFF2-40B4-BE49-F238E27FC236}">
                <a16:creationId xmlns:a16="http://schemas.microsoft.com/office/drawing/2014/main" id="{79A9C540-9395-B43D-AA5D-CD1D9DE92B65}"/>
              </a:ext>
            </a:extLst>
          </p:cNvPr>
          <p:cNvSpPr/>
          <p:nvPr/>
        </p:nvSpPr>
        <p:spPr>
          <a:xfrm>
            <a:off x="2667000" y="3352800"/>
            <a:ext cx="1719032" cy="822960"/>
          </a:xfrm>
          <a:prstGeom prst="rect">
            <a:avLst/>
          </a:prstGeom>
          <a:noFill/>
          <a:ln/>
        </p:spPr>
        <p:txBody>
          <a:bodyPr wrap="square" rtlCol="0" anchor="ctr"/>
          <a:lstStyle/>
          <a:p>
            <a:pPr marL="0" indent="0" algn="ctr">
              <a:buNone/>
            </a:pPr>
            <a:r>
              <a:rPr lang="en-US" sz="950" b="1" dirty="0">
                <a:solidFill>
                  <a:srgbClr val="F0F6FC"/>
                </a:solidFill>
                <a:latin typeface="Calibri" pitchFamily="34" charset="0"/>
                <a:ea typeface="Calibri" pitchFamily="34" charset="-122"/>
                <a:cs typeface="Calibri" pitchFamily="34" charset="-120"/>
              </a:rPr>
              <a:t>1970s–90s</a:t>
            </a:r>
            <a:endParaRPr lang="en-US" sz="950" dirty="0"/>
          </a:p>
          <a:p>
            <a:pPr marL="0" indent="0" algn="ctr">
              <a:buNone/>
            </a:pPr>
            <a:r>
              <a:rPr lang="en-US" sz="950" b="1" dirty="0">
                <a:solidFill>
                  <a:srgbClr val="F0F6FC"/>
                </a:solidFill>
                <a:latin typeface="Calibri" pitchFamily="34" charset="0"/>
                <a:ea typeface="Calibri" pitchFamily="34" charset="-122"/>
                <a:cs typeface="Calibri" pitchFamily="34" charset="-120"/>
              </a:rPr>
              <a:t>AI Winters</a:t>
            </a:r>
            <a:endParaRPr lang="en-US" sz="950" dirty="0"/>
          </a:p>
        </p:txBody>
      </p:sp>
      <p:sp>
        <p:nvSpPr>
          <p:cNvPr id="67" name="Shape 4">
            <a:extLst>
              <a:ext uri="{FF2B5EF4-FFF2-40B4-BE49-F238E27FC236}">
                <a16:creationId xmlns:a16="http://schemas.microsoft.com/office/drawing/2014/main" id="{22AD26F0-612E-CC85-AE13-6C1CC9AF477D}"/>
              </a:ext>
            </a:extLst>
          </p:cNvPr>
          <p:cNvSpPr/>
          <p:nvPr/>
        </p:nvSpPr>
        <p:spPr>
          <a:xfrm>
            <a:off x="4770120" y="3352800"/>
            <a:ext cx="1719032" cy="822960"/>
          </a:xfrm>
          <a:prstGeom prst="roundRect">
            <a:avLst>
              <a:gd name="adj" fmla="val 8889"/>
            </a:avLst>
          </a:prstGeom>
          <a:solidFill>
            <a:srgbClr val="4ADE80">
              <a:alpha val="25000"/>
            </a:srgbClr>
          </a:solidFill>
          <a:ln w="12700">
            <a:solidFill>
              <a:srgbClr val="4ADE80"/>
            </a:solidFill>
            <a:prstDash val="solid"/>
          </a:ln>
        </p:spPr>
        <p:txBody>
          <a:bodyPr/>
          <a:lstStyle/>
          <a:p>
            <a:endParaRPr lang="en-US"/>
          </a:p>
        </p:txBody>
      </p:sp>
      <p:sp>
        <p:nvSpPr>
          <p:cNvPr id="69" name="Text 5">
            <a:extLst>
              <a:ext uri="{FF2B5EF4-FFF2-40B4-BE49-F238E27FC236}">
                <a16:creationId xmlns:a16="http://schemas.microsoft.com/office/drawing/2014/main" id="{67A3172D-6862-5F3E-F15E-5C828D85205F}"/>
              </a:ext>
            </a:extLst>
          </p:cNvPr>
          <p:cNvSpPr/>
          <p:nvPr/>
        </p:nvSpPr>
        <p:spPr>
          <a:xfrm>
            <a:off x="4770120" y="3352800"/>
            <a:ext cx="1719032" cy="822960"/>
          </a:xfrm>
          <a:prstGeom prst="rect">
            <a:avLst/>
          </a:prstGeom>
          <a:noFill/>
          <a:ln/>
        </p:spPr>
        <p:txBody>
          <a:bodyPr wrap="square" rtlCol="0" anchor="ctr"/>
          <a:lstStyle/>
          <a:p>
            <a:pPr marL="0" indent="0" algn="ctr">
              <a:buNone/>
            </a:pPr>
            <a:r>
              <a:rPr lang="en-US" sz="950" b="1" dirty="0">
                <a:solidFill>
                  <a:srgbClr val="F0F6FC"/>
                </a:solidFill>
                <a:latin typeface="Calibri" pitchFamily="34" charset="0"/>
                <a:ea typeface="Calibri" pitchFamily="34" charset="-122"/>
                <a:cs typeface="Calibri" pitchFamily="34" charset="-120"/>
              </a:rPr>
              <a:t>1990s–2010s</a:t>
            </a:r>
            <a:endParaRPr lang="en-US" sz="950" dirty="0"/>
          </a:p>
          <a:p>
            <a:pPr marL="0" indent="0" algn="ctr">
              <a:buNone/>
            </a:pPr>
            <a:r>
              <a:rPr lang="en-US" sz="950" b="1" dirty="0">
                <a:solidFill>
                  <a:srgbClr val="F0F6FC"/>
                </a:solidFill>
                <a:latin typeface="Calibri" pitchFamily="34" charset="0"/>
                <a:ea typeface="Calibri" pitchFamily="34" charset="-122"/>
                <a:cs typeface="Calibri" pitchFamily="34" charset="-120"/>
              </a:rPr>
              <a:t>Revival</a:t>
            </a:r>
            <a:endParaRPr lang="en-US" sz="950" dirty="0"/>
          </a:p>
        </p:txBody>
      </p:sp>
      <p:sp>
        <p:nvSpPr>
          <p:cNvPr id="71" name="Shape 6">
            <a:extLst>
              <a:ext uri="{FF2B5EF4-FFF2-40B4-BE49-F238E27FC236}">
                <a16:creationId xmlns:a16="http://schemas.microsoft.com/office/drawing/2014/main" id="{E8854EAC-4B99-04E1-0626-87A8D8074C37}"/>
              </a:ext>
            </a:extLst>
          </p:cNvPr>
          <p:cNvSpPr/>
          <p:nvPr/>
        </p:nvSpPr>
        <p:spPr>
          <a:xfrm>
            <a:off x="6873240" y="3352800"/>
            <a:ext cx="1719032" cy="822960"/>
          </a:xfrm>
          <a:prstGeom prst="roundRect">
            <a:avLst>
              <a:gd name="adj" fmla="val 8889"/>
            </a:avLst>
          </a:prstGeom>
          <a:solidFill>
            <a:srgbClr val="A78BFA">
              <a:alpha val="25000"/>
            </a:srgbClr>
          </a:solidFill>
          <a:ln w="12700">
            <a:solidFill>
              <a:srgbClr val="A78BFA"/>
            </a:solidFill>
            <a:prstDash val="solid"/>
          </a:ln>
        </p:spPr>
        <p:txBody>
          <a:bodyPr/>
          <a:lstStyle/>
          <a:p>
            <a:endParaRPr lang="en-US"/>
          </a:p>
        </p:txBody>
      </p:sp>
      <p:sp>
        <p:nvSpPr>
          <p:cNvPr id="73" name="Text 7">
            <a:extLst>
              <a:ext uri="{FF2B5EF4-FFF2-40B4-BE49-F238E27FC236}">
                <a16:creationId xmlns:a16="http://schemas.microsoft.com/office/drawing/2014/main" id="{55D5929A-0ACC-404A-CF2B-E9EBA4C0F9E3}"/>
              </a:ext>
            </a:extLst>
          </p:cNvPr>
          <p:cNvSpPr/>
          <p:nvPr/>
        </p:nvSpPr>
        <p:spPr>
          <a:xfrm>
            <a:off x="6873240" y="3352800"/>
            <a:ext cx="1719032" cy="822960"/>
          </a:xfrm>
          <a:prstGeom prst="rect">
            <a:avLst/>
          </a:prstGeom>
          <a:noFill/>
          <a:ln/>
        </p:spPr>
        <p:txBody>
          <a:bodyPr wrap="square" rtlCol="0" anchor="ctr"/>
          <a:lstStyle/>
          <a:p>
            <a:pPr marL="0" indent="0" algn="ctr">
              <a:buNone/>
            </a:pPr>
            <a:r>
              <a:rPr lang="en-US" sz="950" b="1" dirty="0">
                <a:solidFill>
                  <a:srgbClr val="F0F6FC"/>
                </a:solidFill>
                <a:latin typeface="Calibri" pitchFamily="34" charset="0"/>
                <a:ea typeface="Calibri" pitchFamily="34" charset="-122"/>
                <a:cs typeface="Calibri" pitchFamily="34" charset="-120"/>
              </a:rPr>
              <a:t>2012–Now</a:t>
            </a:r>
            <a:endParaRPr lang="en-US" sz="950" dirty="0"/>
          </a:p>
          <a:p>
            <a:pPr marL="0" indent="0" algn="ctr">
              <a:buNone/>
            </a:pPr>
            <a:r>
              <a:rPr lang="en-US" sz="950" b="1" dirty="0">
                <a:solidFill>
                  <a:srgbClr val="F0F6FC"/>
                </a:solidFill>
                <a:latin typeface="Calibri" pitchFamily="34" charset="0"/>
                <a:ea typeface="Calibri" pitchFamily="34" charset="-122"/>
                <a:cs typeface="Calibri" pitchFamily="34" charset="-120"/>
              </a:rPr>
              <a:t>Deep Learning</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11480" y="155448"/>
            <a:ext cx="8321040" cy="274320"/>
          </a:xfrm>
          <a:prstGeom prst="rect">
            <a:avLst/>
          </a:prstGeom>
          <a:noFill/>
          <a:ln/>
        </p:spPr>
        <p:txBody>
          <a:bodyPr wrap="square" lIns="0" tIns="0" rIns="0" bIns="0" rtlCol="0" anchor="ctr"/>
          <a:lstStyle/>
          <a:p>
            <a:pPr marL="0" indent="0">
              <a:buNone/>
            </a:pPr>
            <a:r>
              <a:rPr lang="en-US" sz="900" b="1" kern="0" spc="400" dirty="0">
                <a:solidFill>
                  <a:srgbClr val="22D3EE"/>
                </a:solidFill>
                <a:latin typeface="Calibri" pitchFamily="34" charset="0"/>
                <a:ea typeface="Calibri" pitchFamily="34" charset="-122"/>
                <a:cs typeface="Calibri" pitchFamily="34" charset="-120"/>
              </a:rPr>
              <a:t>ERA 1  •  FOUNDATIONS</a:t>
            </a:r>
            <a:endParaRPr lang="en-US" sz="900" dirty="0"/>
          </a:p>
        </p:txBody>
      </p:sp>
      <p:sp>
        <p:nvSpPr>
          <p:cNvPr id="3" name="Text 1"/>
          <p:cNvSpPr/>
          <p:nvPr/>
        </p:nvSpPr>
        <p:spPr>
          <a:xfrm>
            <a:off x="411480" y="457200"/>
            <a:ext cx="8321040" cy="749808"/>
          </a:xfrm>
          <a:prstGeom prst="rect">
            <a:avLst/>
          </a:prstGeom>
          <a:noFill/>
          <a:ln/>
        </p:spPr>
        <p:txBody>
          <a:bodyPr wrap="square" lIns="0" tIns="0" rIns="0" bIns="0" rtlCol="0" anchor="ctr"/>
          <a:lstStyle/>
          <a:p>
            <a:pPr marL="0" indent="0">
              <a:buNone/>
            </a:pPr>
            <a:r>
              <a:rPr lang="en-US" sz="3600" b="1" dirty="0">
                <a:solidFill>
                  <a:srgbClr val="F0F6FC"/>
                </a:solidFill>
                <a:latin typeface="Calibri" pitchFamily="34" charset="0"/>
                <a:ea typeface="Calibri" pitchFamily="34" charset="-122"/>
                <a:cs typeface="Calibri" pitchFamily="34" charset="-120"/>
              </a:rPr>
              <a:t>1950–1969: AI Gets a Name</a:t>
            </a:r>
            <a:endParaRPr lang="en-US" sz="3600" dirty="0"/>
          </a:p>
        </p:txBody>
      </p:sp>
      <p:sp>
        <p:nvSpPr>
          <p:cNvPr id="4" name="Shape 2"/>
          <p:cNvSpPr/>
          <p:nvPr/>
        </p:nvSpPr>
        <p:spPr>
          <a:xfrm>
            <a:off x="1188720" y="1261872"/>
            <a:ext cx="164592" cy="164592"/>
          </a:xfrm>
          <a:prstGeom prst="ellipse">
            <a:avLst/>
          </a:prstGeom>
          <a:solidFill>
            <a:srgbClr val="22D3EE"/>
          </a:solidFill>
          <a:ln/>
        </p:spPr>
        <p:txBody>
          <a:bodyPr/>
          <a:lstStyle/>
          <a:p>
            <a:endParaRPr lang="en-US"/>
          </a:p>
        </p:txBody>
      </p:sp>
      <p:sp>
        <p:nvSpPr>
          <p:cNvPr id="5" name="Shape 3"/>
          <p:cNvSpPr/>
          <p:nvPr/>
        </p:nvSpPr>
        <p:spPr>
          <a:xfrm>
            <a:off x="411480" y="1481328"/>
            <a:ext cx="1920240" cy="2606040"/>
          </a:xfrm>
          <a:prstGeom prst="roundRect">
            <a:avLst>
              <a:gd name="adj" fmla="val 3810"/>
            </a:avLst>
          </a:prstGeom>
          <a:solidFill>
            <a:srgbClr val="161B22"/>
          </a:solidFill>
          <a:ln w="12700">
            <a:solidFill>
              <a:srgbClr val="22D3EE"/>
            </a:solidFill>
            <a:prstDash val="solid"/>
          </a:ln>
          <a:effectLst>
            <a:outerShdw blurRad="76200" dist="25400" dir="2700000" algn="bl" rotWithShape="0">
              <a:srgbClr val="000000">
                <a:alpha val="20000"/>
              </a:srgbClr>
            </a:outerShdw>
          </a:effectLst>
        </p:spPr>
        <p:txBody>
          <a:bodyPr/>
          <a:lstStyle/>
          <a:p>
            <a:endParaRPr lang="en-US"/>
          </a:p>
        </p:txBody>
      </p:sp>
      <p:sp>
        <p:nvSpPr>
          <p:cNvPr id="6" name="Shape 4"/>
          <p:cNvSpPr/>
          <p:nvPr/>
        </p:nvSpPr>
        <p:spPr>
          <a:xfrm>
            <a:off x="502920" y="1572768"/>
            <a:ext cx="594360" cy="237744"/>
          </a:xfrm>
          <a:prstGeom prst="roundRect">
            <a:avLst>
              <a:gd name="adj" fmla="val 19231"/>
            </a:avLst>
          </a:prstGeom>
          <a:solidFill>
            <a:srgbClr val="22D3EE"/>
          </a:solidFill>
          <a:ln/>
        </p:spPr>
        <p:txBody>
          <a:bodyPr/>
          <a:lstStyle/>
          <a:p>
            <a:endParaRPr lang="en-US"/>
          </a:p>
        </p:txBody>
      </p:sp>
      <p:sp>
        <p:nvSpPr>
          <p:cNvPr id="7" name="Text 5"/>
          <p:cNvSpPr/>
          <p:nvPr/>
        </p:nvSpPr>
        <p:spPr>
          <a:xfrm>
            <a:off x="502920" y="1572768"/>
            <a:ext cx="594360" cy="237744"/>
          </a:xfrm>
          <a:prstGeom prst="rect">
            <a:avLst/>
          </a:prstGeom>
          <a:noFill/>
          <a:ln/>
        </p:spPr>
        <p:txBody>
          <a:bodyPr wrap="square" lIns="0" tIns="0" rIns="0" bIns="0" rtlCol="0" anchor="ctr"/>
          <a:lstStyle/>
          <a:p>
            <a:pPr marL="0" indent="0" algn="ctr">
              <a:buNone/>
            </a:pPr>
            <a:r>
              <a:rPr lang="en-US" sz="900" b="1" dirty="0">
                <a:solidFill>
                  <a:srgbClr val="0D1117"/>
                </a:solidFill>
                <a:latin typeface="Calibri" pitchFamily="34" charset="0"/>
                <a:ea typeface="Calibri" pitchFamily="34" charset="-122"/>
                <a:cs typeface="Calibri" pitchFamily="34" charset="-120"/>
              </a:rPr>
              <a:t>1950</a:t>
            </a:r>
            <a:endParaRPr lang="en-US" sz="900" dirty="0"/>
          </a:p>
        </p:txBody>
      </p:sp>
      <p:sp>
        <p:nvSpPr>
          <p:cNvPr id="8" name="Text 6"/>
          <p:cNvSpPr/>
          <p:nvPr/>
        </p:nvSpPr>
        <p:spPr>
          <a:xfrm>
            <a:off x="521208" y="1901952"/>
            <a:ext cx="1700784" cy="347472"/>
          </a:xfrm>
          <a:prstGeom prst="rect">
            <a:avLst/>
          </a:prstGeom>
          <a:noFill/>
          <a:ln/>
        </p:spPr>
        <p:txBody>
          <a:bodyPr wrap="square" rtlCol="0" anchor="ctr"/>
          <a:lstStyle/>
          <a:p>
            <a:pPr marL="0" indent="0">
              <a:buNone/>
            </a:pPr>
            <a:r>
              <a:rPr lang="en-US" sz="1200" b="1" dirty="0">
                <a:solidFill>
                  <a:srgbClr val="F0F6FC"/>
                </a:solidFill>
                <a:latin typeface="Calibri" pitchFamily="34" charset="0"/>
                <a:ea typeface="Calibri" pitchFamily="34" charset="-122"/>
                <a:cs typeface="Calibri" pitchFamily="34" charset="-120"/>
              </a:rPr>
              <a:t>Turing Test</a:t>
            </a:r>
            <a:endParaRPr lang="en-US" sz="1200" dirty="0"/>
          </a:p>
        </p:txBody>
      </p:sp>
      <p:sp>
        <p:nvSpPr>
          <p:cNvPr id="9" name="Text 7"/>
          <p:cNvSpPr/>
          <p:nvPr/>
        </p:nvSpPr>
        <p:spPr>
          <a:xfrm>
            <a:off x="521208" y="2286000"/>
            <a:ext cx="1700784" cy="1691640"/>
          </a:xfrm>
          <a:prstGeom prst="rect">
            <a:avLst/>
          </a:prstGeom>
          <a:noFill/>
          <a:ln/>
        </p:spPr>
        <p:txBody>
          <a:bodyPr wrap="square" rtlCol="0" anchor="t"/>
          <a:lstStyle/>
          <a:p>
            <a:pPr marL="0" indent="0">
              <a:buNone/>
            </a:pPr>
            <a:r>
              <a:rPr lang="en-US" sz="950" dirty="0">
                <a:solidFill>
                  <a:srgbClr val="6B7280"/>
                </a:solidFill>
                <a:latin typeface="Calibri" pitchFamily="34" charset="0"/>
                <a:ea typeface="Calibri" pitchFamily="34" charset="-122"/>
                <a:cs typeface="Calibri" pitchFamily="34" charset="-120"/>
              </a:rPr>
              <a:t>Alan Turing asks: can machines think? Sets the philosophical foundation for all AI.</a:t>
            </a:r>
            <a:endParaRPr lang="en-US" sz="950" dirty="0"/>
          </a:p>
        </p:txBody>
      </p:sp>
      <p:sp>
        <p:nvSpPr>
          <p:cNvPr id="10" name="Shape 8"/>
          <p:cNvSpPr/>
          <p:nvPr/>
        </p:nvSpPr>
        <p:spPr>
          <a:xfrm>
            <a:off x="3291840" y="1261872"/>
            <a:ext cx="164592" cy="164592"/>
          </a:xfrm>
          <a:prstGeom prst="ellipse">
            <a:avLst/>
          </a:prstGeom>
          <a:solidFill>
            <a:srgbClr val="22D3EE"/>
          </a:solidFill>
          <a:ln/>
        </p:spPr>
        <p:txBody>
          <a:bodyPr/>
          <a:lstStyle/>
          <a:p>
            <a:endParaRPr lang="en-US"/>
          </a:p>
        </p:txBody>
      </p:sp>
      <p:sp>
        <p:nvSpPr>
          <p:cNvPr id="11" name="Shape 9"/>
          <p:cNvSpPr/>
          <p:nvPr/>
        </p:nvSpPr>
        <p:spPr>
          <a:xfrm>
            <a:off x="2514600" y="1481328"/>
            <a:ext cx="1920240" cy="2606040"/>
          </a:xfrm>
          <a:prstGeom prst="roundRect">
            <a:avLst>
              <a:gd name="adj" fmla="val 3810"/>
            </a:avLst>
          </a:prstGeom>
          <a:solidFill>
            <a:srgbClr val="161B22"/>
          </a:solidFill>
          <a:ln w="12700">
            <a:solidFill>
              <a:srgbClr val="22D3EE"/>
            </a:solidFill>
            <a:prstDash val="solid"/>
          </a:ln>
          <a:effectLst>
            <a:outerShdw blurRad="76200" dist="25400" dir="2700000" algn="bl" rotWithShape="0">
              <a:srgbClr val="000000">
                <a:alpha val="20000"/>
              </a:srgbClr>
            </a:outerShdw>
          </a:effectLst>
        </p:spPr>
        <p:txBody>
          <a:bodyPr/>
          <a:lstStyle/>
          <a:p>
            <a:endParaRPr lang="en-US"/>
          </a:p>
        </p:txBody>
      </p:sp>
      <p:sp>
        <p:nvSpPr>
          <p:cNvPr id="12" name="Shape 10"/>
          <p:cNvSpPr/>
          <p:nvPr/>
        </p:nvSpPr>
        <p:spPr>
          <a:xfrm>
            <a:off x="2606040" y="1572768"/>
            <a:ext cx="594360" cy="237744"/>
          </a:xfrm>
          <a:prstGeom prst="roundRect">
            <a:avLst>
              <a:gd name="adj" fmla="val 19231"/>
            </a:avLst>
          </a:prstGeom>
          <a:solidFill>
            <a:srgbClr val="22D3EE"/>
          </a:solidFill>
          <a:ln/>
        </p:spPr>
        <p:txBody>
          <a:bodyPr/>
          <a:lstStyle/>
          <a:p>
            <a:endParaRPr lang="en-US"/>
          </a:p>
        </p:txBody>
      </p:sp>
      <p:sp>
        <p:nvSpPr>
          <p:cNvPr id="13" name="Text 11"/>
          <p:cNvSpPr/>
          <p:nvPr/>
        </p:nvSpPr>
        <p:spPr>
          <a:xfrm>
            <a:off x="2606040" y="1572768"/>
            <a:ext cx="594360" cy="237744"/>
          </a:xfrm>
          <a:prstGeom prst="rect">
            <a:avLst/>
          </a:prstGeom>
          <a:noFill/>
          <a:ln/>
        </p:spPr>
        <p:txBody>
          <a:bodyPr wrap="square" lIns="0" tIns="0" rIns="0" bIns="0" rtlCol="0" anchor="ctr"/>
          <a:lstStyle/>
          <a:p>
            <a:pPr marL="0" indent="0" algn="ctr">
              <a:buNone/>
            </a:pPr>
            <a:r>
              <a:rPr lang="en-US" sz="900" b="1" dirty="0">
                <a:solidFill>
                  <a:srgbClr val="0D1117"/>
                </a:solidFill>
                <a:latin typeface="Calibri" pitchFamily="34" charset="0"/>
                <a:ea typeface="Calibri" pitchFamily="34" charset="-122"/>
                <a:cs typeface="Calibri" pitchFamily="34" charset="-120"/>
              </a:rPr>
              <a:t>1956</a:t>
            </a:r>
            <a:endParaRPr lang="en-US" sz="900" dirty="0"/>
          </a:p>
        </p:txBody>
      </p:sp>
      <p:sp>
        <p:nvSpPr>
          <p:cNvPr id="14" name="Text 12"/>
          <p:cNvSpPr/>
          <p:nvPr/>
        </p:nvSpPr>
        <p:spPr>
          <a:xfrm>
            <a:off x="2624328" y="1901952"/>
            <a:ext cx="1700784" cy="347472"/>
          </a:xfrm>
          <a:prstGeom prst="rect">
            <a:avLst/>
          </a:prstGeom>
          <a:noFill/>
          <a:ln/>
        </p:spPr>
        <p:txBody>
          <a:bodyPr wrap="square" rtlCol="0" anchor="ctr"/>
          <a:lstStyle/>
          <a:p>
            <a:pPr marL="0" indent="0">
              <a:buNone/>
            </a:pPr>
            <a:r>
              <a:rPr lang="en-US" sz="1200" b="1" dirty="0">
                <a:solidFill>
                  <a:srgbClr val="F0F6FC"/>
                </a:solidFill>
                <a:latin typeface="Calibri" pitchFamily="34" charset="0"/>
                <a:ea typeface="Calibri" pitchFamily="34" charset="-122"/>
                <a:cs typeface="Calibri" pitchFamily="34" charset="-120"/>
              </a:rPr>
              <a:t>Dartmouth Conference</a:t>
            </a:r>
            <a:endParaRPr lang="en-US" sz="1200" dirty="0"/>
          </a:p>
        </p:txBody>
      </p:sp>
      <p:sp>
        <p:nvSpPr>
          <p:cNvPr id="15" name="Text 13"/>
          <p:cNvSpPr/>
          <p:nvPr/>
        </p:nvSpPr>
        <p:spPr>
          <a:xfrm>
            <a:off x="2624328" y="2286000"/>
            <a:ext cx="1700784" cy="1691640"/>
          </a:xfrm>
          <a:prstGeom prst="rect">
            <a:avLst/>
          </a:prstGeom>
          <a:noFill/>
          <a:ln/>
        </p:spPr>
        <p:txBody>
          <a:bodyPr wrap="square" rtlCol="0" anchor="t"/>
          <a:lstStyle/>
          <a:p>
            <a:pPr marL="0" indent="0">
              <a:buNone/>
            </a:pPr>
            <a:r>
              <a:rPr lang="en-US" sz="950" dirty="0">
                <a:solidFill>
                  <a:srgbClr val="6B7280"/>
                </a:solidFill>
                <a:latin typeface="Calibri" pitchFamily="34" charset="0"/>
                <a:ea typeface="Calibri" pitchFamily="34" charset="-122"/>
                <a:cs typeface="Calibri" pitchFamily="34" charset="-120"/>
              </a:rPr>
              <a:t>John McCarthy coins 'Artificial Intelligence.' AI becomes an official field of study.</a:t>
            </a:r>
            <a:endParaRPr lang="en-US" sz="950" dirty="0"/>
          </a:p>
        </p:txBody>
      </p:sp>
      <p:sp>
        <p:nvSpPr>
          <p:cNvPr id="16" name="Shape 14"/>
          <p:cNvSpPr/>
          <p:nvPr/>
        </p:nvSpPr>
        <p:spPr>
          <a:xfrm>
            <a:off x="5394960" y="1261872"/>
            <a:ext cx="164592" cy="164592"/>
          </a:xfrm>
          <a:prstGeom prst="ellipse">
            <a:avLst/>
          </a:prstGeom>
          <a:solidFill>
            <a:srgbClr val="22D3EE"/>
          </a:solidFill>
          <a:ln/>
        </p:spPr>
        <p:txBody>
          <a:bodyPr/>
          <a:lstStyle/>
          <a:p>
            <a:endParaRPr lang="en-US"/>
          </a:p>
        </p:txBody>
      </p:sp>
      <p:sp>
        <p:nvSpPr>
          <p:cNvPr id="17" name="Shape 15"/>
          <p:cNvSpPr/>
          <p:nvPr/>
        </p:nvSpPr>
        <p:spPr>
          <a:xfrm>
            <a:off x="4617720" y="1481328"/>
            <a:ext cx="1920240" cy="2606040"/>
          </a:xfrm>
          <a:prstGeom prst="roundRect">
            <a:avLst>
              <a:gd name="adj" fmla="val 3810"/>
            </a:avLst>
          </a:prstGeom>
          <a:solidFill>
            <a:srgbClr val="161B22"/>
          </a:solidFill>
          <a:ln w="12700">
            <a:solidFill>
              <a:srgbClr val="22D3EE"/>
            </a:solidFill>
            <a:prstDash val="solid"/>
          </a:ln>
          <a:effectLst>
            <a:outerShdw blurRad="76200" dist="25400" dir="2700000" algn="bl" rotWithShape="0">
              <a:srgbClr val="000000">
                <a:alpha val="20000"/>
              </a:srgbClr>
            </a:outerShdw>
          </a:effectLst>
        </p:spPr>
        <p:txBody>
          <a:bodyPr/>
          <a:lstStyle/>
          <a:p>
            <a:endParaRPr lang="en-US"/>
          </a:p>
        </p:txBody>
      </p:sp>
      <p:sp>
        <p:nvSpPr>
          <p:cNvPr id="18" name="Shape 16"/>
          <p:cNvSpPr/>
          <p:nvPr/>
        </p:nvSpPr>
        <p:spPr>
          <a:xfrm>
            <a:off x="4709160" y="1572768"/>
            <a:ext cx="594360" cy="237744"/>
          </a:xfrm>
          <a:prstGeom prst="roundRect">
            <a:avLst>
              <a:gd name="adj" fmla="val 19231"/>
            </a:avLst>
          </a:prstGeom>
          <a:solidFill>
            <a:srgbClr val="22D3EE"/>
          </a:solidFill>
          <a:ln/>
        </p:spPr>
        <p:txBody>
          <a:bodyPr/>
          <a:lstStyle/>
          <a:p>
            <a:endParaRPr lang="en-US"/>
          </a:p>
        </p:txBody>
      </p:sp>
      <p:sp>
        <p:nvSpPr>
          <p:cNvPr id="19" name="Text 17"/>
          <p:cNvSpPr/>
          <p:nvPr/>
        </p:nvSpPr>
        <p:spPr>
          <a:xfrm>
            <a:off x="4709160" y="1572768"/>
            <a:ext cx="594360" cy="237744"/>
          </a:xfrm>
          <a:prstGeom prst="rect">
            <a:avLst/>
          </a:prstGeom>
          <a:noFill/>
          <a:ln/>
        </p:spPr>
        <p:txBody>
          <a:bodyPr wrap="square" lIns="0" tIns="0" rIns="0" bIns="0" rtlCol="0" anchor="ctr"/>
          <a:lstStyle/>
          <a:p>
            <a:pPr marL="0" indent="0" algn="ctr">
              <a:buNone/>
            </a:pPr>
            <a:r>
              <a:rPr lang="en-US" sz="900" b="1" dirty="0">
                <a:solidFill>
                  <a:srgbClr val="0D1117"/>
                </a:solidFill>
                <a:latin typeface="Calibri" pitchFamily="34" charset="0"/>
                <a:ea typeface="Calibri" pitchFamily="34" charset="-122"/>
                <a:cs typeface="Calibri" pitchFamily="34" charset="-120"/>
              </a:rPr>
              <a:t>1957</a:t>
            </a:r>
            <a:endParaRPr lang="en-US" sz="900" dirty="0"/>
          </a:p>
        </p:txBody>
      </p:sp>
      <p:sp>
        <p:nvSpPr>
          <p:cNvPr id="20" name="Text 18"/>
          <p:cNvSpPr/>
          <p:nvPr/>
        </p:nvSpPr>
        <p:spPr>
          <a:xfrm>
            <a:off x="4727448" y="1901952"/>
            <a:ext cx="1700784" cy="347472"/>
          </a:xfrm>
          <a:prstGeom prst="rect">
            <a:avLst/>
          </a:prstGeom>
          <a:noFill/>
          <a:ln/>
        </p:spPr>
        <p:txBody>
          <a:bodyPr wrap="square" rtlCol="0" anchor="ctr"/>
          <a:lstStyle/>
          <a:p>
            <a:pPr marL="0" indent="0">
              <a:buNone/>
            </a:pPr>
            <a:r>
              <a:rPr lang="en-US" sz="1200" b="1" dirty="0">
                <a:solidFill>
                  <a:srgbClr val="F0F6FC"/>
                </a:solidFill>
                <a:latin typeface="Calibri" pitchFamily="34" charset="0"/>
                <a:ea typeface="Calibri" pitchFamily="34" charset="-122"/>
                <a:cs typeface="Calibri" pitchFamily="34" charset="-120"/>
              </a:rPr>
              <a:t>The Perceptron</a:t>
            </a:r>
            <a:endParaRPr lang="en-US" sz="1200" dirty="0"/>
          </a:p>
        </p:txBody>
      </p:sp>
      <p:sp>
        <p:nvSpPr>
          <p:cNvPr id="21" name="Text 19"/>
          <p:cNvSpPr/>
          <p:nvPr/>
        </p:nvSpPr>
        <p:spPr>
          <a:xfrm>
            <a:off x="4727448" y="2286000"/>
            <a:ext cx="1700784" cy="1691640"/>
          </a:xfrm>
          <a:prstGeom prst="rect">
            <a:avLst/>
          </a:prstGeom>
          <a:noFill/>
          <a:ln/>
        </p:spPr>
        <p:txBody>
          <a:bodyPr wrap="square" rtlCol="0" anchor="t"/>
          <a:lstStyle/>
          <a:p>
            <a:pPr marL="0" indent="0">
              <a:buNone/>
            </a:pPr>
            <a:r>
              <a:rPr lang="en-US" sz="950" dirty="0">
                <a:solidFill>
                  <a:srgbClr val="6B7280"/>
                </a:solidFill>
                <a:latin typeface="Calibri" pitchFamily="34" charset="0"/>
                <a:ea typeface="Calibri" pitchFamily="34" charset="-122"/>
                <a:cs typeface="Calibri" pitchFamily="34" charset="-120"/>
              </a:rPr>
              <a:t>First neural network that learns from examples. Sparks enormous optimism about machine learning.</a:t>
            </a:r>
            <a:endParaRPr lang="en-US" sz="950" dirty="0"/>
          </a:p>
        </p:txBody>
      </p:sp>
      <p:sp>
        <p:nvSpPr>
          <p:cNvPr id="22" name="Shape 20"/>
          <p:cNvSpPr/>
          <p:nvPr/>
        </p:nvSpPr>
        <p:spPr>
          <a:xfrm>
            <a:off x="7498080" y="1261872"/>
            <a:ext cx="164592" cy="164592"/>
          </a:xfrm>
          <a:prstGeom prst="ellipse">
            <a:avLst/>
          </a:prstGeom>
          <a:solidFill>
            <a:srgbClr val="22D3EE"/>
          </a:solidFill>
          <a:ln/>
        </p:spPr>
        <p:txBody>
          <a:bodyPr/>
          <a:lstStyle/>
          <a:p>
            <a:endParaRPr lang="en-US"/>
          </a:p>
        </p:txBody>
      </p:sp>
      <p:sp>
        <p:nvSpPr>
          <p:cNvPr id="23" name="Shape 21"/>
          <p:cNvSpPr/>
          <p:nvPr/>
        </p:nvSpPr>
        <p:spPr>
          <a:xfrm>
            <a:off x="6720840" y="1481328"/>
            <a:ext cx="1920240" cy="2606040"/>
          </a:xfrm>
          <a:prstGeom prst="roundRect">
            <a:avLst>
              <a:gd name="adj" fmla="val 3810"/>
            </a:avLst>
          </a:prstGeom>
          <a:solidFill>
            <a:srgbClr val="161B22"/>
          </a:solidFill>
          <a:ln w="12700">
            <a:solidFill>
              <a:srgbClr val="22D3EE"/>
            </a:solidFill>
            <a:prstDash val="solid"/>
          </a:ln>
          <a:effectLst>
            <a:outerShdw blurRad="76200" dist="25400" dir="2700000" algn="bl" rotWithShape="0">
              <a:srgbClr val="000000">
                <a:alpha val="20000"/>
              </a:srgbClr>
            </a:outerShdw>
          </a:effectLst>
        </p:spPr>
        <p:txBody>
          <a:bodyPr/>
          <a:lstStyle/>
          <a:p>
            <a:endParaRPr lang="en-US"/>
          </a:p>
        </p:txBody>
      </p:sp>
      <p:sp>
        <p:nvSpPr>
          <p:cNvPr id="24" name="Shape 22"/>
          <p:cNvSpPr/>
          <p:nvPr/>
        </p:nvSpPr>
        <p:spPr>
          <a:xfrm>
            <a:off x="6812280" y="1572768"/>
            <a:ext cx="594360" cy="237744"/>
          </a:xfrm>
          <a:prstGeom prst="roundRect">
            <a:avLst>
              <a:gd name="adj" fmla="val 19231"/>
            </a:avLst>
          </a:prstGeom>
          <a:solidFill>
            <a:srgbClr val="22D3EE"/>
          </a:solidFill>
          <a:ln/>
        </p:spPr>
        <p:txBody>
          <a:bodyPr/>
          <a:lstStyle/>
          <a:p>
            <a:endParaRPr lang="en-US"/>
          </a:p>
        </p:txBody>
      </p:sp>
      <p:sp>
        <p:nvSpPr>
          <p:cNvPr id="25" name="Text 23"/>
          <p:cNvSpPr/>
          <p:nvPr/>
        </p:nvSpPr>
        <p:spPr>
          <a:xfrm>
            <a:off x="6812280" y="1572768"/>
            <a:ext cx="594360" cy="237744"/>
          </a:xfrm>
          <a:prstGeom prst="rect">
            <a:avLst/>
          </a:prstGeom>
          <a:noFill/>
          <a:ln/>
        </p:spPr>
        <p:txBody>
          <a:bodyPr wrap="square" lIns="0" tIns="0" rIns="0" bIns="0" rtlCol="0" anchor="ctr"/>
          <a:lstStyle/>
          <a:p>
            <a:pPr marL="0" indent="0" algn="ctr">
              <a:buNone/>
            </a:pPr>
            <a:r>
              <a:rPr lang="en-US" sz="900" b="1" dirty="0">
                <a:solidFill>
                  <a:srgbClr val="0D1117"/>
                </a:solidFill>
                <a:latin typeface="Calibri" pitchFamily="34" charset="0"/>
                <a:ea typeface="Calibri" pitchFamily="34" charset="-122"/>
                <a:cs typeface="Calibri" pitchFamily="34" charset="-120"/>
              </a:rPr>
              <a:t>1966</a:t>
            </a:r>
            <a:endParaRPr lang="en-US" sz="900" dirty="0"/>
          </a:p>
        </p:txBody>
      </p:sp>
      <p:sp>
        <p:nvSpPr>
          <p:cNvPr id="26" name="Text 24"/>
          <p:cNvSpPr/>
          <p:nvPr/>
        </p:nvSpPr>
        <p:spPr>
          <a:xfrm>
            <a:off x="6830568" y="1901952"/>
            <a:ext cx="1700784" cy="347472"/>
          </a:xfrm>
          <a:prstGeom prst="rect">
            <a:avLst/>
          </a:prstGeom>
          <a:noFill/>
          <a:ln/>
        </p:spPr>
        <p:txBody>
          <a:bodyPr wrap="square" rtlCol="0" anchor="ctr"/>
          <a:lstStyle/>
          <a:p>
            <a:pPr marL="0" indent="0">
              <a:buNone/>
            </a:pPr>
            <a:r>
              <a:rPr lang="en-US" sz="1200" b="1" dirty="0">
                <a:solidFill>
                  <a:srgbClr val="F0F6FC"/>
                </a:solidFill>
                <a:latin typeface="Calibri" pitchFamily="34" charset="0"/>
                <a:ea typeface="Calibri" pitchFamily="34" charset="-122"/>
                <a:cs typeface="Calibri" pitchFamily="34" charset="-120"/>
              </a:rPr>
              <a:t>ELIZA Chatbot</a:t>
            </a:r>
            <a:endParaRPr lang="en-US" sz="1200" dirty="0"/>
          </a:p>
        </p:txBody>
      </p:sp>
      <p:sp>
        <p:nvSpPr>
          <p:cNvPr id="27" name="Text 25"/>
          <p:cNvSpPr/>
          <p:nvPr/>
        </p:nvSpPr>
        <p:spPr>
          <a:xfrm>
            <a:off x="6830568" y="2286000"/>
            <a:ext cx="1700784" cy="1691640"/>
          </a:xfrm>
          <a:prstGeom prst="rect">
            <a:avLst/>
          </a:prstGeom>
          <a:noFill/>
          <a:ln/>
        </p:spPr>
        <p:txBody>
          <a:bodyPr wrap="square" rtlCol="0" anchor="t"/>
          <a:lstStyle/>
          <a:p>
            <a:pPr marL="0" indent="0">
              <a:buNone/>
            </a:pPr>
            <a:r>
              <a:rPr lang="en-US" sz="950" dirty="0">
                <a:solidFill>
                  <a:srgbClr val="6B7280"/>
                </a:solidFill>
                <a:latin typeface="Calibri" pitchFamily="34" charset="0"/>
                <a:ea typeface="Calibri" pitchFamily="34" charset="-122"/>
                <a:cs typeface="Calibri" pitchFamily="34" charset="-120"/>
              </a:rPr>
              <a:t>MIT's first chatbot mimics a therapist. People attribute real understanding to it — an early ethical warning.</a:t>
            </a:r>
            <a:endParaRPr lang="en-US" sz="950" dirty="0"/>
          </a:p>
        </p:txBody>
      </p:sp>
      <p:sp>
        <p:nvSpPr>
          <p:cNvPr id="28" name="Shape 26"/>
          <p:cNvSpPr/>
          <p:nvPr/>
        </p:nvSpPr>
        <p:spPr>
          <a:xfrm>
            <a:off x="411480" y="1335024"/>
            <a:ext cx="8321040" cy="0"/>
          </a:xfrm>
          <a:prstGeom prst="line">
            <a:avLst/>
          </a:prstGeom>
          <a:noFill/>
          <a:ln w="12700">
            <a:solidFill>
              <a:srgbClr val="22D3EE"/>
            </a:solidFill>
            <a:prstDash val="solid"/>
          </a:ln>
        </p:spPr>
        <p:txBody>
          <a:bodyPr/>
          <a:lstStyle/>
          <a:p>
            <a:endParaRPr lang="en-US"/>
          </a:p>
        </p:txBody>
      </p:sp>
      <p:sp>
        <p:nvSpPr>
          <p:cNvPr id="29" name="Shape 27"/>
          <p:cNvSpPr/>
          <p:nvPr/>
        </p:nvSpPr>
        <p:spPr>
          <a:xfrm>
            <a:off x="411480" y="4251960"/>
            <a:ext cx="8321040" cy="502920"/>
          </a:xfrm>
          <a:prstGeom prst="roundRect">
            <a:avLst>
              <a:gd name="adj" fmla="val 10909"/>
            </a:avLst>
          </a:prstGeom>
          <a:solidFill>
            <a:srgbClr val="1A2436"/>
          </a:solidFill>
          <a:ln w="12700">
            <a:solidFill>
              <a:srgbClr val="22D3EE"/>
            </a:solidFill>
            <a:prstDash val="solid"/>
          </a:ln>
        </p:spPr>
        <p:txBody>
          <a:bodyPr/>
          <a:lstStyle/>
          <a:p>
            <a:endParaRPr lang="en-US"/>
          </a:p>
        </p:txBody>
      </p:sp>
      <p:sp>
        <p:nvSpPr>
          <p:cNvPr id="30" name="Text 28"/>
          <p:cNvSpPr/>
          <p:nvPr/>
        </p:nvSpPr>
        <p:spPr>
          <a:xfrm>
            <a:off x="548640" y="4279392"/>
            <a:ext cx="8046720" cy="438912"/>
          </a:xfrm>
          <a:prstGeom prst="rect">
            <a:avLst/>
          </a:prstGeom>
          <a:noFill/>
          <a:ln/>
        </p:spPr>
        <p:txBody>
          <a:bodyPr wrap="square" rtlCol="0" anchor="ctr"/>
          <a:lstStyle/>
          <a:p>
            <a:pPr marL="0" indent="0">
              <a:buNone/>
            </a:pPr>
            <a:r>
              <a:rPr lang="en-US" sz="1000" b="1" dirty="0">
                <a:solidFill>
                  <a:srgbClr val="22D3EE"/>
                </a:solidFill>
                <a:latin typeface="Calibri" pitchFamily="34" charset="0"/>
                <a:ea typeface="Calibri" pitchFamily="34" charset="-122"/>
                <a:cs typeface="Calibri" pitchFamily="34" charset="-120"/>
              </a:rPr>
              <a:t>My observation: </a:t>
            </a:r>
            <a:r>
              <a:rPr lang="en-US" sz="1000" dirty="0">
                <a:solidFill>
                  <a:srgbClr val="F0F6FC"/>
                </a:solidFill>
                <a:latin typeface="Calibri" pitchFamily="34" charset="0"/>
                <a:ea typeface="Calibri" pitchFamily="34" charset="-122"/>
                <a:cs typeface="Calibri" pitchFamily="34" charset="-120"/>
              </a:rPr>
              <a:t>AI was born as a philosophy before it had any working hardware. The ideas came decades before the tools.</a:t>
            </a:r>
            <a:endParaRPr lang="en-US" sz="1000" dirty="0"/>
          </a:p>
        </p:txBody>
      </p:sp>
      <p:sp>
        <p:nvSpPr>
          <p:cNvPr id="31" name="Text 29"/>
          <p:cNvSpPr/>
          <p:nvPr/>
        </p:nvSpPr>
        <p:spPr>
          <a:xfrm>
            <a:off x="411480" y="4828032"/>
            <a:ext cx="832104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Sources: Putchuon (2024); IEEE Computer Society (n.d.)</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11480" y="123444"/>
            <a:ext cx="8321040" cy="274320"/>
          </a:xfrm>
          <a:prstGeom prst="rect">
            <a:avLst/>
          </a:prstGeom>
          <a:noFill/>
          <a:ln/>
        </p:spPr>
        <p:txBody>
          <a:bodyPr wrap="square" lIns="0" tIns="0" rIns="0" bIns="0" rtlCol="0" anchor="ctr"/>
          <a:lstStyle/>
          <a:p>
            <a:pPr marL="0" indent="0">
              <a:buNone/>
            </a:pPr>
            <a:r>
              <a:rPr lang="en-US" sz="900" b="1" kern="0" spc="400" dirty="0">
                <a:solidFill>
                  <a:srgbClr val="F59E0B"/>
                </a:solidFill>
                <a:latin typeface="Calibri" pitchFamily="34" charset="0"/>
                <a:ea typeface="Calibri" pitchFamily="34" charset="-122"/>
                <a:cs typeface="Calibri" pitchFamily="34" charset="-120"/>
              </a:rPr>
              <a:t>ERA 2 &amp; 3  •  AI WINTERS</a:t>
            </a:r>
            <a:endParaRPr lang="en-US" sz="900" dirty="0"/>
          </a:p>
        </p:txBody>
      </p:sp>
      <p:sp>
        <p:nvSpPr>
          <p:cNvPr id="3" name="Text 1"/>
          <p:cNvSpPr/>
          <p:nvPr/>
        </p:nvSpPr>
        <p:spPr>
          <a:xfrm>
            <a:off x="411480" y="457200"/>
            <a:ext cx="8321040" cy="749808"/>
          </a:xfrm>
          <a:prstGeom prst="rect">
            <a:avLst/>
          </a:prstGeom>
          <a:noFill/>
          <a:ln/>
        </p:spPr>
        <p:txBody>
          <a:bodyPr wrap="square" lIns="0" tIns="0" rIns="0" bIns="0" rtlCol="0" anchor="ctr"/>
          <a:lstStyle/>
          <a:p>
            <a:pPr marL="0" indent="0">
              <a:buNone/>
            </a:pPr>
            <a:r>
              <a:rPr lang="en-US" sz="3600" b="1" dirty="0">
                <a:solidFill>
                  <a:srgbClr val="F0F6FC"/>
                </a:solidFill>
                <a:latin typeface="Calibri" pitchFamily="34" charset="0"/>
                <a:ea typeface="Calibri" pitchFamily="34" charset="-122"/>
                <a:cs typeface="Calibri" pitchFamily="34" charset="-120"/>
              </a:rPr>
              <a:t>1969–1993: Twice the World Gave Up on AI</a:t>
            </a:r>
            <a:endParaRPr lang="en-US" sz="3600" dirty="0"/>
          </a:p>
        </p:txBody>
      </p:sp>
      <p:sp>
        <p:nvSpPr>
          <p:cNvPr id="4" name="Shape 2"/>
          <p:cNvSpPr/>
          <p:nvPr/>
        </p:nvSpPr>
        <p:spPr>
          <a:xfrm>
            <a:off x="411480" y="1298448"/>
            <a:ext cx="4023360" cy="2834640"/>
          </a:xfrm>
          <a:prstGeom prst="roundRect">
            <a:avLst>
              <a:gd name="adj" fmla="val 3226"/>
            </a:avLst>
          </a:prstGeom>
          <a:solidFill>
            <a:srgbClr val="1A0E00"/>
          </a:solidFill>
          <a:ln w="19050">
            <a:solidFill>
              <a:srgbClr val="F59E0B"/>
            </a:solidFill>
            <a:prstDash val="solid"/>
          </a:ln>
          <a:effectLst>
            <a:outerShdw blurRad="76200" dist="25400" dir="2700000" algn="bl" rotWithShape="0">
              <a:srgbClr val="000000">
                <a:alpha val="20000"/>
              </a:srgbClr>
            </a:outerShdw>
          </a:effectLst>
        </p:spPr>
        <p:txBody>
          <a:bodyPr/>
          <a:lstStyle/>
          <a:p>
            <a:endParaRPr lang="en-US"/>
          </a:p>
        </p:txBody>
      </p:sp>
      <p:sp>
        <p:nvSpPr>
          <p:cNvPr id="5" name="Text 3"/>
          <p:cNvSpPr/>
          <p:nvPr/>
        </p:nvSpPr>
        <p:spPr>
          <a:xfrm>
            <a:off x="548640" y="1417320"/>
            <a:ext cx="3749040" cy="292608"/>
          </a:xfrm>
          <a:prstGeom prst="rect">
            <a:avLst/>
          </a:prstGeom>
          <a:noFill/>
          <a:ln/>
        </p:spPr>
        <p:txBody>
          <a:bodyPr wrap="square"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FIRST WINTER  |  1969–1980</a:t>
            </a:r>
            <a:endParaRPr lang="en-US" sz="1100" dirty="0"/>
          </a:p>
        </p:txBody>
      </p:sp>
      <p:sp>
        <p:nvSpPr>
          <p:cNvPr id="6" name="Text 4"/>
          <p:cNvSpPr/>
          <p:nvPr/>
        </p:nvSpPr>
        <p:spPr>
          <a:xfrm>
            <a:off x="548640" y="1783080"/>
            <a:ext cx="3749040" cy="960120"/>
          </a:xfrm>
          <a:prstGeom prst="rect">
            <a:avLst/>
          </a:prstGeom>
          <a:noFill/>
          <a:ln/>
        </p:spPr>
        <p:txBody>
          <a:bodyPr wrap="square" rtlCol="0" anchor="ctr"/>
          <a:lstStyle/>
          <a:p>
            <a:pPr marL="0" indent="0">
              <a:buNone/>
            </a:pPr>
            <a:r>
              <a:rPr lang="en-US" sz="1000" b="1" dirty="0">
                <a:solidFill>
                  <a:srgbClr val="F0F6FC"/>
                </a:solidFill>
                <a:latin typeface="Calibri" pitchFamily="34" charset="0"/>
                <a:ea typeface="Calibri" pitchFamily="34" charset="-122"/>
                <a:cs typeface="Calibri" pitchFamily="34" charset="-120"/>
              </a:rPr>
              <a:t>CAUSE: </a:t>
            </a:r>
            <a:r>
              <a:rPr lang="en-US" sz="1000" dirty="0">
                <a:solidFill>
                  <a:srgbClr val="6B7280"/>
                </a:solidFill>
                <a:latin typeface="Calibri" pitchFamily="34" charset="0"/>
                <a:ea typeface="Calibri" pitchFamily="34" charset="-122"/>
                <a:cs typeface="Calibri" pitchFamily="34" charset="-120"/>
              </a:rPr>
              <a:t>Minsky &amp; Papert proved the Perceptron could not solve basic problems. UK Lighthill Report declared AI had failed. DARPA pulled funding.</a:t>
            </a:r>
            <a:endParaRPr lang="en-US" sz="1000" dirty="0"/>
          </a:p>
        </p:txBody>
      </p:sp>
      <p:sp>
        <p:nvSpPr>
          <p:cNvPr id="7" name="Text 5"/>
          <p:cNvSpPr/>
          <p:nvPr/>
        </p:nvSpPr>
        <p:spPr>
          <a:xfrm>
            <a:off x="548640" y="2816352"/>
            <a:ext cx="3749040" cy="658368"/>
          </a:xfrm>
          <a:prstGeom prst="rect">
            <a:avLst/>
          </a:prstGeom>
          <a:noFill/>
          <a:ln/>
        </p:spPr>
        <p:txBody>
          <a:bodyPr wrap="square" rtlCol="0" anchor="ctr"/>
          <a:lstStyle/>
          <a:p>
            <a:pPr marL="0" indent="0">
              <a:buNone/>
            </a:pPr>
            <a:r>
              <a:rPr lang="en-US" sz="1000" b="1" dirty="0">
                <a:solidFill>
                  <a:srgbClr val="F0F6FC"/>
                </a:solidFill>
                <a:latin typeface="Calibri" pitchFamily="34" charset="0"/>
                <a:ea typeface="Calibri" pitchFamily="34" charset="-122"/>
                <a:cs typeface="Calibri" pitchFamily="34" charset="-120"/>
              </a:rPr>
              <a:t>EFFECT: </a:t>
            </a:r>
            <a:r>
              <a:rPr lang="en-US" sz="1000" dirty="0">
                <a:solidFill>
                  <a:srgbClr val="6B7280"/>
                </a:solidFill>
                <a:latin typeface="Calibri" pitchFamily="34" charset="0"/>
                <a:ea typeface="Calibri" pitchFamily="34" charset="-122"/>
                <a:cs typeface="Calibri" pitchFamily="34" charset="-120"/>
              </a:rPr>
              <a:t>Research labs closed. A decade of stagnation.</a:t>
            </a:r>
            <a:endParaRPr lang="en-US" sz="1000" dirty="0"/>
          </a:p>
        </p:txBody>
      </p:sp>
      <p:sp>
        <p:nvSpPr>
          <p:cNvPr id="8" name="Shape 6"/>
          <p:cNvSpPr/>
          <p:nvPr/>
        </p:nvSpPr>
        <p:spPr>
          <a:xfrm>
            <a:off x="4617720" y="1298448"/>
            <a:ext cx="4023360" cy="2834640"/>
          </a:xfrm>
          <a:prstGeom prst="roundRect">
            <a:avLst>
              <a:gd name="adj" fmla="val 3226"/>
            </a:avLst>
          </a:prstGeom>
          <a:solidFill>
            <a:srgbClr val="1A0E00"/>
          </a:solidFill>
          <a:ln w="19050">
            <a:solidFill>
              <a:srgbClr val="F59E0B"/>
            </a:solidFill>
            <a:prstDash val="solid"/>
          </a:ln>
          <a:effectLst>
            <a:outerShdw blurRad="76200" dist="25400" dir="2700000" algn="bl" rotWithShape="0">
              <a:srgbClr val="000000">
                <a:alpha val="20000"/>
              </a:srgbClr>
            </a:outerShdw>
          </a:effectLst>
        </p:spPr>
        <p:txBody>
          <a:bodyPr/>
          <a:lstStyle/>
          <a:p>
            <a:endParaRPr lang="en-US"/>
          </a:p>
        </p:txBody>
      </p:sp>
      <p:sp>
        <p:nvSpPr>
          <p:cNvPr id="9" name="Text 7"/>
          <p:cNvSpPr/>
          <p:nvPr/>
        </p:nvSpPr>
        <p:spPr>
          <a:xfrm>
            <a:off x="4754880" y="1417320"/>
            <a:ext cx="3749040" cy="292608"/>
          </a:xfrm>
          <a:prstGeom prst="rect">
            <a:avLst/>
          </a:prstGeom>
          <a:noFill/>
          <a:ln/>
        </p:spPr>
        <p:txBody>
          <a:bodyPr wrap="square"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SECOND WINTER  |  1987–mid 1990s</a:t>
            </a:r>
            <a:endParaRPr lang="en-US" sz="1100" dirty="0"/>
          </a:p>
        </p:txBody>
      </p:sp>
      <p:sp>
        <p:nvSpPr>
          <p:cNvPr id="10" name="Text 8"/>
          <p:cNvSpPr/>
          <p:nvPr/>
        </p:nvSpPr>
        <p:spPr>
          <a:xfrm>
            <a:off x="4754880" y="1783080"/>
            <a:ext cx="3749040" cy="960120"/>
          </a:xfrm>
          <a:prstGeom prst="rect">
            <a:avLst/>
          </a:prstGeom>
          <a:noFill/>
          <a:ln/>
        </p:spPr>
        <p:txBody>
          <a:bodyPr wrap="square" rtlCol="0" anchor="ctr"/>
          <a:lstStyle/>
          <a:p>
            <a:pPr marL="0" indent="0">
              <a:buNone/>
            </a:pPr>
            <a:r>
              <a:rPr lang="en-US" sz="1000" b="1" dirty="0">
                <a:solidFill>
                  <a:srgbClr val="F0F6FC"/>
                </a:solidFill>
                <a:latin typeface="Calibri" pitchFamily="34" charset="0"/>
                <a:ea typeface="Calibri" pitchFamily="34" charset="-122"/>
                <a:cs typeface="Calibri" pitchFamily="34" charset="-120"/>
              </a:rPr>
              <a:t>CAUSE: </a:t>
            </a:r>
            <a:r>
              <a:rPr lang="en-US" sz="1000" dirty="0">
                <a:solidFill>
                  <a:srgbClr val="6B7280"/>
                </a:solidFill>
                <a:latin typeface="Calibri" pitchFamily="34" charset="0"/>
                <a:ea typeface="Calibri" pitchFamily="34" charset="-122"/>
                <a:cs typeface="Calibri" pitchFamily="34" charset="-120"/>
              </a:rPr>
              <a:t>Expert systems were brittle and expensive. The specialized Lisp hardware market collapsed. Japan's Fifth Generation project failed.</a:t>
            </a:r>
            <a:endParaRPr lang="en-US" sz="1000" dirty="0"/>
          </a:p>
        </p:txBody>
      </p:sp>
      <p:sp>
        <p:nvSpPr>
          <p:cNvPr id="11" name="Text 9"/>
          <p:cNvSpPr/>
          <p:nvPr/>
        </p:nvSpPr>
        <p:spPr>
          <a:xfrm>
            <a:off x="4754880" y="2816352"/>
            <a:ext cx="3749040" cy="658368"/>
          </a:xfrm>
          <a:prstGeom prst="rect">
            <a:avLst/>
          </a:prstGeom>
          <a:noFill/>
          <a:ln/>
        </p:spPr>
        <p:txBody>
          <a:bodyPr wrap="square" rtlCol="0" anchor="ctr"/>
          <a:lstStyle/>
          <a:p>
            <a:pPr marL="0" indent="0">
              <a:buNone/>
            </a:pPr>
            <a:r>
              <a:rPr lang="en-US" sz="1000" b="1" dirty="0">
                <a:solidFill>
                  <a:srgbClr val="F0F6FC"/>
                </a:solidFill>
                <a:latin typeface="Calibri" pitchFamily="34" charset="0"/>
                <a:ea typeface="Calibri" pitchFamily="34" charset="-122"/>
                <a:cs typeface="Calibri" pitchFamily="34" charset="-120"/>
              </a:rPr>
              <a:t>EFFECT: </a:t>
            </a:r>
            <a:r>
              <a:rPr lang="en-US" sz="1000" dirty="0">
                <a:solidFill>
                  <a:srgbClr val="6B7280"/>
                </a:solidFill>
                <a:latin typeface="Calibri" pitchFamily="34" charset="0"/>
                <a:ea typeface="Calibri" pitchFamily="34" charset="-122"/>
                <a:cs typeface="Calibri" pitchFamily="34" charset="-120"/>
              </a:rPr>
              <a:t>AI companies went bankrupt. Researchers rebranded to avoid the toxic 'AI' label.</a:t>
            </a:r>
            <a:endParaRPr lang="en-US" sz="1000" dirty="0"/>
          </a:p>
        </p:txBody>
      </p:sp>
      <p:sp>
        <p:nvSpPr>
          <p:cNvPr id="12" name="Shape 10"/>
          <p:cNvSpPr/>
          <p:nvPr/>
        </p:nvSpPr>
        <p:spPr>
          <a:xfrm>
            <a:off x="411480" y="4251960"/>
            <a:ext cx="8321040" cy="502920"/>
          </a:xfrm>
          <a:prstGeom prst="roundRect">
            <a:avLst>
              <a:gd name="adj" fmla="val 10909"/>
            </a:avLst>
          </a:prstGeom>
          <a:solidFill>
            <a:srgbClr val="1A2436"/>
          </a:solidFill>
          <a:ln w="12700">
            <a:solidFill>
              <a:srgbClr val="22D3EE"/>
            </a:solidFill>
            <a:prstDash val="solid"/>
          </a:ln>
        </p:spPr>
        <p:txBody>
          <a:bodyPr/>
          <a:lstStyle/>
          <a:p>
            <a:endParaRPr lang="en-US"/>
          </a:p>
        </p:txBody>
      </p:sp>
      <p:sp>
        <p:nvSpPr>
          <p:cNvPr id="13" name="Text 11"/>
          <p:cNvSpPr/>
          <p:nvPr/>
        </p:nvSpPr>
        <p:spPr>
          <a:xfrm>
            <a:off x="548640" y="4279392"/>
            <a:ext cx="8046720" cy="438912"/>
          </a:xfrm>
          <a:prstGeom prst="rect">
            <a:avLst/>
          </a:prstGeom>
          <a:noFill/>
          <a:ln/>
        </p:spPr>
        <p:txBody>
          <a:bodyPr wrap="square" rtlCol="0" anchor="ctr"/>
          <a:lstStyle/>
          <a:p>
            <a:pPr marL="0" indent="0">
              <a:buNone/>
            </a:pPr>
            <a:r>
              <a:rPr lang="en-US" sz="1000" b="1" dirty="0">
                <a:solidFill>
                  <a:srgbClr val="22D3EE"/>
                </a:solidFill>
                <a:latin typeface="Calibri" pitchFamily="34" charset="0"/>
                <a:ea typeface="Calibri" pitchFamily="34" charset="-122"/>
                <a:cs typeface="Calibri" pitchFamily="34" charset="-120"/>
              </a:rPr>
              <a:t>My observation: </a:t>
            </a:r>
            <a:r>
              <a:rPr lang="en-US" sz="1000" dirty="0">
                <a:solidFill>
                  <a:srgbClr val="F0F6FC"/>
                </a:solidFill>
                <a:latin typeface="Calibri" pitchFamily="34" charset="0"/>
                <a:ea typeface="Calibri" pitchFamily="34" charset="-122"/>
                <a:cs typeface="Calibri" pitchFamily="34" charset="-120"/>
              </a:rPr>
              <a:t>Both winters had the same root cause: AI promised more than hardware could deliver. The ideas were right. The compute was not there yet.</a:t>
            </a:r>
            <a:endParaRPr lang="en-US" sz="1000" dirty="0"/>
          </a:p>
        </p:txBody>
      </p:sp>
      <p:sp>
        <p:nvSpPr>
          <p:cNvPr id="14" name="Text 12"/>
          <p:cNvSpPr/>
          <p:nvPr/>
        </p:nvSpPr>
        <p:spPr>
          <a:xfrm>
            <a:off x="411480" y="4828032"/>
            <a:ext cx="832104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Sources: Putchuon (2024); IEEE Computer Society (n.d.)</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11480" y="137160"/>
            <a:ext cx="8321040" cy="274320"/>
          </a:xfrm>
          <a:prstGeom prst="rect">
            <a:avLst/>
          </a:prstGeom>
          <a:noFill/>
          <a:ln/>
        </p:spPr>
        <p:txBody>
          <a:bodyPr wrap="square" lIns="0" tIns="0" rIns="0" bIns="0" rtlCol="0" anchor="ctr"/>
          <a:lstStyle/>
          <a:p>
            <a:pPr marL="0" indent="0">
              <a:buNone/>
            </a:pPr>
            <a:r>
              <a:rPr lang="en-US" sz="900" b="1" kern="0" spc="400" dirty="0">
                <a:solidFill>
                  <a:srgbClr val="4ADE80"/>
                </a:solidFill>
                <a:latin typeface="Calibri" pitchFamily="34" charset="0"/>
                <a:ea typeface="Calibri" pitchFamily="34" charset="-122"/>
                <a:cs typeface="Calibri" pitchFamily="34" charset="-120"/>
              </a:rPr>
              <a:t>ERA 4  •  REVIVAL</a:t>
            </a:r>
            <a:endParaRPr lang="en-US" sz="900" dirty="0"/>
          </a:p>
        </p:txBody>
      </p:sp>
      <p:sp>
        <p:nvSpPr>
          <p:cNvPr id="3" name="Text 1"/>
          <p:cNvSpPr/>
          <p:nvPr/>
        </p:nvSpPr>
        <p:spPr>
          <a:xfrm>
            <a:off x="411480" y="457200"/>
            <a:ext cx="8321040" cy="749808"/>
          </a:xfrm>
          <a:prstGeom prst="rect">
            <a:avLst/>
          </a:prstGeom>
          <a:noFill/>
          <a:ln/>
        </p:spPr>
        <p:txBody>
          <a:bodyPr wrap="square" lIns="0" tIns="0" rIns="0" bIns="0" rtlCol="0" anchor="ctr"/>
          <a:lstStyle/>
          <a:p>
            <a:pPr marL="0" indent="0">
              <a:buNone/>
            </a:pPr>
            <a:r>
              <a:rPr lang="en-US" sz="3600" b="1" dirty="0">
                <a:solidFill>
                  <a:srgbClr val="F0F6FC"/>
                </a:solidFill>
                <a:latin typeface="Calibri" pitchFamily="34" charset="0"/>
                <a:ea typeface="Calibri" pitchFamily="34" charset="-122"/>
                <a:cs typeface="Calibri" pitchFamily="34" charset="-120"/>
              </a:rPr>
              <a:t>1997–2011: Quiet Progress, Huge Foundations</a:t>
            </a:r>
            <a:endParaRPr lang="en-US" sz="3600" dirty="0"/>
          </a:p>
        </p:txBody>
      </p:sp>
      <p:sp>
        <p:nvSpPr>
          <p:cNvPr id="4" name="Shape 2"/>
          <p:cNvSpPr/>
          <p:nvPr/>
        </p:nvSpPr>
        <p:spPr>
          <a:xfrm>
            <a:off x="411480" y="1335024"/>
            <a:ext cx="8321040" cy="0"/>
          </a:xfrm>
          <a:prstGeom prst="line">
            <a:avLst/>
          </a:prstGeom>
          <a:noFill/>
          <a:ln w="12700">
            <a:solidFill>
              <a:srgbClr val="4ADE80"/>
            </a:solidFill>
            <a:prstDash val="solid"/>
          </a:ln>
        </p:spPr>
        <p:txBody>
          <a:bodyPr/>
          <a:lstStyle/>
          <a:p>
            <a:endParaRPr lang="en-US"/>
          </a:p>
        </p:txBody>
      </p:sp>
      <p:sp>
        <p:nvSpPr>
          <p:cNvPr id="5" name="Shape 3"/>
          <p:cNvSpPr/>
          <p:nvPr/>
        </p:nvSpPr>
        <p:spPr>
          <a:xfrm>
            <a:off x="1188720" y="1261872"/>
            <a:ext cx="164592" cy="164592"/>
          </a:xfrm>
          <a:prstGeom prst="ellipse">
            <a:avLst/>
          </a:prstGeom>
          <a:solidFill>
            <a:srgbClr val="4ADE80"/>
          </a:solidFill>
          <a:ln/>
        </p:spPr>
        <p:txBody>
          <a:bodyPr/>
          <a:lstStyle/>
          <a:p>
            <a:endParaRPr lang="en-US"/>
          </a:p>
        </p:txBody>
      </p:sp>
      <p:sp>
        <p:nvSpPr>
          <p:cNvPr id="6" name="Shape 4"/>
          <p:cNvSpPr/>
          <p:nvPr/>
        </p:nvSpPr>
        <p:spPr>
          <a:xfrm>
            <a:off x="411480" y="1481328"/>
            <a:ext cx="1920240" cy="1947670"/>
          </a:xfrm>
          <a:prstGeom prst="roundRect">
            <a:avLst>
              <a:gd name="adj" fmla="val 3810"/>
            </a:avLst>
          </a:prstGeom>
          <a:solidFill>
            <a:srgbClr val="161B22"/>
          </a:solidFill>
          <a:ln w="12700">
            <a:solidFill>
              <a:srgbClr val="4ADE80"/>
            </a:solidFill>
            <a:prstDash val="solid"/>
          </a:ln>
          <a:effectLst>
            <a:outerShdw blurRad="76200" dist="25400" dir="2700000" algn="bl" rotWithShape="0">
              <a:srgbClr val="000000">
                <a:alpha val="20000"/>
              </a:srgbClr>
            </a:outerShdw>
          </a:effectLst>
        </p:spPr>
        <p:txBody>
          <a:bodyPr/>
          <a:lstStyle/>
          <a:p>
            <a:endParaRPr lang="en-US"/>
          </a:p>
        </p:txBody>
      </p:sp>
      <p:sp>
        <p:nvSpPr>
          <p:cNvPr id="7" name="Shape 5"/>
          <p:cNvSpPr/>
          <p:nvPr/>
        </p:nvSpPr>
        <p:spPr>
          <a:xfrm>
            <a:off x="502920" y="1572768"/>
            <a:ext cx="594360" cy="237744"/>
          </a:xfrm>
          <a:prstGeom prst="roundRect">
            <a:avLst>
              <a:gd name="adj" fmla="val 19231"/>
            </a:avLst>
          </a:prstGeom>
          <a:solidFill>
            <a:srgbClr val="4ADE80"/>
          </a:solidFill>
          <a:ln/>
        </p:spPr>
        <p:txBody>
          <a:bodyPr/>
          <a:lstStyle/>
          <a:p>
            <a:endParaRPr lang="en-US"/>
          </a:p>
        </p:txBody>
      </p:sp>
      <p:sp>
        <p:nvSpPr>
          <p:cNvPr id="8" name="Text 6"/>
          <p:cNvSpPr/>
          <p:nvPr/>
        </p:nvSpPr>
        <p:spPr>
          <a:xfrm>
            <a:off x="502920" y="1572768"/>
            <a:ext cx="594360" cy="237744"/>
          </a:xfrm>
          <a:prstGeom prst="rect">
            <a:avLst/>
          </a:prstGeom>
          <a:noFill/>
          <a:ln/>
        </p:spPr>
        <p:txBody>
          <a:bodyPr wrap="square" lIns="0" tIns="0" rIns="0" bIns="0" rtlCol="0" anchor="ctr"/>
          <a:lstStyle/>
          <a:p>
            <a:pPr marL="0" indent="0" algn="ctr">
              <a:buNone/>
            </a:pPr>
            <a:r>
              <a:rPr lang="en-US" sz="900" b="1" dirty="0">
                <a:solidFill>
                  <a:srgbClr val="0D1117"/>
                </a:solidFill>
                <a:latin typeface="Calibri" pitchFamily="34" charset="0"/>
                <a:ea typeface="Calibri" pitchFamily="34" charset="-122"/>
                <a:cs typeface="Calibri" pitchFamily="34" charset="-120"/>
              </a:rPr>
              <a:t>1997</a:t>
            </a:r>
            <a:endParaRPr lang="en-US" sz="900" dirty="0"/>
          </a:p>
        </p:txBody>
      </p:sp>
      <p:sp>
        <p:nvSpPr>
          <p:cNvPr id="9" name="Text 7"/>
          <p:cNvSpPr/>
          <p:nvPr/>
        </p:nvSpPr>
        <p:spPr>
          <a:xfrm>
            <a:off x="521208" y="1901952"/>
            <a:ext cx="1700784" cy="347472"/>
          </a:xfrm>
          <a:prstGeom prst="rect">
            <a:avLst/>
          </a:prstGeom>
          <a:noFill/>
          <a:ln/>
        </p:spPr>
        <p:txBody>
          <a:bodyPr wrap="square" rtlCol="0" anchor="ctr"/>
          <a:lstStyle/>
          <a:p>
            <a:pPr marL="0" indent="0">
              <a:buNone/>
            </a:pPr>
            <a:r>
              <a:rPr lang="en-US" sz="1200" b="1" dirty="0">
                <a:solidFill>
                  <a:srgbClr val="F0F6FC"/>
                </a:solidFill>
                <a:latin typeface="Calibri" pitchFamily="34" charset="0"/>
                <a:ea typeface="Calibri" pitchFamily="34" charset="-122"/>
                <a:cs typeface="Calibri" pitchFamily="34" charset="-120"/>
              </a:rPr>
              <a:t>Deep Blue Wins Chess</a:t>
            </a:r>
            <a:endParaRPr lang="en-US" sz="1200" dirty="0"/>
          </a:p>
        </p:txBody>
      </p:sp>
      <p:sp>
        <p:nvSpPr>
          <p:cNvPr id="10" name="Text 8"/>
          <p:cNvSpPr/>
          <p:nvPr/>
        </p:nvSpPr>
        <p:spPr>
          <a:xfrm>
            <a:off x="521208" y="2286000"/>
            <a:ext cx="1700784" cy="1691640"/>
          </a:xfrm>
          <a:prstGeom prst="rect">
            <a:avLst/>
          </a:prstGeom>
          <a:noFill/>
          <a:ln/>
        </p:spPr>
        <p:txBody>
          <a:bodyPr wrap="square" rtlCol="0" anchor="t"/>
          <a:lstStyle/>
          <a:p>
            <a:pPr marL="0" indent="0">
              <a:buNone/>
            </a:pPr>
            <a:r>
              <a:rPr lang="en-US" sz="950" dirty="0">
                <a:solidFill>
                  <a:srgbClr val="6B7280"/>
                </a:solidFill>
                <a:latin typeface="Calibri" pitchFamily="34" charset="0"/>
                <a:ea typeface="Calibri" pitchFamily="34" charset="-122"/>
                <a:cs typeface="Calibri" pitchFamily="34" charset="-120"/>
              </a:rPr>
              <a:t>IBM beats world champion Kasparov. First proof that AI could master complex human games.</a:t>
            </a:r>
            <a:endParaRPr lang="en-US" sz="950" dirty="0"/>
          </a:p>
        </p:txBody>
      </p:sp>
      <p:sp>
        <p:nvSpPr>
          <p:cNvPr id="11" name="Shape 9"/>
          <p:cNvSpPr/>
          <p:nvPr/>
        </p:nvSpPr>
        <p:spPr>
          <a:xfrm>
            <a:off x="3291840" y="1261872"/>
            <a:ext cx="164592" cy="164592"/>
          </a:xfrm>
          <a:prstGeom prst="ellipse">
            <a:avLst/>
          </a:prstGeom>
          <a:solidFill>
            <a:srgbClr val="4ADE80"/>
          </a:solidFill>
          <a:ln/>
        </p:spPr>
        <p:txBody>
          <a:bodyPr/>
          <a:lstStyle/>
          <a:p>
            <a:endParaRPr lang="en-US"/>
          </a:p>
        </p:txBody>
      </p:sp>
      <p:sp>
        <p:nvSpPr>
          <p:cNvPr id="12" name="Shape 10"/>
          <p:cNvSpPr/>
          <p:nvPr/>
        </p:nvSpPr>
        <p:spPr>
          <a:xfrm>
            <a:off x="2514600" y="1481328"/>
            <a:ext cx="1920240" cy="1947669"/>
          </a:xfrm>
          <a:prstGeom prst="roundRect">
            <a:avLst>
              <a:gd name="adj" fmla="val 3810"/>
            </a:avLst>
          </a:prstGeom>
          <a:solidFill>
            <a:srgbClr val="161B22"/>
          </a:solidFill>
          <a:ln w="12700">
            <a:solidFill>
              <a:srgbClr val="4ADE80"/>
            </a:solidFill>
            <a:prstDash val="solid"/>
          </a:ln>
          <a:effectLst>
            <a:outerShdw blurRad="76200" dist="25400" dir="2700000" algn="bl" rotWithShape="0">
              <a:srgbClr val="000000">
                <a:alpha val="20000"/>
              </a:srgbClr>
            </a:outerShdw>
          </a:effectLst>
        </p:spPr>
        <p:txBody>
          <a:bodyPr/>
          <a:lstStyle/>
          <a:p>
            <a:endParaRPr lang="en-US"/>
          </a:p>
        </p:txBody>
      </p:sp>
      <p:sp>
        <p:nvSpPr>
          <p:cNvPr id="13" name="Shape 11"/>
          <p:cNvSpPr/>
          <p:nvPr/>
        </p:nvSpPr>
        <p:spPr>
          <a:xfrm>
            <a:off x="2606040" y="1572768"/>
            <a:ext cx="594360" cy="237744"/>
          </a:xfrm>
          <a:prstGeom prst="roundRect">
            <a:avLst>
              <a:gd name="adj" fmla="val 19231"/>
            </a:avLst>
          </a:prstGeom>
          <a:solidFill>
            <a:srgbClr val="4ADE80"/>
          </a:solidFill>
          <a:ln/>
        </p:spPr>
        <p:txBody>
          <a:bodyPr/>
          <a:lstStyle/>
          <a:p>
            <a:endParaRPr lang="en-US"/>
          </a:p>
        </p:txBody>
      </p:sp>
      <p:sp>
        <p:nvSpPr>
          <p:cNvPr id="14" name="Text 12"/>
          <p:cNvSpPr/>
          <p:nvPr/>
        </p:nvSpPr>
        <p:spPr>
          <a:xfrm>
            <a:off x="2606040" y="1572768"/>
            <a:ext cx="594360" cy="237744"/>
          </a:xfrm>
          <a:prstGeom prst="rect">
            <a:avLst/>
          </a:prstGeom>
          <a:noFill/>
          <a:ln/>
        </p:spPr>
        <p:txBody>
          <a:bodyPr wrap="square" lIns="0" tIns="0" rIns="0" bIns="0" rtlCol="0" anchor="ctr"/>
          <a:lstStyle/>
          <a:p>
            <a:pPr marL="0" indent="0" algn="ctr">
              <a:buNone/>
            </a:pPr>
            <a:r>
              <a:rPr lang="en-US" sz="900" b="1" dirty="0">
                <a:solidFill>
                  <a:srgbClr val="0D1117"/>
                </a:solidFill>
                <a:latin typeface="Calibri" pitchFamily="34" charset="0"/>
                <a:ea typeface="Calibri" pitchFamily="34" charset="-122"/>
                <a:cs typeface="Calibri" pitchFamily="34" charset="-120"/>
              </a:rPr>
              <a:t>2001</a:t>
            </a:r>
            <a:endParaRPr lang="en-US" sz="900" dirty="0"/>
          </a:p>
        </p:txBody>
      </p:sp>
      <p:sp>
        <p:nvSpPr>
          <p:cNvPr id="15" name="Text 13"/>
          <p:cNvSpPr/>
          <p:nvPr/>
        </p:nvSpPr>
        <p:spPr>
          <a:xfrm>
            <a:off x="2624328" y="1901952"/>
            <a:ext cx="1700784" cy="347472"/>
          </a:xfrm>
          <a:prstGeom prst="rect">
            <a:avLst/>
          </a:prstGeom>
          <a:noFill/>
          <a:ln/>
        </p:spPr>
        <p:txBody>
          <a:bodyPr wrap="square" rtlCol="0" anchor="ctr"/>
          <a:lstStyle/>
          <a:p>
            <a:pPr marL="0" indent="0">
              <a:buNone/>
            </a:pPr>
            <a:r>
              <a:rPr lang="en-US" sz="1200" b="1" dirty="0">
                <a:solidFill>
                  <a:srgbClr val="F0F6FC"/>
                </a:solidFill>
                <a:latin typeface="Calibri" pitchFamily="34" charset="0"/>
                <a:ea typeface="Calibri" pitchFamily="34" charset="-122"/>
                <a:cs typeface="Calibri" pitchFamily="34" charset="-120"/>
              </a:rPr>
              <a:t>Statistical ML Takes Over</a:t>
            </a:r>
            <a:endParaRPr lang="en-US" sz="1200" dirty="0"/>
          </a:p>
        </p:txBody>
      </p:sp>
      <p:sp>
        <p:nvSpPr>
          <p:cNvPr id="16" name="Text 14"/>
          <p:cNvSpPr/>
          <p:nvPr/>
        </p:nvSpPr>
        <p:spPr>
          <a:xfrm>
            <a:off x="2624328" y="2286000"/>
            <a:ext cx="1700784" cy="1691640"/>
          </a:xfrm>
          <a:prstGeom prst="rect">
            <a:avLst/>
          </a:prstGeom>
          <a:noFill/>
          <a:ln/>
        </p:spPr>
        <p:txBody>
          <a:bodyPr wrap="square" rtlCol="0" anchor="t"/>
          <a:lstStyle/>
          <a:p>
            <a:pPr marL="0" indent="0">
              <a:buNone/>
            </a:pPr>
            <a:r>
              <a:rPr lang="en-US" sz="950" dirty="0">
                <a:solidFill>
                  <a:srgbClr val="6B7280"/>
                </a:solidFill>
                <a:latin typeface="Calibri" pitchFamily="34" charset="0"/>
                <a:ea typeface="Calibri" pitchFamily="34" charset="-122"/>
                <a:cs typeface="Calibri" pitchFamily="34" charset="-120"/>
              </a:rPr>
              <a:t>Researchers abandon hand-coded rules. Models trained on data outperform symbolic AI consistently.</a:t>
            </a:r>
            <a:endParaRPr lang="en-US" sz="950" dirty="0"/>
          </a:p>
        </p:txBody>
      </p:sp>
      <p:sp>
        <p:nvSpPr>
          <p:cNvPr id="17" name="Shape 15"/>
          <p:cNvSpPr/>
          <p:nvPr/>
        </p:nvSpPr>
        <p:spPr>
          <a:xfrm>
            <a:off x="5394960" y="1261872"/>
            <a:ext cx="164592" cy="164592"/>
          </a:xfrm>
          <a:prstGeom prst="ellipse">
            <a:avLst/>
          </a:prstGeom>
          <a:solidFill>
            <a:srgbClr val="4ADE80"/>
          </a:solidFill>
          <a:ln/>
        </p:spPr>
        <p:txBody>
          <a:bodyPr/>
          <a:lstStyle/>
          <a:p>
            <a:endParaRPr lang="en-US"/>
          </a:p>
        </p:txBody>
      </p:sp>
      <p:sp>
        <p:nvSpPr>
          <p:cNvPr id="18" name="Shape 16"/>
          <p:cNvSpPr/>
          <p:nvPr/>
        </p:nvSpPr>
        <p:spPr>
          <a:xfrm>
            <a:off x="4617720" y="1481328"/>
            <a:ext cx="1920240" cy="1947670"/>
          </a:xfrm>
          <a:prstGeom prst="roundRect">
            <a:avLst>
              <a:gd name="adj" fmla="val 3810"/>
            </a:avLst>
          </a:prstGeom>
          <a:solidFill>
            <a:srgbClr val="161B22"/>
          </a:solidFill>
          <a:ln w="12700">
            <a:solidFill>
              <a:srgbClr val="4ADE80"/>
            </a:solidFill>
            <a:prstDash val="solid"/>
          </a:ln>
          <a:effectLst>
            <a:outerShdw blurRad="76200" dist="25400" dir="2700000" algn="bl" rotWithShape="0">
              <a:srgbClr val="000000">
                <a:alpha val="20000"/>
              </a:srgbClr>
            </a:outerShdw>
          </a:effectLst>
        </p:spPr>
        <p:txBody>
          <a:bodyPr/>
          <a:lstStyle/>
          <a:p>
            <a:endParaRPr lang="en-US"/>
          </a:p>
        </p:txBody>
      </p:sp>
      <p:sp>
        <p:nvSpPr>
          <p:cNvPr id="19" name="Shape 17"/>
          <p:cNvSpPr/>
          <p:nvPr/>
        </p:nvSpPr>
        <p:spPr>
          <a:xfrm>
            <a:off x="4709160" y="1572768"/>
            <a:ext cx="594360" cy="237744"/>
          </a:xfrm>
          <a:prstGeom prst="roundRect">
            <a:avLst>
              <a:gd name="adj" fmla="val 19231"/>
            </a:avLst>
          </a:prstGeom>
          <a:solidFill>
            <a:srgbClr val="4ADE80"/>
          </a:solidFill>
          <a:ln/>
        </p:spPr>
        <p:txBody>
          <a:bodyPr/>
          <a:lstStyle/>
          <a:p>
            <a:endParaRPr lang="en-US"/>
          </a:p>
        </p:txBody>
      </p:sp>
      <p:sp>
        <p:nvSpPr>
          <p:cNvPr id="20" name="Text 18"/>
          <p:cNvSpPr/>
          <p:nvPr/>
        </p:nvSpPr>
        <p:spPr>
          <a:xfrm>
            <a:off x="4709160" y="1572768"/>
            <a:ext cx="594360" cy="237744"/>
          </a:xfrm>
          <a:prstGeom prst="rect">
            <a:avLst/>
          </a:prstGeom>
          <a:noFill/>
          <a:ln/>
        </p:spPr>
        <p:txBody>
          <a:bodyPr wrap="square" lIns="0" tIns="0" rIns="0" bIns="0" rtlCol="0" anchor="ctr"/>
          <a:lstStyle/>
          <a:p>
            <a:pPr marL="0" indent="0" algn="ctr">
              <a:buNone/>
            </a:pPr>
            <a:r>
              <a:rPr lang="en-US" sz="900" b="1" dirty="0">
                <a:solidFill>
                  <a:srgbClr val="0D1117"/>
                </a:solidFill>
                <a:latin typeface="Calibri" pitchFamily="34" charset="0"/>
                <a:ea typeface="Calibri" pitchFamily="34" charset="-122"/>
                <a:cs typeface="Calibri" pitchFamily="34" charset="-120"/>
              </a:rPr>
              <a:t>2006</a:t>
            </a:r>
            <a:endParaRPr lang="en-US" sz="900" dirty="0"/>
          </a:p>
        </p:txBody>
      </p:sp>
      <p:sp>
        <p:nvSpPr>
          <p:cNvPr id="21" name="Text 19"/>
          <p:cNvSpPr/>
          <p:nvPr/>
        </p:nvSpPr>
        <p:spPr>
          <a:xfrm>
            <a:off x="4727448" y="1901952"/>
            <a:ext cx="1700784" cy="347472"/>
          </a:xfrm>
          <a:prstGeom prst="rect">
            <a:avLst/>
          </a:prstGeom>
          <a:noFill/>
          <a:ln/>
        </p:spPr>
        <p:txBody>
          <a:bodyPr wrap="square" rtlCol="0" anchor="ctr"/>
          <a:lstStyle/>
          <a:p>
            <a:pPr marL="0" indent="0">
              <a:buNone/>
            </a:pPr>
            <a:r>
              <a:rPr lang="en-US" sz="1200" b="1" dirty="0">
                <a:solidFill>
                  <a:srgbClr val="F0F6FC"/>
                </a:solidFill>
                <a:latin typeface="Calibri" pitchFamily="34" charset="0"/>
                <a:ea typeface="Calibri" pitchFamily="34" charset="-122"/>
                <a:cs typeface="Calibri" pitchFamily="34" charset="-120"/>
              </a:rPr>
              <a:t>Deep Learning Theory</a:t>
            </a:r>
            <a:endParaRPr lang="en-US" sz="1200" dirty="0"/>
          </a:p>
        </p:txBody>
      </p:sp>
      <p:sp>
        <p:nvSpPr>
          <p:cNvPr id="22" name="Text 20"/>
          <p:cNvSpPr/>
          <p:nvPr/>
        </p:nvSpPr>
        <p:spPr>
          <a:xfrm>
            <a:off x="4727448" y="2286000"/>
            <a:ext cx="1700784" cy="1691640"/>
          </a:xfrm>
          <a:prstGeom prst="rect">
            <a:avLst/>
          </a:prstGeom>
          <a:noFill/>
          <a:ln/>
        </p:spPr>
        <p:txBody>
          <a:bodyPr wrap="square" rtlCol="0" anchor="t"/>
          <a:lstStyle/>
          <a:p>
            <a:pPr marL="0" indent="0">
              <a:buNone/>
            </a:pPr>
            <a:r>
              <a:rPr lang="en-US" sz="950" dirty="0">
                <a:solidFill>
                  <a:srgbClr val="6B7280"/>
                </a:solidFill>
                <a:latin typeface="Calibri" pitchFamily="34" charset="0"/>
                <a:ea typeface="Calibri" pitchFamily="34" charset="-122"/>
                <a:cs typeface="Calibri" pitchFamily="34" charset="-120"/>
              </a:rPr>
              <a:t>Hinton, Bengio &amp; LeCun build the mathematical foundation for deep neural networks — years before hardware caught up.</a:t>
            </a:r>
            <a:endParaRPr lang="en-US" sz="950" dirty="0"/>
          </a:p>
        </p:txBody>
      </p:sp>
      <p:sp>
        <p:nvSpPr>
          <p:cNvPr id="23" name="Shape 21"/>
          <p:cNvSpPr/>
          <p:nvPr/>
        </p:nvSpPr>
        <p:spPr>
          <a:xfrm>
            <a:off x="7498080" y="1261872"/>
            <a:ext cx="164592" cy="164592"/>
          </a:xfrm>
          <a:prstGeom prst="ellipse">
            <a:avLst/>
          </a:prstGeom>
          <a:solidFill>
            <a:srgbClr val="4ADE80"/>
          </a:solidFill>
          <a:ln/>
        </p:spPr>
        <p:txBody>
          <a:bodyPr/>
          <a:lstStyle/>
          <a:p>
            <a:endParaRPr lang="en-US"/>
          </a:p>
        </p:txBody>
      </p:sp>
      <p:sp>
        <p:nvSpPr>
          <p:cNvPr id="24" name="Shape 22"/>
          <p:cNvSpPr/>
          <p:nvPr/>
        </p:nvSpPr>
        <p:spPr>
          <a:xfrm>
            <a:off x="6720840" y="1481328"/>
            <a:ext cx="1920240" cy="1947670"/>
          </a:xfrm>
          <a:prstGeom prst="roundRect">
            <a:avLst>
              <a:gd name="adj" fmla="val 3810"/>
            </a:avLst>
          </a:prstGeom>
          <a:solidFill>
            <a:srgbClr val="161B22"/>
          </a:solidFill>
          <a:ln w="12700">
            <a:solidFill>
              <a:srgbClr val="4ADE80"/>
            </a:solidFill>
            <a:prstDash val="solid"/>
          </a:ln>
          <a:effectLst>
            <a:outerShdw blurRad="76200" dist="25400" dir="2700000" algn="bl" rotWithShape="0">
              <a:srgbClr val="000000">
                <a:alpha val="20000"/>
              </a:srgbClr>
            </a:outerShdw>
          </a:effectLst>
        </p:spPr>
        <p:txBody>
          <a:bodyPr/>
          <a:lstStyle/>
          <a:p>
            <a:endParaRPr lang="en-US"/>
          </a:p>
        </p:txBody>
      </p:sp>
      <p:sp>
        <p:nvSpPr>
          <p:cNvPr id="25" name="Shape 23"/>
          <p:cNvSpPr/>
          <p:nvPr/>
        </p:nvSpPr>
        <p:spPr>
          <a:xfrm>
            <a:off x="6812280" y="1572768"/>
            <a:ext cx="594360" cy="237744"/>
          </a:xfrm>
          <a:prstGeom prst="roundRect">
            <a:avLst>
              <a:gd name="adj" fmla="val 19231"/>
            </a:avLst>
          </a:prstGeom>
          <a:solidFill>
            <a:srgbClr val="4ADE80"/>
          </a:solidFill>
          <a:ln/>
        </p:spPr>
        <p:txBody>
          <a:bodyPr/>
          <a:lstStyle/>
          <a:p>
            <a:endParaRPr lang="en-US"/>
          </a:p>
        </p:txBody>
      </p:sp>
      <p:sp>
        <p:nvSpPr>
          <p:cNvPr id="26" name="Text 24"/>
          <p:cNvSpPr/>
          <p:nvPr/>
        </p:nvSpPr>
        <p:spPr>
          <a:xfrm>
            <a:off x="6812280" y="1572768"/>
            <a:ext cx="594360" cy="237744"/>
          </a:xfrm>
          <a:prstGeom prst="rect">
            <a:avLst/>
          </a:prstGeom>
          <a:noFill/>
          <a:ln/>
        </p:spPr>
        <p:txBody>
          <a:bodyPr wrap="square" lIns="0" tIns="0" rIns="0" bIns="0" rtlCol="0" anchor="ctr"/>
          <a:lstStyle/>
          <a:p>
            <a:pPr marL="0" indent="0" algn="ctr">
              <a:buNone/>
            </a:pPr>
            <a:r>
              <a:rPr lang="en-US" sz="900" b="1" dirty="0">
                <a:solidFill>
                  <a:srgbClr val="0D1117"/>
                </a:solidFill>
                <a:latin typeface="Calibri" pitchFamily="34" charset="0"/>
                <a:ea typeface="Calibri" pitchFamily="34" charset="-122"/>
                <a:cs typeface="Calibri" pitchFamily="34" charset="-120"/>
              </a:rPr>
              <a:t>2011</a:t>
            </a:r>
            <a:endParaRPr lang="en-US" sz="900" dirty="0"/>
          </a:p>
        </p:txBody>
      </p:sp>
      <p:sp>
        <p:nvSpPr>
          <p:cNvPr id="27" name="Text 25"/>
          <p:cNvSpPr/>
          <p:nvPr/>
        </p:nvSpPr>
        <p:spPr>
          <a:xfrm>
            <a:off x="6830568" y="1901952"/>
            <a:ext cx="1700784" cy="347472"/>
          </a:xfrm>
          <a:prstGeom prst="rect">
            <a:avLst/>
          </a:prstGeom>
          <a:noFill/>
          <a:ln/>
        </p:spPr>
        <p:txBody>
          <a:bodyPr wrap="square" rtlCol="0" anchor="ctr"/>
          <a:lstStyle/>
          <a:p>
            <a:pPr marL="0" indent="0">
              <a:buNone/>
            </a:pPr>
            <a:r>
              <a:rPr lang="en-US" sz="1200" b="1" dirty="0">
                <a:solidFill>
                  <a:srgbClr val="F0F6FC"/>
                </a:solidFill>
                <a:latin typeface="Calibri" pitchFamily="34" charset="0"/>
                <a:ea typeface="Calibri" pitchFamily="34" charset="-122"/>
                <a:cs typeface="Calibri" pitchFamily="34" charset="-120"/>
              </a:rPr>
              <a:t>Watson Wins Jeopardy!</a:t>
            </a:r>
            <a:endParaRPr lang="en-US" sz="1200" dirty="0"/>
          </a:p>
        </p:txBody>
      </p:sp>
      <p:sp>
        <p:nvSpPr>
          <p:cNvPr id="28" name="Text 26"/>
          <p:cNvSpPr/>
          <p:nvPr/>
        </p:nvSpPr>
        <p:spPr>
          <a:xfrm>
            <a:off x="6830568" y="2286000"/>
            <a:ext cx="1700784" cy="1691640"/>
          </a:xfrm>
          <a:prstGeom prst="rect">
            <a:avLst/>
          </a:prstGeom>
          <a:noFill/>
          <a:ln/>
        </p:spPr>
        <p:txBody>
          <a:bodyPr wrap="square" rtlCol="0" anchor="t"/>
          <a:lstStyle/>
          <a:p>
            <a:pPr marL="0" indent="0">
              <a:buNone/>
            </a:pPr>
            <a:r>
              <a:rPr lang="en-US" sz="950" dirty="0">
                <a:solidFill>
                  <a:srgbClr val="6B7280"/>
                </a:solidFill>
                <a:latin typeface="Calibri" pitchFamily="34" charset="0"/>
                <a:ea typeface="Calibri" pitchFamily="34" charset="-122"/>
                <a:cs typeface="Calibri" pitchFamily="34" charset="-120"/>
              </a:rPr>
              <a:t>IBM Watson processes natural language at scale. Silicon Valley takes notice for the first time.</a:t>
            </a:r>
            <a:endParaRPr lang="en-US" sz="950" dirty="0"/>
          </a:p>
        </p:txBody>
      </p:sp>
      <p:sp>
        <p:nvSpPr>
          <p:cNvPr id="29" name="Shape 27"/>
          <p:cNvSpPr/>
          <p:nvPr/>
        </p:nvSpPr>
        <p:spPr>
          <a:xfrm>
            <a:off x="411480" y="4251960"/>
            <a:ext cx="8321040" cy="502920"/>
          </a:xfrm>
          <a:prstGeom prst="roundRect">
            <a:avLst>
              <a:gd name="adj" fmla="val 10909"/>
            </a:avLst>
          </a:prstGeom>
          <a:solidFill>
            <a:srgbClr val="1A2436"/>
          </a:solidFill>
          <a:ln w="12700">
            <a:solidFill>
              <a:srgbClr val="22D3EE"/>
            </a:solidFill>
            <a:prstDash val="solid"/>
          </a:ln>
        </p:spPr>
        <p:txBody>
          <a:bodyPr/>
          <a:lstStyle/>
          <a:p>
            <a:endParaRPr lang="en-US"/>
          </a:p>
        </p:txBody>
      </p:sp>
      <p:sp>
        <p:nvSpPr>
          <p:cNvPr id="30" name="Text 28"/>
          <p:cNvSpPr/>
          <p:nvPr/>
        </p:nvSpPr>
        <p:spPr>
          <a:xfrm>
            <a:off x="548640" y="4279392"/>
            <a:ext cx="8046720" cy="438912"/>
          </a:xfrm>
          <a:prstGeom prst="rect">
            <a:avLst/>
          </a:prstGeom>
          <a:noFill/>
          <a:ln/>
        </p:spPr>
        <p:txBody>
          <a:bodyPr wrap="square" rtlCol="0" anchor="ctr"/>
          <a:lstStyle/>
          <a:p>
            <a:pPr marL="0" indent="0">
              <a:buNone/>
            </a:pPr>
            <a:r>
              <a:rPr lang="en-US" sz="1000" b="1" dirty="0">
                <a:solidFill>
                  <a:srgbClr val="22D3EE"/>
                </a:solidFill>
                <a:latin typeface="Calibri" pitchFamily="34" charset="0"/>
                <a:ea typeface="Calibri" pitchFamily="34" charset="-122"/>
                <a:cs typeface="Calibri" pitchFamily="34" charset="-120"/>
              </a:rPr>
              <a:t>My observation: </a:t>
            </a:r>
            <a:r>
              <a:rPr lang="en-US" sz="1000" dirty="0">
                <a:solidFill>
                  <a:srgbClr val="F0F6FC"/>
                </a:solidFill>
                <a:latin typeface="Calibri" pitchFamily="34" charset="0"/>
                <a:ea typeface="Calibri" pitchFamily="34" charset="-122"/>
                <a:cs typeface="Calibri" pitchFamily="34" charset="-120"/>
              </a:rPr>
              <a:t>Hinton, Bengio and LeCun spent 20 years working through both winters. Nobody funded them. They kept going anyway. That is why deep learning exists.</a:t>
            </a:r>
            <a:endParaRPr lang="en-US" sz="1000" dirty="0"/>
          </a:p>
        </p:txBody>
      </p:sp>
      <p:sp>
        <p:nvSpPr>
          <p:cNvPr id="31" name="Text 29"/>
          <p:cNvSpPr/>
          <p:nvPr/>
        </p:nvSpPr>
        <p:spPr>
          <a:xfrm>
            <a:off x="411480" y="4828032"/>
            <a:ext cx="832104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Sources: Putchuon (2024); Bender &amp; Our World in Data (n.d.)</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11480" y="146304"/>
            <a:ext cx="8321040" cy="274320"/>
          </a:xfrm>
          <a:prstGeom prst="rect">
            <a:avLst/>
          </a:prstGeom>
          <a:noFill/>
          <a:ln/>
        </p:spPr>
        <p:txBody>
          <a:bodyPr wrap="square" lIns="0" tIns="0" rIns="0" bIns="0" rtlCol="0" anchor="ctr"/>
          <a:lstStyle/>
          <a:p>
            <a:pPr marL="0" indent="0">
              <a:buNone/>
            </a:pPr>
            <a:r>
              <a:rPr lang="en-US" sz="900" b="1" kern="0" spc="400" dirty="0">
                <a:solidFill>
                  <a:srgbClr val="4ADE80"/>
                </a:solidFill>
                <a:latin typeface="Calibri" pitchFamily="34" charset="0"/>
                <a:ea typeface="Calibri" pitchFamily="34" charset="-122"/>
                <a:cs typeface="Calibri" pitchFamily="34" charset="-120"/>
              </a:rPr>
              <a:t>THE TURNING POINT  •  2012</a:t>
            </a:r>
            <a:endParaRPr lang="en-US" sz="900" dirty="0"/>
          </a:p>
        </p:txBody>
      </p:sp>
      <p:sp>
        <p:nvSpPr>
          <p:cNvPr id="3" name="Text 1"/>
          <p:cNvSpPr/>
          <p:nvPr/>
        </p:nvSpPr>
        <p:spPr>
          <a:xfrm>
            <a:off x="411480" y="457200"/>
            <a:ext cx="8321040" cy="749808"/>
          </a:xfrm>
          <a:prstGeom prst="rect">
            <a:avLst/>
          </a:prstGeom>
          <a:noFill/>
          <a:ln/>
        </p:spPr>
        <p:txBody>
          <a:bodyPr wrap="square" lIns="0" tIns="0" rIns="0" bIns="0" rtlCol="0" anchor="ctr"/>
          <a:lstStyle/>
          <a:p>
            <a:pPr marL="0" indent="0">
              <a:buNone/>
            </a:pPr>
            <a:r>
              <a:rPr lang="en-US" sz="3600" b="1" dirty="0">
                <a:solidFill>
                  <a:srgbClr val="F0F6FC"/>
                </a:solidFill>
                <a:latin typeface="Calibri" pitchFamily="34" charset="0"/>
                <a:ea typeface="Calibri" pitchFamily="34" charset="-122"/>
                <a:cs typeface="Calibri" pitchFamily="34" charset="-120"/>
              </a:rPr>
              <a:t>The AlexNet Moment</a:t>
            </a:r>
            <a:endParaRPr lang="en-US" sz="3600" dirty="0"/>
          </a:p>
        </p:txBody>
      </p:sp>
      <p:sp>
        <p:nvSpPr>
          <p:cNvPr id="4" name="Shape 2"/>
          <p:cNvSpPr/>
          <p:nvPr/>
        </p:nvSpPr>
        <p:spPr>
          <a:xfrm>
            <a:off x="411480" y="1353312"/>
            <a:ext cx="8321040" cy="1005840"/>
          </a:xfrm>
          <a:prstGeom prst="roundRect">
            <a:avLst>
              <a:gd name="adj" fmla="val 9231"/>
            </a:avLst>
          </a:prstGeom>
          <a:solidFill>
            <a:srgbClr val="001A0D"/>
          </a:solidFill>
          <a:ln w="25400">
            <a:solidFill>
              <a:srgbClr val="4ADE80"/>
            </a:solidFill>
            <a:prstDash val="solid"/>
          </a:ln>
        </p:spPr>
        <p:txBody>
          <a:bodyPr/>
          <a:lstStyle/>
          <a:p>
            <a:endParaRPr lang="en-US"/>
          </a:p>
        </p:txBody>
      </p:sp>
      <p:sp>
        <p:nvSpPr>
          <p:cNvPr id="5" name="Text 3"/>
          <p:cNvSpPr/>
          <p:nvPr/>
        </p:nvSpPr>
        <p:spPr>
          <a:xfrm>
            <a:off x="548640" y="1417320"/>
            <a:ext cx="8046720" cy="1005840"/>
          </a:xfrm>
          <a:prstGeom prst="rect">
            <a:avLst/>
          </a:prstGeom>
          <a:noFill/>
          <a:ln/>
        </p:spPr>
        <p:txBody>
          <a:bodyPr wrap="square" rtlCol="0" anchor="ctr"/>
          <a:lstStyle/>
          <a:p>
            <a:pPr marL="0" indent="0" algn="ctr">
              <a:buNone/>
            </a:pPr>
            <a:r>
              <a:rPr lang="en-US" sz="2000" b="1" dirty="0">
                <a:solidFill>
                  <a:srgbClr val="F0F6FC"/>
                </a:solidFill>
                <a:latin typeface="Calibri" pitchFamily="34" charset="0"/>
                <a:ea typeface="Calibri" pitchFamily="34" charset="-122"/>
                <a:cs typeface="Calibri" pitchFamily="34" charset="-120"/>
              </a:rPr>
              <a:t>Deep learning + Big Data + Nvidia GPU  =  The formula that changed everything</a:t>
            </a:r>
            <a:endParaRPr lang="en-US" sz="2000" dirty="0"/>
          </a:p>
        </p:txBody>
      </p:sp>
      <p:sp>
        <p:nvSpPr>
          <p:cNvPr id="6" name="Shape 4"/>
          <p:cNvSpPr/>
          <p:nvPr/>
        </p:nvSpPr>
        <p:spPr>
          <a:xfrm>
            <a:off x="411480" y="2670048"/>
            <a:ext cx="2633472" cy="1481328"/>
          </a:xfrm>
          <a:prstGeom prst="roundRect">
            <a:avLst>
              <a:gd name="adj" fmla="val 4938"/>
            </a:avLst>
          </a:prstGeom>
          <a:solidFill>
            <a:srgbClr val="161B22"/>
          </a:solidFill>
          <a:ln w="12700">
            <a:solidFill>
              <a:srgbClr val="4ADE80"/>
            </a:solidFill>
            <a:prstDash val="solid"/>
          </a:ln>
          <a:effectLst>
            <a:outerShdw blurRad="76200" dist="25400" dir="2700000" algn="bl" rotWithShape="0">
              <a:srgbClr val="000000">
                <a:alpha val="20000"/>
              </a:srgbClr>
            </a:outerShdw>
          </a:effectLst>
        </p:spPr>
        <p:txBody>
          <a:bodyPr/>
          <a:lstStyle/>
          <a:p>
            <a:endParaRPr lang="en-US"/>
          </a:p>
        </p:txBody>
      </p:sp>
      <p:sp>
        <p:nvSpPr>
          <p:cNvPr id="7" name="Text 5"/>
          <p:cNvSpPr/>
          <p:nvPr/>
        </p:nvSpPr>
        <p:spPr>
          <a:xfrm>
            <a:off x="521208" y="2761488"/>
            <a:ext cx="2414016" cy="274320"/>
          </a:xfrm>
          <a:prstGeom prst="rect">
            <a:avLst/>
          </a:prstGeom>
          <a:noFill/>
          <a:ln/>
        </p:spPr>
        <p:txBody>
          <a:bodyPr wrap="square" rtlCol="0" anchor="ctr"/>
          <a:lstStyle/>
          <a:p>
            <a:pPr marL="0" indent="0">
              <a:buNone/>
            </a:pPr>
            <a:r>
              <a:rPr lang="en-US" sz="1000" b="1" dirty="0">
                <a:solidFill>
                  <a:srgbClr val="4ADE80"/>
                </a:solidFill>
                <a:latin typeface="Calibri" pitchFamily="34" charset="0"/>
                <a:ea typeface="Calibri" pitchFamily="34" charset="-122"/>
                <a:cs typeface="Calibri" pitchFamily="34" charset="-120"/>
              </a:rPr>
              <a:t>DEEP LEARNING</a:t>
            </a:r>
            <a:endParaRPr lang="en-US" sz="1000" dirty="0"/>
          </a:p>
        </p:txBody>
      </p:sp>
      <p:sp>
        <p:nvSpPr>
          <p:cNvPr id="8" name="Text 6"/>
          <p:cNvSpPr/>
          <p:nvPr/>
        </p:nvSpPr>
        <p:spPr>
          <a:xfrm>
            <a:off x="521208" y="3072384"/>
            <a:ext cx="2414016" cy="960120"/>
          </a:xfrm>
          <a:prstGeom prst="rect">
            <a:avLst/>
          </a:prstGeom>
          <a:noFill/>
          <a:ln/>
        </p:spPr>
        <p:txBody>
          <a:bodyPr wrap="square" rtlCol="0" anchor="t"/>
          <a:lstStyle/>
          <a:p>
            <a:pPr marL="0" indent="0">
              <a:buNone/>
            </a:pPr>
            <a:r>
              <a:rPr lang="en-US" sz="950" dirty="0">
                <a:solidFill>
                  <a:srgbClr val="6B7280"/>
                </a:solidFill>
                <a:latin typeface="Calibri" pitchFamily="34" charset="0"/>
                <a:ea typeface="Calibri" pitchFamily="34" charset="-122"/>
                <a:cs typeface="Calibri" pitchFamily="34" charset="-120"/>
              </a:rPr>
              <a:t>Neural network theory from Hinton, Bengio &amp; LeCun. Existed since 1980s. Finally at the right scale.</a:t>
            </a:r>
            <a:endParaRPr lang="en-US" sz="950" dirty="0"/>
          </a:p>
        </p:txBody>
      </p:sp>
      <p:sp>
        <p:nvSpPr>
          <p:cNvPr id="9" name="Shape 7"/>
          <p:cNvSpPr/>
          <p:nvPr/>
        </p:nvSpPr>
        <p:spPr>
          <a:xfrm>
            <a:off x="3227832" y="2670048"/>
            <a:ext cx="2633472" cy="1481328"/>
          </a:xfrm>
          <a:prstGeom prst="roundRect">
            <a:avLst>
              <a:gd name="adj" fmla="val 4938"/>
            </a:avLst>
          </a:prstGeom>
          <a:solidFill>
            <a:srgbClr val="161B22"/>
          </a:solidFill>
          <a:ln w="12700">
            <a:solidFill>
              <a:srgbClr val="22D3EE"/>
            </a:solidFill>
            <a:prstDash val="solid"/>
          </a:ln>
          <a:effectLst>
            <a:outerShdw blurRad="76200" dist="25400" dir="2700000" algn="bl" rotWithShape="0">
              <a:srgbClr val="000000">
                <a:alpha val="20000"/>
              </a:srgbClr>
            </a:outerShdw>
          </a:effectLst>
        </p:spPr>
        <p:txBody>
          <a:bodyPr/>
          <a:lstStyle/>
          <a:p>
            <a:endParaRPr lang="en-US"/>
          </a:p>
        </p:txBody>
      </p:sp>
      <p:sp>
        <p:nvSpPr>
          <p:cNvPr id="10" name="Text 8"/>
          <p:cNvSpPr/>
          <p:nvPr/>
        </p:nvSpPr>
        <p:spPr>
          <a:xfrm>
            <a:off x="3337560" y="2761488"/>
            <a:ext cx="2414016" cy="274320"/>
          </a:xfrm>
          <a:prstGeom prst="rect">
            <a:avLst/>
          </a:prstGeom>
          <a:noFill/>
          <a:ln/>
        </p:spPr>
        <p:txBody>
          <a:bodyPr wrap="square" rtlCol="0" anchor="ctr"/>
          <a:lstStyle/>
          <a:p>
            <a:pPr marL="0" indent="0">
              <a:buNone/>
            </a:pPr>
            <a:r>
              <a:rPr lang="en-US" sz="1000" b="1" dirty="0">
                <a:solidFill>
                  <a:srgbClr val="22D3EE"/>
                </a:solidFill>
                <a:latin typeface="Calibri" pitchFamily="34" charset="0"/>
                <a:ea typeface="Calibri" pitchFamily="34" charset="-122"/>
                <a:cs typeface="Calibri" pitchFamily="34" charset="-120"/>
              </a:rPr>
              <a:t>BIG DATA</a:t>
            </a:r>
            <a:endParaRPr lang="en-US" sz="1000" dirty="0"/>
          </a:p>
        </p:txBody>
      </p:sp>
      <p:sp>
        <p:nvSpPr>
          <p:cNvPr id="11" name="Text 9"/>
          <p:cNvSpPr/>
          <p:nvPr/>
        </p:nvSpPr>
        <p:spPr>
          <a:xfrm>
            <a:off x="3337560" y="3072384"/>
            <a:ext cx="2414016" cy="960120"/>
          </a:xfrm>
          <a:prstGeom prst="rect">
            <a:avLst/>
          </a:prstGeom>
          <a:noFill/>
          <a:ln/>
        </p:spPr>
        <p:txBody>
          <a:bodyPr wrap="square" rtlCol="0" anchor="t"/>
          <a:lstStyle/>
          <a:p>
            <a:pPr marL="0" indent="0">
              <a:buNone/>
            </a:pPr>
            <a:r>
              <a:rPr lang="en-US" sz="950" dirty="0">
                <a:solidFill>
                  <a:srgbClr val="6B7280"/>
                </a:solidFill>
                <a:latin typeface="Calibri" pitchFamily="34" charset="0"/>
                <a:ea typeface="Calibri" pitchFamily="34" charset="-122"/>
                <a:cs typeface="Calibri" pitchFamily="34" charset="-120"/>
              </a:rPr>
              <a:t>ImageNet: 1.2 million labeled images. The dataset was as important as the algorithm. Data made it real.</a:t>
            </a:r>
            <a:endParaRPr lang="en-US" sz="950" dirty="0"/>
          </a:p>
        </p:txBody>
      </p:sp>
      <p:sp>
        <p:nvSpPr>
          <p:cNvPr id="12" name="Shape 10"/>
          <p:cNvSpPr/>
          <p:nvPr/>
        </p:nvSpPr>
        <p:spPr>
          <a:xfrm>
            <a:off x="6044184" y="2670048"/>
            <a:ext cx="2633472" cy="1481328"/>
          </a:xfrm>
          <a:prstGeom prst="roundRect">
            <a:avLst>
              <a:gd name="adj" fmla="val 4938"/>
            </a:avLst>
          </a:prstGeom>
          <a:solidFill>
            <a:srgbClr val="161B22"/>
          </a:solidFill>
          <a:ln w="12700">
            <a:solidFill>
              <a:srgbClr val="F59E0B"/>
            </a:solidFill>
            <a:prstDash val="solid"/>
          </a:ln>
          <a:effectLst>
            <a:outerShdw blurRad="76200" dist="25400" dir="2700000" algn="bl" rotWithShape="0">
              <a:srgbClr val="000000">
                <a:alpha val="20000"/>
              </a:srgbClr>
            </a:outerShdw>
          </a:effectLst>
        </p:spPr>
        <p:txBody>
          <a:bodyPr/>
          <a:lstStyle/>
          <a:p>
            <a:endParaRPr lang="en-US"/>
          </a:p>
        </p:txBody>
      </p:sp>
      <p:sp>
        <p:nvSpPr>
          <p:cNvPr id="13" name="Text 11"/>
          <p:cNvSpPr/>
          <p:nvPr/>
        </p:nvSpPr>
        <p:spPr>
          <a:xfrm>
            <a:off x="6153912" y="2761488"/>
            <a:ext cx="2414016" cy="274320"/>
          </a:xfrm>
          <a:prstGeom prst="rect">
            <a:avLst/>
          </a:prstGeom>
          <a:noFill/>
          <a:ln/>
        </p:spPr>
        <p:txBody>
          <a:bodyPr wrap="square"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GPU HARDWARE</a:t>
            </a:r>
            <a:endParaRPr lang="en-US" sz="1000" dirty="0"/>
          </a:p>
        </p:txBody>
      </p:sp>
      <p:sp>
        <p:nvSpPr>
          <p:cNvPr id="14" name="Text 12"/>
          <p:cNvSpPr/>
          <p:nvPr/>
        </p:nvSpPr>
        <p:spPr>
          <a:xfrm>
            <a:off x="6153912" y="3072384"/>
            <a:ext cx="2414016" cy="960120"/>
          </a:xfrm>
          <a:prstGeom prst="rect">
            <a:avLst/>
          </a:prstGeom>
          <a:noFill/>
          <a:ln/>
        </p:spPr>
        <p:txBody>
          <a:bodyPr wrap="square" rtlCol="0" anchor="t"/>
          <a:lstStyle/>
          <a:p>
            <a:pPr marL="0" indent="0">
              <a:buNone/>
            </a:pPr>
            <a:r>
              <a:rPr lang="en-US" sz="950" dirty="0">
                <a:solidFill>
                  <a:srgbClr val="6B7280"/>
                </a:solidFill>
                <a:latin typeface="Calibri" pitchFamily="34" charset="0"/>
                <a:ea typeface="Calibri" pitchFamily="34" charset="-122"/>
                <a:cs typeface="Calibri" pitchFamily="34" charset="-120"/>
              </a:rPr>
              <a:t>Nvidia chips ran the model 40x faster than CPUs. The hardware finally caught up with the math. Silicon Valley pivoted overnight.</a:t>
            </a:r>
            <a:endParaRPr lang="en-US" sz="950" dirty="0"/>
          </a:p>
        </p:txBody>
      </p:sp>
      <p:sp>
        <p:nvSpPr>
          <p:cNvPr id="15" name="Shape 13"/>
          <p:cNvSpPr/>
          <p:nvPr/>
        </p:nvSpPr>
        <p:spPr>
          <a:xfrm>
            <a:off x="411480" y="4251960"/>
            <a:ext cx="8321040" cy="502920"/>
          </a:xfrm>
          <a:prstGeom prst="roundRect">
            <a:avLst>
              <a:gd name="adj" fmla="val 10909"/>
            </a:avLst>
          </a:prstGeom>
          <a:solidFill>
            <a:srgbClr val="1A2436"/>
          </a:solidFill>
          <a:ln w="12700">
            <a:solidFill>
              <a:srgbClr val="22D3EE"/>
            </a:solidFill>
            <a:prstDash val="solid"/>
          </a:ln>
        </p:spPr>
        <p:txBody>
          <a:bodyPr/>
          <a:lstStyle/>
          <a:p>
            <a:endParaRPr lang="en-US"/>
          </a:p>
        </p:txBody>
      </p:sp>
      <p:sp>
        <p:nvSpPr>
          <p:cNvPr id="16" name="Text 14"/>
          <p:cNvSpPr/>
          <p:nvPr/>
        </p:nvSpPr>
        <p:spPr>
          <a:xfrm>
            <a:off x="548640" y="4279392"/>
            <a:ext cx="8046720" cy="438912"/>
          </a:xfrm>
          <a:prstGeom prst="rect">
            <a:avLst/>
          </a:prstGeom>
          <a:noFill/>
          <a:ln/>
        </p:spPr>
        <p:txBody>
          <a:bodyPr wrap="square" rtlCol="0" anchor="ctr"/>
          <a:lstStyle/>
          <a:p>
            <a:pPr marL="0" indent="0">
              <a:buNone/>
            </a:pPr>
            <a:r>
              <a:rPr lang="en-US" sz="1000" b="1" dirty="0">
                <a:solidFill>
                  <a:srgbClr val="22D3EE"/>
                </a:solidFill>
                <a:latin typeface="Calibri" pitchFamily="34" charset="0"/>
                <a:ea typeface="Calibri" pitchFamily="34" charset="-122"/>
                <a:cs typeface="Calibri" pitchFamily="34" charset="-120"/>
              </a:rPr>
              <a:t>My observation: </a:t>
            </a:r>
            <a:r>
              <a:rPr lang="en-US" sz="1000" dirty="0">
                <a:solidFill>
                  <a:srgbClr val="F0F6FC"/>
                </a:solidFill>
                <a:latin typeface="Calibri" pitchFamily="34" charset="0"/>
                <a:ea typeface="Calibri" pitchFamily="34" charset="-122"/>
                <a:cs typeface="Calibri" pitchFamily="34" charset="-120"/>
              </a:rPr>
              <a:t>Putchuon's video makes this clear: AlexNet didn't just win a competition. It proved three things had to align simultaneously. All three did, in 2012.</a:t>
            </a:r>
            <a:endParaRPr lang="en-US" sz="1000" dirty="0"/>
          </a:p>
        </p:txBody>
      </p:sp>
      <p:sp>
        <p:nvSpPr>
          <p:cNvPr id="17" name="Text 15"/>
          <p:cNvSpPr/>
          <p:nvPr/>
        </p:nvSpPr>
        <p:spPr>
          <a:xfrm>
            <a:off x="411480" y="4828032"/>
            <a:ext cx="832104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Sources: Putchuon (2024); Bender &amp; Our World in Data (n.d.)</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11480" y="146304"/>
            <a:ext cx="8321040" cy="274320"/>
          </a:xfrm>
          <a:prstGeom prst="rect">
            <a:avLst/>
          </a:prstGeom>
          <a:noFill/>
          <a:ln/>
        </p:spPr>
        <p:txBody>
          <a:bodyPr wrap="square" lIns="0" tIns="0" rIns="0" bIns="0" rtlCol="0" anchor="ctr"/>
          <a:lstStyle/>
          <a:p>
            <a:pPr marL="0" indent="0">
              <a:buNone/>
            </a:pPr>
            <a:r>
              <a:rPr lang="en-US" sz="900" b="1" kern="0" spc="400" dirty="0">
                <a:solidFill>
                  <a:srgbClr val="A78BFA"/>
                </a:solidFill>
                <a:latin typeface="Calibri" pitchFamily="34" charset="0"/>
                <a:ea typeface="Calibri" pitchFamily="34" charset="-122"/>
                <a:cs typeface="Calibri" pitchFamily="34" charset="-120"/>
              </a:rPr>
              <a:t>ERA 5  •  DEEP LEARNING REVOLUTION  •  2017–PRESENT</a:t>
            </a:r>
            <a:endParaRPr lang="en-US" sz="900" dirty="0"/>
          </a:p>
        </p:txBody>
      </p:sp>
      <p:sp>
        <p:nvSpPr>
          <p:cNvPr id="3" name="Text 1"/>
          <p:cNvSpPr/>
          <p:nvPr/>
        </p:nvSpPr>
        <p:spPr>
          <a:xfrm>
            <a:off x="411480" y="457200"/>
            <a:ext cx="8321040" cy="749808"/>
          </a:xfrm>
          <a:prstGeom prst="rect">
            <a:avLst/>
          </a:prstGeom>
          <a:noFill/>
          <a:ln/>
        </p:spPr>
        <p:txBody>
          <a:bodyPr wrap="square" lIns="0" tIns="0" rIns="0" bIns="0" rtlCol="0" anchor="ctr"/>
          <a:lstStyle/>
          <a:p>
            <a:pPr marL="0" indent="0">
              <a:buNone/>
            </a:pPr>
            <a:r>
              <a:rPr lang="en-US" sz="3600" b="1" dirty="0">
                <a:solidFill>
                  <a:srgbClr val="F0F6FC"/>
                </a:solidFill>
                <a:latin typeface="Calibri" pitchFamily="34" charset="0"/>
                <a:ea typeface="Calibri" pitchFamily="34" charset="-122"/>
                <a:cs typeface="Calibri" pitchFamily="34" charset="-120"/>
              </a:rPr>
              <a:t>One Paper Changed Everything</a:t>
            </a:r>
            <a:endParaRPr lang="en-US" sz="3600" dirty="0"/>
          </a:p>
        </p:txBody>
      </p:sp>
      <p:sp>
        <p:nvSpPr>
          <p:cNvPr id="4" name="Shape 2"/>
          <p:cNvSpPr/>
          <p:nvPr/>
        </p:nvSpPr>
        <p:spPr>
          <a:xfrm>
            <a:off x="411480" y="1298448"/>
            <a:ext cx="8321040" cy="841248"/>
          </a:xfrm>
          <a:prstGeom prst="roundRect">
            <a:avLst>
              <a:gd name="adj" fmla="val 10870"/>
            </a:avLst>
          </a:prstGeom>
          <a:solidFill>
            <a:srgbClr val="120A28"/>
          </a:solidFill>
          <a:ln w="25400">
            <a:solidFill>
              <a:srgbClr val="A78BFA"/>
            </a:solidFill>
            <a:prstDash val="solid"/>
          </a:ln>
        </p:spPr>
        <p:txBody>
          <a:bodyPr/>
          <a:lstStyle/>
          <a:p>
            <a:endParaRPr lang="en-US"/>
          </a:p>
        </p:txBody>
      </p:sp>
      <p:sp>
        <p:nvSpPr>
          <p:cNvPr id="5" name="Text 3"/>
          <p:cNvSpPr/>
          <p:nvPr/>
        </p:nvSpPr>
        <p:spPr>
          <a:xfrm>
            <a:off x="548640" y="1353312"/>
            <a:ext cx="8046720" cy="731520"/>
          </a:xfrm>
          <a:prstGeom prst="rect">
            <a:avLst/>
          </a:prstGeom>
          <a:noFill/>
          <a:ln/>
        </p:spPr>
        <p:txBody>
          <a:bodyPr wrap="square" rtlCol="0" anchor="ctr"/>
          <a:lstStyle/>
          <a:p>
            <a:pPr marL="0" indent="0">
              <a:buNone/>
            </a:pPr>
            <a:r>
              <a:rPr lang="en-US" sz="1100" b="1" dirty="0">
                <a:solidFill>
                  <a:srgbClr val="A78BFA"/>
                </a:solidFill>
                <a:latin typeface="Calibri" pitchFamily="34" charset="0"/>
                <a:ea typeface="Calibri" pitchFamily="34" charset="-122"/>
                <a:cs typeface="Calibri" pitchFamily="34" charset="-120"/>
              </a:rPr>
              <a:t>2017 — </a:t>
            </a:r>
            <a:r>
              <a:rPr lang="en-US" sz="1100" b="1" dirty="0">
                <a:solidFill>
                  <a:srgbClr val="F0F6FC"/>
                </a:solidFill>
                <a:latin typeface="Calibri" pitchFamily="34" charset="0"/>
                <a:ea typeface="Calibri" pitchFamily="34" charset="-122"/>
                <a:cs typeface="Calibri" pitchFamily="34" charset="-120"/>
              </a:rPr>
              <a:t>"Attention Is All You Need" (Google Brain) — </a:t>
            </a:r>
            <a:r>
              <a:rPr lang="en-US" sz="1100" dirty="0">
                <a:solidFill>
                  <a:srgbClr val="6B7280"/>
                </a:solidFill>
                <a:latin typeface="Calibri" pitchFamily="34" charset="0"/>
                <a:ea typeface="Calibri" pitchFamily="34" charset="-122"/>
                <a:cs typeface="Calibri" pitchFamily="34" charset="-120"/>
              </a:rPr>
              <a:t>The Transformer replaced all previous architectures. Every AI model today — GPT, Claude, Gemini, BERT — runs on this foundation.</a:t>
            </a:r>
            <a:endParaRPr lang="en-US" sz="1100" dirty="0"/>
          </a:p>
        </p:txBody>
      </p:sp>
      <p:sp>
        <p:nvSpPr>
          <p:cNvPr id="6" name="Shape 4"/>
          <p:cNvSpPr/>
          <p:nvPr/>
        </p:nvSpPr>
        <p:spPr>
          <a:xfrm>
            <a:off x="411480" y="2240280"/>
            <a:ext cx="1920240" cy="1874520"/>
          </a:xfrm>
          <a:prstGeom prst="roundRect">
            <a:avLst>
              <a:gd name="adj" fmla="val 3902"/>
            </a:avLst>
          </a:prstGeom>
          <a:solidFill>
            <a:srgbClr val="161B22"/>
          </a:solidFill>
          <a:ln w="12700">
            <a:solidFill>
              <a:srgbClr val="A78BFA"/>
            </a:solidFill>
            <a:prstDash val="solid"/>
          </a:ln>
          <a:effectLst>
            <a:outerShdw blurRad="76200" dist="25400" dir="2700000" algn="bl" rotWithShape="0">
              <a:srgbClr val="000000">
                <a:alpha val="20000"/>
              </a:srgbClr>
            </a:outerShdw>
          </a:effectLst>
        </p:spPr>
        <p:txBody>
          <a:bodyPr/>
          <a:lstStyle/>
          <a:p>
            <a:endParaRPr lang="en-US"/>
          </a:p>
        </p:txBody>
      </p:sp>
      <p:sp>
        <p:nvSpPr>
          <p:cNvPr id="7" name="Shape 5"/>
          <p:cNvSpPr/>
          <p:nvPr/>
        </p:nvSpPr>
        <p:spPr>
          <a:xfrm>
            <a:off x="502920" y="2331720"/>
            <a:ext cx="713232" cy="219456"/>
          </a:xfrm>
          <a:prstGeom prst="roundRect">
            <a:avLst>
              <a:gd name="adj" fmla="val 20833"/>
            </a:avLst>
          </a:prstGeom>
          <a:solidFill>
            <a:srgbClr val="A78BFA"/>
          </a:solidFill>
          <a:ln/>
        </p:spPr>
        <p:txBody>
          <a:bodyPr/>
          <a:lstStyle/>
          <a:p>
            <a:endParaRPr lang="en-US"/>
          </a:p>
        </p:txBody>
      </p:sp>
      <p:sp>
        <p:nvSpPr>
          <p:cNvPr id="8" name="Text 6"/>
          <p:cNvSpPr/>
          <p:nvPr/>
        </p:nvSpPr>
        <p:spPr>
          <a:xfrm>
            <a:off x="502920" y="2331720"/>
            <a:ext cx="713232" cy="219456"/>
          </a:xfrm>
          <a:prstGeom prst="rect">
            <a:avLst/>
          </a:prstGeom>
          <a:noFill/>
          <a:ln/>
        </p:spPr>
        <p:txBody>
          <a:bodyPr wrap="square" lIns="0" tIns="0" rIns="0" bIns="0" rtlCol="0" anchor="ctr"/>
          <a:lstStyle/>
          <a:p>
            <a:pPr marL="0" indent="0" algn="ctr">
              <a:buNone/>
            </a:pPr>
            <a:r>
              <a:rPr lang="en-US" sz="850" b="1" dirty="0">
                <a:solidFill>
                  <a:srgbClr val="0D1117"/>
                </a:solidFill>
                <a:latin typeface="Calibri" pitchFamily="34" charset="0"/>
                <a:ea typeface="Calibri" pitchFamily="34" charset="-122"/>
                <a:cs typeface="Calibri" pitchFamily="34" charset="-120"/>
              </a:rPr>
              <a:t>2018</a:t>
            </a:r>
            <a:endParaRPr lang="en-US" sz="850" dirty="0"/>
          </a:p>
        </p:txBody>
      </p:sp>
      <p:sp>
        <p:nvSpPr>
          <p:cNvPr id="9" name="Text 7"/>
          <p:cNvSpPr/>
          <p:nvPr/>
        </p:nvSpPr>
        <p:spPr>
          <a:xfrm>
            <a:off x="521208" y="2615184"/>
            <a:ext cx="1700784" cy="310896"/>
          </a:xfrm>
          <a:prstGeom prst="rect">
            <a:avLst/>
          </a:prstGeom>
          <a:noFill/>
          <a:ln/>
        </p:spPr>
        <p:txBody>
          <a:bodyPr wrap="square"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BERT — Google</a:t>
            </a:r>
            <a:endParaRPr lang="en-US" sz="1100" dirty="0"/>
          </a:p>
        </p:txBody>
      </p:sp>
      <p:sp>
        <p:nvSpPr>
          <p:cNvPr id="10" name="Text 8"/>
          <p:cNvSpPr/>
          <p:nvPr/>
        </p:nvSpPr>
        <p:spPr>
          <a:xfrm>
            <a:off x="521208" y="2962656"/>
            <a:ext cx="1700784" cy="1042416"/>
          </a:xfrm>
          <a:prstGeom prst="rect">
            <a:avLst/>
          </a:prstGeom>
          <a:noFill/>
          <a:ln/>
        </p:spPr>
        <p:txBody>
          <a:bodyPr wrap="square" rtlCol="0" anchor="t"/>
          <a:lstStyle/>
          <a:p>
            <a:pPr marL="0" indent="0">
              <a:buNone/>
            </a:pPr>
            <a:r>
              <a:rPr lang="en-US" sz="950" dirty="0">
                <a:solidFill>
                  <a:srgbClr val="6B7280"/>
                </a:solidFill>
                <a:latin typeface="Calibri" pitchFamily="34" charset="0"/>
                <a:ea typeface="Calibri" pitchFamily="34" charset="-122"/>
                <a:cs typeface="Calibri" pitchFamily="34" charset="-120"/>
              </a:rPr>
              <a:t>Pre-training on massive text. One model, dozens of tasks. Language AI becomes practical.</a:t>
            </a:r>
            <a:endParaRPr lang="en-US" sz="950" dirty="0"/>
          </a:p>
        </p:txBody>
      </p:sp>
      <p:sp>
        <p:nvSpPr>
          <p:cNvPr id="11" name="Shape 9"/>
          <p:cNvSpPr/>
          <p:nvPr/>
        </p:nvSpPr>
        <p:spPr>
          <a:xfrm>
            <a:off x="2514600" y="2240280"/>
            <a:ext cx="1920240" cy="1874520"/>
          </a:xfrm>
          <a:prstGeom prst="roundRect">
            <a:avLst>
              <a:gd name="adj" fmla="val 3902"/>
            </a:avLst>
          </a:prstGeom>
          <a:solidFill>
            <a:srgbClr val="161B22"/>
          </a:solidFill>
          <a:ln w="12700">
            <a:solidFill>
              <a:srgbClr val="A78BFA"/>
            </a:solidFill>
            <a:prstDash val="solid"/>
          </a:ln>
          <a:effectLst>
            <a:outerShdw blurRad="76200" dist="25400" dir="2700000" algn="bl" rotWithShape="0">
              <a:srgbClr val="000000">
                <a:alpha val="20000"/>
              </a:srgbClr>
            </a:outerShdw>
          </a:effectLst>
        </p:spPr>
        <p:txBody>
          <a:bodyPr/>
          <a:lstStyle/>
          <a:p>
            <a:endParaRPr lang="en-US"/>
          </a:p>
        </p:txBody>
      </p:sp>
      <p:sp>
        <p:nvSpPr>
          <p:cNvPr id="12" name="Shape 10"/>
          <p:cNvSpPr/>
          <p:nvPr/>
        </p:nvSpPr>
        <p:spPr>
          <a:xfrm>
            <a:off x="2606040" y="2331720"/>
            <a:ext cx="713232" cy="219456"/>
          </a:xfrm>
          <a:prstGeom prst="roundRect">
            <a:avLst>
              <a:gd name="adj" fmla="val 20833"/>
            </a:avLst>
          </a:prstGeom>
          <a:solidFill>
            <a:srgbClr val="A78BFA"/>
          </a:solidFill>
          <a:ln/>
        </p:spPr>
        <p:txBody>
          <a:bodyPr/>
          <a:lstStyle/>
          <a:p>
            <a:endParaRPr lang="en-US"/>
          </a:p>
        </p:txBody>
      </p:sp>
      <p:sp>
        <p:nvSpPr>
          <p:cNvPr id="13" name="Text 11"/>
          <p:cNvSpPr/>
          <p:nvPr/>
        </p:nvSpPr>
        <p:spPr>
          <a:xfrm>
            <a:off x="2606040" y="2331720"/>
            <a:ext cx="713232" cy="219456"/>
          </a:xfrm>
          <a:prstGeom prst="rect">
            <a:avLst/>
          </a:prstGeom>
          <a:noFill/>
          <a:ln/>
        </p:spPr>
        <p:txBody>
          <a:bodyPr wrap="square" lIns="0" tIns="0" rIns="0" bIns="0" rtlCol="0" anchor="ctr"/>
          <a:lstStyle/>
          <a:p>
            <a:pPr marL="0" indent="0" algn="ctr">
              <a:buNone/>
            </a:pPr>
            <a:r>
              <a:rPr lang="en-US" sz="850" b="1" dirty="0">
                <a:solidFill>
                  <a:srgbClr val="0D1117"/>
                </a:solidFill>
                <a:latin typeface="Calibri" pitchFamily="34" charset="0"/>
                <a:ea typeface="Calibri" pitchFamily="34" charset="-122"/>
                <a:cs typeface="Calibri" pitchFamily="34" charset="-120"/>
              </a:rPr>
              <a:t>2020</a:t>
            </a:r>
            <a:endParaRPr lang="en-US" sz="850" dirty="0"/>
          </a:p>
        </p:txBody>
      </p:sp>
      <p:sp>
        <p:nvSpPr>
          <p:cNvPr id="14" name="Text 12"/>
          <p:cNvSpPr/>
          <p:nvPr/>
        </p:nvSpPr>
        <p:spPr>
          <a:xfrm>
            <a:off x="2624328" y="2615184"/>
            <a:ext cx="1700784" cy="310896"/>
          </a:xfrm>
          <a:prstGeom prst="rect">
            <a:avLst/>
          </a:prstGeom>
          <a:noFill/>
          <a:ln/>
        </p:spPr>
        <p:txBody>
          <a:bodyPr wrap="square"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GPT-3 — OpenAI</a:t>
            </a:r>
            <a:endParaRPr lang="en-US" sz="1100" dirty="0"/>
          </a:p>
        </p:txBody>
      </p:sp>
      <p:sp>
        <p:nvSpPr>
          <p:cNvPr id="15" name="Text 13"/>
          <p:cNvSpPr/>
          <p:nvPr/>
        </p:nvSpPr>
        <p:spPr>
          <a:xfrm>
            <a:off x="2624328" y="2962656"/>
            <a:ext cx="1700784" cy="1042416"/>
          </a:xfrm>
          <a:prstGeom prst="rect">
            <a:avLst/>
          </a:prstGeom>
          <a:noFill/>
          <a:ln/>
        </p:spPr>
        <p:txBody>
          <a:bodyPr wrap="square" rtlCol="0" anchor="t"/>
          <a:lstStyle/>
          <a:p>
            <a:pPr marL="0" indent="0">
              <a:buNone/>
            </a:pPr>
            <a:r>
              <a:rPr lang="en-US" sz="950" dirty="0">
                <a:solidFill>
                  <a:srgbClr val="6B7280"/>
                </a:solidFill>
                <a:latin typeface="Calibri" pitchFamily="34" charset="0"/>
                <a:ea typeface="Calibri" pitchFamily="34" charset="-122"/>
                <a:cs typeface="Calibri" pitchFamily="34" charset="-120"/>
              </a:rPr>
              <a:t>175B parameters. First emergent capabilities — the model surprised even its creators.</a:t>
            </a:r>
            <a:endParaRPr lang="en-US" sz="950" dirty="0"/>
          </a:p>
        </p:txBody>
      </p:sp>
      <p:sp>
        <p:nvSpPr>
          <p:cNvPr id="16" name="Shape 14"/>
          <p:cNvSpPr/>
          <p:nvPr/>
        </p:nvSpPr>
        <p:spPr>
          <a:xfrm>
            <a:off x="4617720" y="2240280"/>
            <a:ext cx="1920240" cy="1874520"/>
          </a:xfrm>
          <a:prstGeom prst="roundRect">
            <a:avLst>
              <a:gd name="adj" fmla="val 3902"/>
            </a:avLst>
          </a:prstGeom>
          <a:solidFill>
            <a:srgbClr val="161B22"/>
          </a:solidFill>
          <a:ln w="12700">
            <a:solidFill>
              <a:srgbClr val="A78BFA"/>
            </a:solidFill>
            <a:prstDash val="solid"/>
          </a:ln>
          <a:effectLst>
            <a:outerShdw blurRad="76200" dist="25400" dir="2700000" algn="bl" rotWithShape="0">
              <a:srgbClr val="000000">
                <a:alpha val="20000"/>
              </a:srgbClr>
            </a:outerShdw>
          </a:effectLst>
        </p:spPr>
        <p:txBody>
          <a:bodyPr/>
          <a:lstStyle/>
          <a:p>
            <a:endParaRPr lang="en-US"/>
          </a:p>
        </p:txBody>
      </p:sp>
      <p:sp>
        <p:nvSpPr>
          <p:cNvPr id="17" name="Shape 15"/>
          <p:cNvSpPr/>
          <p:nvPr/>
        </p:nvSpPr>
        <p:spPr>
          <a:xfrm>
            <a:off x="4709160" y="2331720"/>
            <a:ext cx="713232" cy="219456"/>
          </a:xfrm>
          <a:prstGeom prst="roundRect">
            <a:avLst>
              <a:gd name="adj" fmla="val 20833"/>
            </a:avLst>
          </a:prstGeom>
          <a:solidFill>
            <a:srgbClr val="A78BFA"/>
          </a:solidFill>
          <a:ln/>
        </p:spPr>
        <p:txBody>
          <a:bodyPr/>
          <a:lstStyle/>
          <a:p>
            <a:endParaRPr lang="en-US"/>
          </a:p>
        </p:txBody>
      </p:sp>
      <p:sp>
        <p:nvSpPr>
          <p:cNvPr id="18" name="Text 16"/>
          <p:cNvSpPr/>
          <p:nvPr/>
        </p:nvSpPr>
        <p:spPr>
          <a:xfrm>
            <a:off x="4709160" y="2331720"/>
            <a:ext cx="713232" cy="219456"/>
          </a:xfrm>
          <a:prstGeom prst="rect">
            <a:avLst/>
          </a:prstGeom>
          <a:noFill/>
          <a:ln/>
        </p:spPr>
        <p:txBody>
          <a:bodyPr wrap="square" lIns="0" tIns="0" rIns="0" bIns="0" rtlCol="0" anchor="ctr"/>
          <a:lstStyle/>
          <a:p>
            <a:pPr marL="0" indent="0" algn="ctr">
              <a:buNone/>
            </a:pPr>
            <a:r>
              <a:rPr lang="en-US" sz="850" b="1" dirty="0">
                <a:solidFill>
                  <a:srgbClr val="0D1117"/>
                </a:solidFill>
                <a:latin typeface="Calibri" pitchFamily="34" charset="0"/>
                <a:ea typeface="Calibri" pitchFamily="34" charset="-122"/>
                <a:cs typeface="Calibri" pitchFamily="34" charset="-120"/>
              </a:rPr>
              <a:t>2022</a:t>
            </a:r>
            <a:endParaRPr lang="en-US" sz="850" dirty="0"/>
          </a:p>
        </p:txBody>
      </p:sp>
      <p:sp>
        <p:nvSpPr>
          <p:cNvPr id="19" name="Text 17"/>
          <p:cNvSpPr/>
          <p:nvPr/>
        </p:nvSpPr>
        <p:spPr>
          <a:xfrm>
            <a:off x="4727448" y="2615184"/>
            <a:ext cx="1700784" cy="310896"/>
          </a:xfrm>
          <a:prstGeom prst="rect">
            <a:avLst/>
          </a:prstGeom>
          <a:noFill/>
          <a:ln/>
        </p:spPr>
        <p:txBody>
          <a:bodyPr wrap="square"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ChatGPT Launch</a:t>
            </a:r>
            <a:endParaRPr lang="en-US" sz="1100" dirty="0"/>
          </a:p>
        </p:txBody>
      </p:sp>
      <p:sp>
        <p:nvSpPr>
          <p:cNvPr id="20" name="Text 18"/>
          <p:cNvSpPr/>
          <p:nvPr/>
        </p:nvSpPr>
        <p:spPr>
          <a:xfrm>
            <a:off x="4727448" y="2962656"/>
            <a:ext cx="1700784" cy="1042416"/>
          </a:xfrm>
          <a:prstGeom prst="rect">
            <a:avLst/>
          </a:prstGeom>
          <a:noFill/>
          <a:ln/>
        </p:spPr>
        <p:txBody>
          <a:bodyPr wrap="square" rtlCol="0" anchor="t"/>
          <a:lstStyle/>
          <a:p>
            <a:pPr marL="0" indent="0">
              <a:buNone/>
            </a:pPr>
            <a:r>
              <a:rPr lang="en-US" sz="950" dirty="0">
                <a:solidFill>
                  <a:srgbClr val="6B7280"/>
                </a:solidFill>
                <a:latin typeface="Calibri" pitchFamily="34" charset="0"/>
                <a:ea typeface="Calibri" pitchFamily="34" charset="-122"/>
                <a:cs typeface="Calibri" pitchFamily="34" charset="-120"/>
              </a:rPr>
              <a:t>100M users in 60 days. Fastest platform adoption ever. The AI arms race begins publicly.</a:t>
            </a:r>
            <a:endParaRPr lang="en-US" sz="950" dirty="0"/>
          </a:p>
        </p:txBody>
      </p:sp>
      <p:sp>
        <p:nvSpPr>
          <p:cNvPr id="21" name="Shape 19"/>
          <p:cNvSpPr/>
          <p:nvPr/>
        </p:nvSpPr>
        <p:spPr>
          <a:xfrm>
            <a:off x="6720840" y="2240280"/>
            <a:ext cx="1920240" cy="1874520"/>
          </a:xfrm>
          <a:prstGeom prst="roundRect">
            <a:avLst>
              <a:gd name="adj" fmla="val 3902"/>
            </a:avLst>
          </a:prstGeom>
          <a:solidFill>
            <a:srgbClr val="161B22"/>
          </a:solidFill>
          <a:ln w="12700">
            <a:solidFill>
              <a:srgbClr val="A78BFA"/>
            </a:solidFill>
            <a:prstDash val="solid"/>
          </a:ln>
          <a:effectLst>
            <a:outerShdw blurRad="76200" dist="25400" dir="2700000" algn="bl" rotWithShape="0">
              <a:srgbClr val="000000">
                <a:alpha val="20000"/>
              </a:srgbClr>
            </a:outerShdw>
          </a:effectLst>
        </p:spPr>
        <p:txBody>
          <a:bodyPr/>
          <a:lstStyle/>
          <a:p>
            <a:endParaRPr lang="en-US"/>
          </a:p>
        </p:txBody>
      </p:sp>
      <p:sp>
        <p:nvSpPr>
          <p:cNvPr id="22" name="Shape 20"/>
          <p:cNvSpPr/>
          <p:nvPr/>
        </p:nvSpPr>
        <p:spPr>
          <a:xfrm>
            <a:off x="6812280" y="2331720"/>
            <a:ext cx="713232" cy="219456"/>
          </a:xfrm>
          <a:prstGeom prst="roundRect">
            <a:avLst>
              <a:gd name="adj" fmla="val 20833"/>
            </a:avLst>
          </a:prstGeom>
          <a:solidFill>
            <a:srgbClr val="A78BFA"/>
          </a:solidFill>
          <a:ln/>
        </p:spPr>
        <p:txBody>
          <a:bodyPr/>
          <a:lstStyle/>
          <a:p>
            <a:endParaRPr lang="en-US"/>
          </a:p>
        </p:txBody>
      </p:sp>
      <p:sp>
        <p:nvSpPr>
          <p:cNvPr id="23" name="Text 21"/>
          <p:cNvSpPr/>
          <p:nvPr/>
        </p:nvSpPr>
        <p:spPr>
          <a:xfrm>
            <a:off x="6812280" y="2331720"/>
            <a:ext cx="713232" cy="219456"/>
          </a:xfrm>
          <a:prstGeom prst="rect">
            <a:avLst/>
          </a:prstGeom>
          <a:noFill/>
          <a:ln/>
        </p:spPr>
        <p:txBody>
          <a:bodyPr wrap="square" lIns="0" tIns="0" rIns="0" bIns="0" rtlCol="0" anchor="ctr"/>
          <a:lstStyle/>
          <a:p>
            <a:pPr marL="0" indent="0" algn="ctr">
              <a:buNone/>
            </a:pPr>
            <a:r>
              <a:rPr lang="en-US" sz="850" b="1" dirty="0">
                <a:solidFill>
                  <a:srgbClr val="0D1117"/>
                </a:solidFill>
                <a:latin typeface="Calibri" pitchFamily="34" charset="0"/>
                <a:ea typeface="Calibri" pitchFamily="34" charset="-122"/>
                <a:cs typeface="Calibri" pitchFamily="34" charset="-120"/>
              </a:rPr>
              <a:t>2023–25</a:t>
            </a:r>
            <a:endParaRPr lang="en-US" sz="850" dirty="0"/>
          </a:p>
        </p:txBody>
      </p:sp>
      <p:sp>
        <p:nvSpPr>
          <p:cNvPr id="24" name="Text 22"/>
          <p:cNvSpPr/>
          <p:nvPr/>
        </p:nvSpPr>
        <p:spPr>
          <a:xfrm>
            <a:off x="6830568" y="2615184"/>
            <a:ext cx="1700784" cy="310896"/>
          </a:xfrm>
          <a:prstGeom prst="rect">
            <a:avLst/>
          </a:prstGeom>
          <a:noFill/>
          <a:ln/>
        </p:spPr>
        <p:txBody>
          <a:bodyPr wrap="square"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Multimodal + Agents</a:t>
            </a:r>
            <a:endParaRPr lang="en-US" sz="1100" dirty="0"/>
          </a:p>
        </p:txBody>
      </p:sp>
      <p:sp>
        <p:nvSpPr>
          <p:cNvPr id="25" name="Text 23"/>
          <p:cNvSpPr/>
          <p:nvPr/>
        </p:nvSpPr>
        <p:spPr>
          <a:xfrm>
            <a:off x="6830568" y="2962656"/>
            <a:ext cx="1700784" cy="1042416"/>
          </a:xfrm>
          <a:prstGeom prst="rect">
            <a:avLst/>
          </a:prstGeom>
          <a:noFill/>
          <a:ln/>
        </p:spPr>
        <p:txBody>
          <a:bodyPr wrap="square" rtlCol="0" anchor="t"/>
          <a:lstStyle/>
          <a:p>
            <a:pPr marL="0" indent="0">
              <a:buNone/>
            </a:pPr>
            <a:r>
              <a:rPr lang="en-US" sz="950" dirty="0">
                <a:solidFill>
                  <a:srgbClr val="6B7280"/>
                </a:solidFill>
                <a:latin typeface="Calibri" pitchFamily="34" charset="0"/>
                <a:ea typeface="Calibri" pitchFamily="34" charset="-122"/>
                <a:cs typeface="Calibri" pitchFamily="34" charset="-120"/>
              </a:rPr>
              <a:t>Claude, Gemini, GPT-4o. Text, images, audio, video. AI begins taking autonomous actions.</a:t>
            </a:r>
            <a:endParaRPr lang="en-US" sz="950" dirty="0"/>
          </a:p>
        </p:txBody>
      </p:sp>
      <p:sp>
        <p:nvSpPr>
          <p:cNvPr id="26" name="Shape 24"/>
          <p:cNvSpPr/>
          <p:nvPr/>
        </p:nvSpPr>
        <p:spPr>
          <a:xfrm>
            <a:off x="411480" y="4251960"/>
            <a:ext cx="8321040" cy="502920"/>
          </a:xfrm>
          <a:prstGeom prst="roundRect">
            <a:avLst>
              <a:gd name="adj" fmla="val 10909"/>
            </a:avLst>
          </a:prstGeom>
          <a:solidFill>
            <a:srgbClr val="1A2436"/>
          </a:solidFill>
          <a:ln w="12700">
            <a:solidFill>
              <a:srgbClr val="22D3EE"/>
            </a:solidFill>
            <a:prstDash val="solid"/>
          </a:ln>
        </p:spPr>
        <p:txBody>
          <a:bodyPr/>
          <a:lstStyle/>
          <a:p>
            <a:endParaRPr lang="en-US"/>
          </a:p>
        </p:txBody>
      </p:sp>
      <p:sp>
        <p:nvSpPr>
          <p:cNvPr id="27" name="Text 25"/>
          <p:cNvSpPr/>
          <p:nvPr/>
        </p:nvSpPr>
        <p:spPr>
          <a:xfrm>
            <a:off x="548640" y="4279392"/>
            <a:ext cx="8046720" cy="438912"/>
          </a:xfrm>
          <a:prstGeom prst="rect">
            <a:avLst/>
          </a:prstGeom>
          <a:noFill/>
          <a:ln/>
        </p:spPr>
        <p:txBody>
          <a:bodyPr wrap="square" rtlCol="0" anchor="ctr"/>
          <a:lstStyle/>
          <a:p>
            <a:pPr marL="0" indent="0">
              <a:buNone/>
            </a:pPr>
            <a:r>
              <a:rPr lang="en-US" sz="1000" b="1" dirty="0">
                <a:solidFill>
                  <a:srgbClr val="22D3EE"/>
                </a:solidFill>
                <a:latin typeface="Calibri" pitchFamily="34" charset="0"/>
                <a:ea typeface="Calibri" pitchFamily="34" charset="-122"/>
                <a:cs typeface="Calibri" pitchFamily="34" charset="-120"/>
              </a:rPr>
              <a:t>My observation: </a:t>
            </a:r>
            <a:r>
              <a:rPr lang="en-US" sz="1000" dirty="0">
                <a:solidFill>
                  <a:srgbClr val="F0F6FC"/>
                </a:solidFill>
                <a:latin typeface="Calibri" pitchFamily="34" charset="0"/>
                <a:ea typeface="Calibri" pitchFamily="34" charset="-122"/>
                <a:cs typeface="Calibri" pitchFamily="34" charset="-120"/>
              </a:rPr>
              <a:t>Silicon Valley rivalries accelerated this: Google invented the Transformer but OpenAI used it to build ChatGPT. Microsoft backed OpenAI ($13B). Meta open-sourced LLaMA to disrupt both. Competition, not just science, drove the pace.</a:t>
            </a:r>
            <a:endParaRPr lang="en-US" sz="1000" dirty="0"/>
          </a:p>
        </p:txBody>
      </p:sp>
      <p:sp>
        <p:nvSpPr>
          <p:cNvPr id="28" name="Text 26"/>
          <p:cNvSpPr/>
          <p:nvPr/>
        </p:nvSpPr>
        <p:spPr>
          <a:xfrm>
            <a:off x="411480" y="4828032"/>
            <a:ext cx="832104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Sources: Putchuon (2024); IEEE Computer Society (n.d.)</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11480" y="146304"/>
            <a:ext cx="8321040" cy="274320"/>
          </a:xfrm>
          <a:prstGeom prst="rect">
            <a:avLst/>
          </a:prstGeom>
          <a:noFill/>
          <a:ln/>
        </p:spPr>
        <p:txBody>
          <a:bodyPr wrap="square" lIns="0" tIns="0" rIns="0" bIns="0" rtlCol="0" anchor="ctr"/>
          <a:lstStyle/>
          <a:p>
            <a:pPr marL="0" indent="0">
              <a:buNone/>
            </a:pPr>
            <a:r>
              <a:rPr lang="en-US" sz="900" b="1" kern="0" spc="400" dirty="0">
                <a:solidFill>
                  <a:srgbClr val="4ADE80"/>
                </a:solidFill>
                <a:latin typeface="Calibri" pitchFamily="34" charset="0"/>
                <a:ea typeface="Calibri" pitchFamily="34" charset="-122"/>
                <a:cs typeface="Calibri" pitchFamily="34" charset="-120"/>
              </a:rPr>
              <a:t>RECENT SUCCESSES  •  CLOUD + HARDWARE</a:t>
            </a:r>
            <a:endParaRPr lang="en-US" sz="900" dirty="0"/>
          </a:p>
        </p:txBody>
      </p:sp>
      <p:sp>
        <p:nvSpPr>
          <p:cNvPr id="3" name="Text 1"/>
          <p:cNvSpPr/>
          <p:nvPr/>
        </p:nvSpPr>
        <p:spPr>
          <a:xfrm>
            <a:off x="411480" y="575890"/>
            <a:ext cx="8321040" cy="749808"/>
          </a:xfrm>
          <a:prstGeom prst="rect">
            <a:avLst/>
          </a:prstGeom>
          <a:noFill/>
          <a:ln/>
        </p:spPr>
        <p:txBody>
          <a:bodyPr wrap="square" lIns="0" tIns="0" rIns="0" bIns="0" rtlCol="0" anchor="ctr"/>
          <a:lstStyle/>
          <a:p>
            <a:pPr marL="0" indent="0">
              <a:buNone/>
            </a:pPr>
            <a:r>
              <a:rPr lang="en-US" sz="3600" b="1" dirty="0">
                <a:solidFill>
                  <a:srgbClr val="F0F6FC"/>
                </a:solidFill>
                <a:latin typeface="Calibri" pitchFamily="34" charset="0"/>
                <a:ea typeface="Calibri" pitchFamily="34" charset="-122"/>
                <a:cs typeface="Calibri" pitchFamily="34" charset="-120"/>
              </a:rPr>
              <a:t>You Cannot Have AI Without the Cloud</a:t>
            </a:r>
            <a:endParaRPr lang="en-US" sz="3600" dirty="0"/>
          </a:p>
        </p:txBody>
      </p:sp>
      <p:sp>
        <p:nvSpPr>
          <p:cNvPr id="4" name="Text 2"/>
          <p:cNvSpPr/>
          <p:nvPr/>
        </p:nvSpPr>
        <p:spPr>
          <a:xfrm>
            <a:off x="411480" y="1568105"/>
            <a:ext cx="8321040" cy="658368"/>
          </a:xfrm>
          <a:prstGeom prst="rect">
            <a:avLst/>
          </a:prstGeom>
          <a:noFill/>
          <a:ln/>
        </p:spPr>
        <p:txBody>
          <a:bodyPr wrap="square" rtlCol="0" anchor="ctr"/>
          <a:lstStyle/>
          <a:p>
            <a:pPr marL="0" indent="0">
              <a:buNone/>
            </a:pPr>
            <a:r>
              <a:rPr lang="en-US" sz="1150" dirty="0">
                <a:latin typeface="Calibri" pitchFamily="34" charset="0"/>
                <a:ea typeface="Calibri" pitchFamily="34" charset="-122"/>
                <a:cs typeface="Calibri" pitchFamily="34" charset="-120"/>
              </a:rPr>
              <a:t>Before cloud computing, deep learning required owning expensive GPU hardware. AWS, Google Cloud, and Azure made massive compute available on demand. ChatGPT runs on tens of thousands of cloud GPUs simultaneously.</a:t>
            </a:r>
            <a:endParaRPr lang="en-US" sz="1150" dirty="0"/>
          </a:p>
        </p:txBody>
      </p:sp>
      <p:sp>
        <p:nvSpPr>
          <p:cNvPr id="5" name="Shape 3"/>
          <p:cNvSpPr/>
          <p:nvPr/>
        </p:nvSpPr>
        <p:spPr>
          <a:xfrm>
            <a:off x="411480" y="2468880"/>
            <a:ext cx="1920240" cy="1645920"/>
          </a:xfrm>
          <a:prstGeom prst="roundRect">
            <a:avLst>
              <a:gd name="adj" fmla="val 3810"/>
            </a:avLst>
          </a:prstGeom>
          <a:solidFill>
            <a:srgbClr val="161B22"/>
          </a:solidFill>
          <a:ln w="12700">
            <a:solidFill>
              <a:srgbClr val="4ADE80"/>
            </a:solidFill>
            <a:prstDash val="solid"/>
          </a:ln>
          <a:effectLst>
            <a:outerShdw blurRad="76200" dist="25400" dir="2700000" algn="bl" rotWithShape="0">
              <a:srgbClr val="000000">
                <a:alpha val="20000"/>
              </a:srgbClr>
            </a:outerShdw>
          </a:effectLst>
        </p:spPr>
        <p:txBody>
          <a:bodyPr/>
          <a:lstStyle/>
          <a:p>
            <a:endParaRPr lang="en-US"/>
          </a:p>
        </p:txBody>
      </p:sp>
      <p:sp>
        <p:nvSpPr>
          <p:cNvPr id="6" name="Shape 4"/>
          <p:cNvSpPr/>
          <p:nvPr/>
        </p:nvSpPr>
        <p:spPr>
          <a:xfrm>
            <a:off x="502920" y="2176272"/>
            <a:ext cx="594360" cy="219456"/>
          </a:xfrm>
          <a:prstGeom prst="roundRect">
            <a:avLst>
              <a:gd name="adj" fmla="val 20833"/>
            </a:avLst>
          </a:prstGeom>
          <a:solidFill>
            <a:srgbClr val="4ADE80"/>
          </a:solidFill>
          <a:ln/>
        </p:spPr>
        <p:txBody>
          <a:bodyPr/>
          <a:lstStyle/>
          <a:p>
            <a:endParaRPr lang="en-US"/>
          </a:p>
        </p:txBody>
      </p:sp>
      <p:sp>
        <p:nvSpPr>
          <p:cNvPr id="7" name="Text 5"/>
          <p:cNvSpPr/>
          <p:nvPr/>
        </p:nvSpPr>
        <p:spPr>
          <a:xfrm>
            <a:off x="502920" y="2176272"/>
            <a:ext cx="594360" cy="219456"/>
          </a:xfrm>
          <a:prstGeom prst="rect">
            <a:avLst/>
          </a:prstGeom>
          <a:noFill/>
          <a:ln/>
        </p:spPr>
        <p:txBody>
          <a:bodyPr wrap="square" lIns="0" tIns="0" rIns="0" bIns="0" rtlCol="0" anchor="ctr"/>
          <a:lstStyle/>
          <a:p>
            <a:pPr marL="0" indent="0" algn="ctr">
              <a:buNone/>
            </a:pPr>
            <a:r>
              <a:rPr lang="en-US" sz="850" b="1" dirty="0">
                <a:solidFill>
                  <a:srgbClr val="0D1117"/>
                </a:solidFill>
                <a:latin typeface="Calibri" pitchFamily="34" charset="0"/>
                <a:ea typeface="Calibri" pitchFamily="34" charset="-122"/>
                <a:cs typeface="Calibri" pitchFamily="34" charset="-120"/>
              </a:rPr>
              <a:t>2012</a:t>
            </a:r>
            <a:endParaRPr lang="en-US" sz="850" dirty="0"/>
          </a:p>
        </p:txBody>
      </p:sp>
      <p:sp>
        <p:nvSpPr>
          <p:cNvPr id="8" name="Text 6"/>
          <p:cNvSpPr/>
          <p:nvPr/>
        </p:nvSpPr>
        <p:spPr>
          <a:xfrm>
            <a:off x="521208" y="2468880"/>
            <a:ext cx="1700784" cy="310896"/>
          </a:xfrm>
          <a:prstGeom prst="rect">
            <a:avLst/>
          </a:prstGeom>
          <a:noFill/>
          <a:ln/>
        </p:spPr>
        <p:txBody>
          <a:bodyPr wrap="square"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AWS GPU Instances</a:t>
            </a:r>
            <a:endParaRPr lang="en-US" sz="1100" dirty="0"/>
          </a:p>
        </p:txBody>
      </p:sp>
      <p:sp>
        <p:nvSpPr>
          <p:cNvPr id="9" name="Text 7"/>
          <p:cNvSpPr/>
          <p:nvPr/>
        </p:nvSpPr>
        <p:spPr>
          <a:xfrm>
            <a:off x="521208" y="2816352"/>
            <a:ext cx="1700784" cy="1188720"/>
          </a:xfrm>
          <a:prstGeom prst="rect">
            <a:avLst/>
          </a:prstGeom>
          <a:noFill/>
          <a:ln/>
        </p:spPr>
        <p:txBody>
          <a:bodyPr wrap="square" rtlCol="0" anchor="t"/>
          <a:lstStyle/>
          <a:p>
            <a:pPr marL="0" indent="0">
              <a:buNone/>
            </a:pPr>
            <a:r>
              <a:rPr lang="en-US" sz="950" dirty="0">
                <a:solidFill>
                  <a:srgbClr val="6B7280"/>
                </a:solidFill>
                <a:latin typeface="Calibri" pitchFamily="34" charset="0"/>
                <a:ea typeface="Calibri" pitchFamily="34" charset="-122"/>
                <a:cs typeface="Calibri" pitchFamily="34" charset="-120"/>
              </a:rPr>
              <a:t>Amazon makes GPU clusters available on demand. Deep learning becomes accessible to startups worldwide — no hardware ownership needed.</a:t>
            </a:r>
            <a:endParaRPr lang="en-US" sz="950" dirty="0"/>
          </a:p>
        </p:txBody>
      </p:sp>
      <p:sp>
        <p:nvSpPr>
          <p:cNvPr id="10" name="Shape 8"/>
          <p:cNvSpPr/>
          <p:nvPr/>
        </p:nvSpPr>
        <p:spPr>
          <a:xfrm>
            <a:off x="2514600" y="2468880"/>
            <a:ext cx="1920240" cy="1645920"/>
          </a:xfrm>
          <a:prstGeom prst="roundRect">
            <a:avLst>
              <a:gd name="adj" fmla="val 3810"/>
            </a:avLst>
          </a:prstGeom>
          <a:solidFill>
            <a:srgbClr val="161B22"/>
          </a:solidFill>
          <a:ln w="12700">
            <a:solidFill>
              <a:srgbClr val="4ADE80"/>
            </a:solidFill>
            <a:prstDash val="solid"/>
          </a:ln>
          <a:effectLst>
            <a:outerShdw blurRad="76200" dist="25400" dir="2700000" algn="bl" rotWithShape="0">
              <a:srgbClr val="000000">
                <a:alpha val="20000"/>
              </a:srgbClr>
            </a:outerShdw>
          </a:effectLst>
        </p:spPr>
        <p:txBody>
          <a:bodyPr/>
          <a:lstStyle/>
          <a:p>
            <a:endParaRPr lang="en-US"/>
          </a:p>
        </p:txBody>
      </p:sp>
      <p:sp>
        <p:nvSpPr>
          <p:cNvPr id="11" name="Shape 9"/>
          <p:cNvSpPr/>
          <p:nvPr/>
        </p:nvSpPr>
        <p:spPr>
          <a:xfrm>
            <a:off x="2606040" y="2176272"/>
            <a:ext cx="594360" cy="219456"/>
          </a:xfrm>
          <a:prstGeom prst="roundRect">
            <a:avLst>
              <a:gd name="adj" fmla="val 20833"/>
            </a:avLst>
          </a:prstGeom>
          <a:solidFill>
            <a:srgbClr val="4ADE80"/>
          </a:solidFill>
          <a:ln/>
        </p:spPr>
        <p:txBody>
          <a:bodyPr/>
          <a:lstStyle/>
          <a:p>
            <a:endParaRPr lang="en-US"/>
          </a:p>
        </p:txBody>
      </p:sp>
      <p:sp>
        <p:nvSpPr>
          <p:cNvPr id="12" name="Text 10"/>
          <p:cNvSpPr/>
          <p:nvPr/>
        </p:nvSpPr>
        <p:spPr>
          <a:xfrm>
            <a:off x="2606040" y="2176272"/>
            <a:ext cx="594360" cy="219456"/>
          </a:xfrm>
          <a:prstGeom prst="rect">
            <a:avLst/>
          </a:prstGeom>
          <a:noFill/>
          <a:ln/>
        </p:spPr>
        <p:txBody>
          <a:bodyPr wrap="square" lIns="0" tIns="0" rIns="0" bIns="0" rtlCol="0" anchor="ctr"/>
          <a:lstStyle/>
          <a:p>
            <a:pPr marL="0" indent="0" algn="ctr">
              <a:buNone/>
            </a:pPr>
            <a:r>
              <a:rPr lang="en-US" sz="850" b="1" dirty="0">
                <a:solidFill>
                  <a:srgbClr val="0D1117"/>
                </a:solidFill>
                <a:latin typeface="Calibri" pitchFamily="34" charset="0"/>
                <a:ea typeface="Calibri" pitchFamily="34" charset="-122"/>
                <a:cs typeface="Calibri" pitchFamily="34" charset="-120"/>
              </a:rPr>
              <a:t>2016</a:t>
            </a:r>
            <a:endParaRPr lang="en-US" sz="850" dirty="0"/>
          </a:p>
        </p:txBody>
      </p:sp>
      <p:sp>
        <p:nvSpPr>
          <p:cNvPr id="13" name="Text 11"/>
          <p:cNvSpPr/>
          <p:nvPr/>
        </p:nvSpPr>
        <p:spPr>
          <a:xfrm>
            <a:off x="2624328" y="2468880"/>
            <a:ext cx="1700784" cy="310896"/>
          </a:xfrm>
          <a:prstGeom prst="rect">
            <a:avLst/>
          </a:prstGeom>
          <a:noFill/>
          <a:ln/>
        </p:spPr>
        <p:txBody>
          <a:bodyPr wrap="square"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Google TPUs</a:t>
            </a:r>
            <a:endParaRPr lang="en-US" sz="1100" dirty="0"/>
          </a:p>
        </p:txBody>
      </p:sp>
      <p:sp>
        <p:nvSpPr>
          <p:cNvPr id="14" name="Text 12"/>
          <p:cNvSpPr/>
          <p:nvPr/>
        </p:nvSpPr>
        <p:spPr>
          <a:xfrm>
            <a:off x="2624328" y="2816352"/>
            <a:ext cx="1700784" cy="1188720"/>
          </a:xfrm>
          <a:prstGeom prst="rect">
            <a:avLst/>
          </a:prstGeom>
          <a:noFill/>
          <a:ln/>
        </p:spPr>
        <p:txBody>
          <a:bodyPr wrap="square" rtlCol="0" anchor="t"/>
          <a:lstStyle/>
          <a:p>
            <a:pPr marL="0" indent="0">
              <a:buNone/>
            </a:pPr>
            <a:r>
              <a:rPr lang="en-US" sz="950" dirty="0">
                <a:solidFill>
                  <a:srgbClr val="6B7280"/>
                </a:solidFill>
                <a:latin typeface="Calibri" pitchFamily="34" charset="0"/>
                <a:ea typeface="Calibri" pitchFamily="34" charset="-122"/>
                <a:cs typeface="Calibri" pitchFamily="34" charset="-120"/>
              </a:rPr>
              <a:t>Custom AI chips 15–30× faster than GPUs. AlphaGo, AlphaFold, and Gemini all ran on TPU clusters at Google's scale.</a:t>
            </a:r>
            <a:endParaRPr lang="en-US" sz="950" dirty="0"/>
          </a:p>
        </p:txBody>
      </p:sp>
      <p:sp>
        <p:nvSpPr>
          <p:cNvPr id="15" name="Shape 13"/>
          <p:cNvSpPr/>
          <p:nvPr/>
        </p:nvSpPr>
        <p:spPr>
          <a:xfrm>
            <a:off x="4617720" y="2468880"/>
            <a:ext cx="1920240" cy="1645920"/>
          </a:xfrm>
          <a:prstGeom prst="roundRect">
            <a:avLst>
              <a:gd name="adj" fmla="val 3810"/>
            </a:avLst>
          </a:prstGeom>
          <a:solidFill>
            <a:srgbClr val="161B22"/>
          </a:solidFill>
          <a:ln w="12700">
            <a:solidFill>
              <a:srgbClr val="4ADE80"/>
            </a:solidFill>
            <a:prstDash val="solid"/>
          </a:ln>
          <a:effectLst>
            <a:outerShdw blurRad="76200" dist="25400" dir="2700000" algn="bl" rotWithShape="0">
              <a:srgbClr val="000000">
                <a:alpha val="20000"/>
              </a:srgbClr>
            </a:outerShdw>
          </a:effectLst>
        </p:spPr>
        <p:txBody>
          <a:bodyPr/>
          <a:lstStyle/>
          <a:p>
            <a:endParaRPr lang="en-US"/>
          </a:p>
        </p:txBody>
      </p:sp>
      <p:sp>
        <p:nvSpPr>
          <p:cNvPr id="16" name="Shape 14"/>
          <p:cNvSpPr/>
          <p:nvPr/>
        </p:nvSpPr>
        <p:spPr>
          <a:xfrm>
            <a:off x="4709160" y="2176272"/>
            <a:ext cx="594360" cy="219456"/>
          </a:xfrm>
          <a:prstGeom prst="roundRect">
            <a:avLst>
              <a:gd name="adj" fmla="val 20833"/>
            </a:avLst>
          </a:prstGeom>
          <a:solidFill>
            <a:srgbClr val="4ADE80"/>
          </a:solidFill>
          <a:ln/>
        </p:spPr>
        <p:txBody>
          <a:bodyPr/>
          <a:lstStyle/>
          <a:p>
            <a:endParaRPr lang="en-US"/>
          </a:p>
        </p:txBody>
      </p:sp>
      <p:sp>
        <p:nvSpPr>
          <p:cNvPr id="17" name="Text 15"/>
          <p:cNvSpPr/>
          <p:nvPr/>
        </p:nvSpPr>
        <p:spPr>
          <a:xfrm>
            <a:off x="4709160" y="2176272"/>
            <a:ext cx="594360" cy="219456"/>
          </a:xfrm>
          <a:prstGeom prst="rect">
            <a:avLst/>
          </a:prstGeom>
          <a:noFill/>
          <a:ln/>
        </p:spPr>
        <p:txBody>
          <a:bodyPr wrap="square" lIns="0" tIns="0" rIns="0" bIns="0" rtlCol="0" anchor="ctr"/>
          <a:lstStyle/>
          <a:p>
            <a:pPr marL="0" indent="0" algn="ctr">
              <a:buNone/>
            </a:pPr>
            <a:r>
              <a:rPr lang="en-US" sz="850" b="1" dirty="0">
                <a:solidFill>
                  <a:srgbClr val="0D1117"/>
                </a:solidFill>
                <a:latin typeface="Calibri" pitchFamily="34" charset="0"/>
                <a:ea typeface="Calibri" pitchFamily="34" charset="-122"/>
                <a:cs typeface="Calibri" pitchFamily="34" charset="-120"/>
              </a:rPr>
              <a:t>2019</a:t>
            </a:r>
            <a:endParaRPr lang="en-US" sz="850" dirty="0"/>
          </a:p>
        </p:txBody>
      </p:sp>
      <p:sp>
        <p:nvSpPr>
          <p:cNvPr id="18" name="Text 16"/>
          <p:cNvSpPr/>
          <p:nvPr/>
        </p:nvSpPr>
        <p:spPr>
          <a:xfrm>
            <a:off x="4727448" y="2468880"/>
            <a:ext cx="1700784" cy="310896"/>
          </a:xfrm>
          <a:prstGeom prst="rect">
            <a:avLst/>
          </a:prstGeom>
          <a:noFill/>
          <a:ln/>
        </p:spPr>
        <p:txBody>
          <a:bodyPr wrap="square"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Microsoft + OpenAI $1B</a:t>
            </a:r>
            <a:endParaRPr lang="en-US" sz="1100" dirty="0"/>
          </a:p>
        </p:txBody>
      </p:sp>
      <p:sp>
        <p:nvSpPr>
          <p:cNvPr id="19" name="Text 17"/>
          <p:cNvSpPr/>
          <p:nvPr/>
        </p:nvSpPr>
        <p:spPr>
          <a:xfrm>
            <a:off x="4727448" y="2816352"/>
            <a:ext cx="1700784" cy="1188720"/>
          </a:xfrm>
          <a:prstGeom prst="rect">
            <a:avLst/>
          </a:prstGeom>
          <a:noFill/>
          <a:ln/>
        </p:spPr>
        <p:txBody>
          <a:bodyPr wrap="square" rtlCol="0" anchor="t"/>
          <a:lstStyle/>
          <a:p>
            <a:pPr marL="0" indent="0">
              <a:buNone/>
            </a:pPr>
            <a:r>
              <a:rPr lang="en-US" sz="950" dirty="0">
                <a:solidFill>
                  <a:srgbClr val="6B7280"/>
                </a:solidFill>
                <a:latin typeface="Calibri" pitchFamily="34" charset="0"/>
                <a:ea typeface="Calibri" pitchFamily="34" charset="-122"/>
                <a:cs typeface="Calibri" pitchFamily="34" charset="-120"/>
              </a:rPr>
              <a:t>Dedicated Azure supercomputers built specifically for GPT training. This infrastructure directly enabled GPT-3, GPT-4, and ChatGPT.</a:t>
            </a:r>
            <a:endParaRPr lang="en-US" sz="950" dirty="0"/>
          </a:p>
        </p:txBody>
      </p:sp>
      <p:sp>
        <p:nvSpPr>
          <p:cNvPr id="20" name="Shape 18"/>
          <p:cNvSpPr/>
          <p:nvPr/>
        </p:nvSpPr>
        <p:spPr>
          <a:xfrm>
            <a:off x="6720840" y="2468880"/>
            <a:ext cx="1920240" cy="1645920"/>
          </a:xfrm>
          <a:prstGeom prst="roundRect">
            <a:avLst>
              <a:gd name="adj" fmla="val 3810"/>
            </a:avLst>
          </a:prstGeom>
          <a:solidFill>
            <a:srgbClr val="161B22"/>
          </a:solidFill>
          <a:ln w="12700">
            <a:solidFill>
              <a:srgbClr val="F59E0B"/>
            </a:solidFill>
            <a:prstDash val="solid"/>
          </a:ln>
          <a:effectLst>
            <a:outerShdw blurRad="76200" dist="25400" dir="2700000" algn="bl" rotWithShape="0">
              <a:srgbClr val="000000">
                <a:alpha val="20000"/>
              </a:srgbClr>
            </a:outerShdw>
          </a:effectLst>
        </p:spPr>
        <p:txBody>
          <a:bodyPr/>
          <a:lstStyle/>
          <a:p>
            <a:endParaRPr lang="en-US"/>
          </a:p>
        </p:txBody>
      </p:sp>
      <p:sp>
        <p:nvSpPr>
          <p:cNvPr id="21" name="Shape 19"/>
          <p:cNvSpPr/>
          <p:nvPr/>
        </p:nvSpPr>
        <p:spPr>
          <a:xfrm>
            <a:off x="6812280" y="2176272"/>
            <a:ext cx="594360" cy="219456"/>
          </a:xfrm>
          <a:prstGeom prst="roundRect">
            <a:avLst>
              <a:gd name="adj" fmla="val 20833"/>
            </a:avLst>
          </a:prstGeom>
          <a:solidFill>
            <a:srgbClr val="F59E0B"/>
          </a:solidFill>
          <a:ln/>
        </p:spPr>
        <p:txBody>
          <a:bodyPr/>
          <a:lstStyle/>
          <a:p>
            <a:endParaRPr lang="en-US"/>
          </a:p>
        </p:txBody>
      </p:sp>
      <p:sp>
        <p:nvSpPr>
          <p:cNvPr id="22" name="Text 20"/>
          <p:cNvSpPr/>
          <p:nvPr/>
        </p:nvSpPr>
        <p:spPr>
          <a:xfrm>
            <a:off x="6812280" y="2176272"/>
            <a:ext cx="594360" cy="219456"/>
          </a:xfrm>
          <a:prstGeom prst="rect">
            <a:avLst/>
          </a:prstGeom>
          <a:noFill/>
          <a:ln/>
        </p:spPr>
        <p:txBody>
          <a:bodyPr wrap="square" lIns="0" tIns="0" rIns="0" bIns="0" rtlCol="0" anchor="ctr"/>
          <a:lstStyle/>
          <a:p>
            <a:pPr marL="0" indent="0" algn="ctr">
              <a:buNone/>
            </a:pPr>
            <a:r>
              <a:rPr lang="en-US" sz="850" b="1" dirty="0">
                <a:solidFill>
                  <a:srgbClr val="0D1117"/>
                </a:solidFill>
                <a:latin typeface="Calibri" pitchFamily="34" charset="0"/>
                <a:ea typeface="Calibri" pitchFamily="34" charset="-122"/>
                <a:cs typeface="Calibri" pitchFamily="34" charset="-120"/>
              </a:rPr>
              <a:t>2022</a:t>
            </a:r>
            <a:endParaRPr lang="en-US" sz="850" dirty="0"/>
          </a:p>
        </p:txBody>
      </p:sp>
      <p:sp>
        <p:nvSpPr>
          <p:cNvPr id="23" name="Text 21"/>
          <p:cNvSpPr/>
          <p:nvPr/>
        </p:nvSpPr>
        <p:spPr>
          <a:xfrm>
            <a:off x="6830568" y="2468880"/>
            <a:ext cx="1700784" cy="310896"/>
          </a:xfrm>
          <a:prstGeom prst="rect">
            <a:avLst/>
          </a:prstGeom>
          <a:noFill/>
          <a:ln/>
        </p:spPr>
        <p:txBody>
          <a:bodyPr wrap="square"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Nvidia H100</a:t>
            </a:r>
            <a:endParaRPr lang="en-US" sz="1100" dirty="0"/>
          </a:p>
        </p:txBody>
      </p:sp>
      <p:sp>
        <p:nvSpPr>
          <p:cNvPr id="24" name="Text 22"/>
          <p:cNvSpPr/>
          <p:nvPr/>
        </p:nvSpPr>
        <p:spPr>
          <a:xfrm>
            <a:off x="6830568" y="2816352"/>
            <a:ext cx="1700784" cy="1188720"/>
          </a:xfrm>
          <a:prstGeom prst="rect">
            <a:avLst/>
          </a:prstGeom>
          <a:noFill/>
          <a:ln/>
        </p:spPr>
        <p:txBody>
          <a:bodyPr wrap="square" rtlCol="0" anchor="t"/>
          <a:lstStyle/>
          <a:p>
            <a:pPr marL="0" indent="0">
              <a:buNone/>
            </a:pPr>
            <a:r>
              <a:rPr lang="en-US" sz="950" dirty="0">
                <a:solidFill>
                  <a:srgbClr val="6B7280"/>
                </a:solidFill>
                <a:latin typeface="Calibri" pitchFamily="34" charset="0"/>
                <a:ea typeface="Calibri" pitchFamily="34" charset="-122"/>
                <a:cs typeface="Calibri" pitchFamily="34" charset="-120"/>
              </a:rPr>
              <a:t>6× faster than previous generation. Every cloud provider rushed to buy them. Nvidia's valuation exceeded $1 trillion.</a:t>
            </a:r>
            <a:endParaRPr lang="en-US" sz="950" dirty="0"/>
          </a:p>
        </p:txBody>
      </p:sp>
      <p:sp>
        <p:nvSpPr>
          <p:cNvPr id="25" name="Shape 23"/>
          <p:cNvSpPr/>
          <p:nvPr/>
        </p:nvSpPr>
        <p:spPr>
          <a:xfrm>
            <a:off x="411480" y="4251960"/>
            <a:ext cx="8321040" cy="502920"/>
          </a:xfrm>
          <a:prstGeom prst="roundRect">
            <a:avLst>
              <a:gd name="adj" fmla="val 10909"/>
            </a:avLst>
          </a:prstGeom>
          <a:solidFill>
            <a:srgbClr val="1A2436"/>
          </a:solidFill>
          <a:ln w="12700">
            <a:solidFill>
              <a:srgbClr val="22D3EE"/>
            </a:solidFill>
            <a:prstDash val="solid"/>
          </a:ln>
        </p:spPr>
        <p:txBody>
          <a:bodyPr/>
          <a:lstStyle/>
          <a:p>
            <a:endParaRPr lang="en-US"/>
          </a:p>
        </p:txBody>
      </p:sp>
      <p:sp>
        <p:nvSpPr>
          <p:cNvPr id="26" name="Text 24"/>
          <p:cNvSpPr/>
          <p:nvPr/>
        </p:nvSpPr>
        <p:spPr>
          <a:xfrm>
            <a:off x="548640" y="4279392"/>
            <a:ext cx="8046720" cy="438912"/>
          </a:xfrm>
          <a:prstGeom prst="rect">
            <a:avLst/>
          </a:prstGeom>
          <a:noFill/>
          <a:ln/>
        </p:spPr>
        <p:txBody>
          <a:bodyPr wrap="square" rtlCol="0" anchor="ctr"/>
          <a:lstStyle/>
          <a:p>
            <a:pPr marL="0" indent="0">
              <a:buNone/>
            </a:pPr>
            <a:r>
              <a:rPr lang="en-US" sz="1000" b="1" dirty="0">
                <a:solidFill>
                  <a:srgbClr val="22D3EE"/>
                </a:solidFill>
                <a:latin typeface="Calibri" pitchFamily="34" charset="0"/>
                <a:ea typeface="Calibri" pitchFamily="34" charset="-122"/>
                <a:cs typeface="Calibri" pitchFamily="34" charset="-120"/>
              </a:rPr>
              <a:t>My observation: </a:t>
            </a:r>
            <a:r>
              <a:rPr lang="en-US" sz="1000" dirty="0">
                <a:solidFill>
                  <a:srgbClr val="F0F6FC"/>
                </a:solidFill>
                <a:latin typeface="Calibri" pitchFamily="34" charset="0"/>
                <a:ea typeface="Calibri" pitchFamily="34" charset="-122"/>
                <a:cs typeface="Calibri" pitchFamily="34" charset="-120"/>
              </a:rPr>
              <a:t>Hardware drove every breakthrough: transistor unlocked symbolic AI, GPU unlocked deep learning, cloud unlocked scale. The math was always there. The infrastructure was not.</a:t>
            </a:r>
            <a:endParaRPr lang="en-US" sz="1000" dirty="0"/>
          </a:p>
        </p:txBody>
      </p:sp>
      <p:sp>
        <p:nvSpPr>
          <p:cNvPr id="27" name="Text 25"/>
          <p:cNvSpPr/>
          <p:nvPr/>
        </p:nvSpPr>
        <p:spPr>
          <a:xfrm>
            <a:off x="411480" y="4828032"/>
            <a:ext cx="832104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Sources: Putchuon (2024); Bender &amp; Our World in Data (n.d.)</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11480" y="146304"/>
            <a:ext cx="8321040" cy="274320"/>
          </a:xfrm>
          <a:prstGeom prst="rect">
            <a:avLst/>
          </a:prstGeom>
          <a:noFill/>
          <a:ln/>
        </p:spPr>
        <p:txBody>
          <a:bodyPr wrap="square" lIns="0" tIns="0" rIns="0" bIns="0" rtlCol="0" anchor="ctr"/>
          <a:lstStyle/>
          <a:p>
            <a:pPr marL="0" indent="0">
              <a:buNone/>
            </a:pPr>
            <a:r>
              <a:rPr lang="en-US" sz="900" b="1" kern="0" spc="400" dirty="0">
                <a:solidFill>
                  <a:srgbClr val="A78BFA"/>
                </a:solidFill>
                <a:latin typeface="Calibri" pitchFamily="34" charset="0"/>
                <a:ea typeface="Calibri" pitchFamily="34" charset="-122"/>
                <a:cs typeface="Calibri" pitchFamily="34" charset="-120"/>
              </a:rPr>
              <a:t>IEEE FRAMEWORK  •  KEY CONCEPT</a:t>
            </a:r>
            <a:endParaRPr lang="en-US" sz="900" dirty="0"/>
          </a:p>
        </p:txBody>
      </p:sp>
      <p:sp>
        <p:nvSpPr>
          <p:cNvPr id="3" name="Text 1"/>
          <p:cNvSpPr/>
          <p:nvPr/>
        </p:nvSpPr>
        <p:spPr>
          <a:xfrm>
            <a:off x="411480" y="457200"/>
            <a:ext cx="8321040" cy="749808"/>
          </a:xfrm>
          <a:prstGeom prst="rect">
            <a:avLst/>
          </a:prstGeom>
          <a:noFill/>
          <a:ln/>
        </p:spPr>
        <p:txBody>
          <a:bodyPr wrap="square" lIns="0" tIns="0" rIns="0" bIns="0" rtlCol="0" anchor="ctr"/>
          <a:lstStyle/>
          <a:p>
            <a:pPr marL="0" indent="0">
              <a:buNone/>
            </a:pPr>
            <a:r>
              <a:rPr lang="en-US" sz="3600" b="1" dirty="0">
                <a:solidFill>
                  <a:srgbClr val="F0F6FC"/>
                </a:solidFill>
                <a:latin typeface="Calibri" pitchFamily="34" charset="0"/>
                <a:ea typeface="Calibri" pitchFamily="34" charset="-122"/>
                <a:cs typeface="Calibri" pitchFamily="34" charset="-120"/>
              </a:rPr>
              <a:t>Where Are We — Narrow AI or AGI?</a:t>
            </a:r>
            <a:endParaRPr lang="en-US" sz="3600" dirty="0"/>
          </a:p>
        </p:txBody>
      </p:sp>
      <p:sp>
        <p:nvSpPr>
          <p:cNvPr id="4" name="Shape 2"/>
          <p:cNvSpPr/>
          <p:nvPr/>
        </p:nvSpPr>
        <p:spPr>
          <a:xfrm>
            <a:off x="411480" y="1325880"/>
            <a:ext cx="3977640" cy="3017520"/>
          </a:xfrm>
          <a:prstGeom prst="roundRect">
            <a:avLst>
              <a:gd name="adj" fmla="val 3636"/>
            </a:avLst>
          </a:prstGeom>
          <a:solidFill>
            <a:srgbClr val="0A1628"/>
          </a:solidFill>
          <a:ln w="25400">
            <a:solidFill>
              <a:srgbClr val="22D3EE"/>
            </a:solidFill>
            <a:prstDash val="solid"/>
          </a:ln>
        </p:spPr>
        <p:txBody>
          <a:bodyPr/>
          <a:lstStyle/>
          <a:p>
            <a:endParaRPr lang="en-US"/>
          </a:p>
        </p:txBody>
      </p:sp>
      <p:sp>
        <p:nvSpPr>
          <p:cNvPr id="5" name="Text 3"/>
          <p:cNvSpPr/>
          <p:nvPr/>
        </p:nvSpPr>
        <p:spPr>
          <a:xfrm>
            <a:off x="548640" y="1463040"/>
            <a:ext cx="3657600" cy="347472"/>
          </a:xfrm>
          <a:prstGeom prst="rect">
            <a:avLst/>
          </a:prstGeom>
          <a:noFill/>
          <a:ln/>
        </p:spPr>
        <p:txBody>
          <a:bodyPr wrap="square" rtlCol="0" anchor="ctr"/>
          <a:lstStyle/>
          <a:p>
            <a:pPr marL="0" indent="0">
              <a:buNone/>
            </a:pPr>
            <a:r>
              <a:rPr lang="en-US" sz="1800" b="1" dirty="0">
                <a:solidFill>
                  <a:srgbClr val="22D3EE"/>
                </a:solidFill>
                <a:latin typeface="Calibri" pitchFamily="34" charset="0"/>
                <a:ea typeface="Calibri" pitchFamily="34" charset="-122"/>
                <a:cs typeface="Calibri" pitchFamily="34" charset="-120"/>
              </a:rPr>
              <a:t>NARROW AI</a:t>
            </a:r>
            <a:endParaRPr lang="en-US" sz="1800" dirty="0"/>
          </a:p>
        </p:txBody>
      </p:sp>
      <p:sp>
        <p:nvSpPr>
          <p:cNvPr id="6" name="Text 4"/>
          <p:cNvSpPr/>
          <p:nvPr/>
        </p:nvSpPr>
        <p:spPr>
          <a:xfrm>
            <a:off x="548640" y="1810512"/>
            <a:ext cx="3657600" cy="274320"/>
          </a:xfrm>
          <a:prstGeom prst="rect">
            <a:avLst/>
          </a:prstGeom>
          <a:noFill/>
          <a:ln/>
        </p:spPr>
        <p:txBody>
          <a:bodyPr wrap="square" rtlCol="0" anchor="ctr"/>
          <a:lstStyle/>
          <a:p>
            <a:pPr marL="0" indent="0">
              <a:buNone/>
            </a:pPr>
            <a:r>
              <a:rPr lang="en-US" sz="1050" i="1" dirty="0">
                <a:solidFill>
                  <a:srgbClr val="6B7280"/>
                </a:solidFill>
                <a:latin typeface="Calibri" pitchFamily="34" charset="0"/>
                <a:ea typeface="Calibri" pitchFamily="34" charset="-122"/>
                <a:cs typeface="Calibri" pitchFamily="34" charset="-120"/>
              </a:rPr>
              <a:t>What AI can do TODAY</a:t>
            </a:r>
            <a:endParaRPr lang="en-US" sz="1050" dirty="0"/>
          </a:p>
        </p:txBody>
      </p:sp>
      <p:sp>
        <p:nvSpPr>
          <p:cNvPr id="7" name="Text 5"/>
          <p:cNvSpPr/>
          <p:nvPr/>
        </p:nvSpPr>
        <p:spPr>
          <a:xfrm>
            <a:off x="548640" y="2148840"/>
            <a:ext cx="3657600" cy="2057400"/>
          </a:xfrm>
          <a:prstGeom prst="rect">
            <a:avLst/>
          </a:prstGeom>
          <a:noFill/>
          <a:ln/>
        </p:spPr>
        <p:txBody>
          <a:bodyPr wrap="square" rtlCol="0" anchor="t"/>
          <a:lstStyle/>
          <a:p>
            <a:pPr marL="0" indent="0">
              <a:buNone/>
            </a:pPr>
            <a:r>
              <a:rPr lang="en-US" sz="1000" dirty="0">
                <a:solidFill>
                  <a:srgbClr val="F0F6FC"/>
                </a:solidFill>
                <a:latin typeface="Calibri" pitchFamily="34" charset="0"/>
                <a:ea typeface="Calibri" pitchFamily="34" charset="-122"/>
                <a:cs typeface="Calibri" pitchFamily="34" charset="-120"/>
              </a:rPr>
              <a:t>Designed for one specific task. Excels at it but cannot transfer knowledge to anything else.</a:t>
            </a:r>
            <a:endParaRPr lang="en-US" sz="1000" dirty="0"/>
          </a:p>
          <a:p>
            <a:pPr marL="0" indent="0">
              <a:buNone/>
            </a:pPr>
            <a:endParaRPr lang="en-US" sz="1000" dirty="0"/>
          </a:p>
          <a:p>
            <a:pPr marL="0" indent="0">
              <a:buNone/>
            </a:pPr>
            <a:r>
              <a:rPr lang="en-US" sz="1000" dirty="0">
                <a:solidFill>
                  <a:srgbClr val="F0F6FC"/>
                </a:solidFill>
                <a:latin typeface="Calibri" pitchFamily="34" charset="0"/>
                <a:ea typeface="Calibri" pitchFamily="34" charset="-122"/>
                <a:cs typeface="Calibri" pitchFamily="34" charset="-120"/>
              </a:rPr>
              <a:t>• Chess engines (only play chess)</a:t>
            </a:r>
            <a:endParaRPr lang="en-US" sz="1000" dirty="0"/>
          </a:p>
          <a:p>
            <a:pPr marL="0" indent="0">
              <a:buNone/>
            </a:pPr>
            <a:r>
              <a:rPr lang="en-US" sz="1000" dirty="0">
                <a:solidFill>
                  <a:srgbClr val="F0F6FC"/>
                </a:solidFill>
                <a:latin typeface="Calibri" pitchFamily="34" charset="0"/>
                <a:ea typeface="Calibri" pitchFamily="34" charset="-122"/>
                <a:cs typeface="Calibri" pitchFamily="34" charset="-120"/>
              </a:rPr>
              <a:t>• Image recognition</a:t>
            </a:r>
            <a:endParaRPr lang="en-US" sz="1000" dirty="0"/>
          </a:p>
          <a:p>
            <a:pPr marL="0" indent="0">
              <a:buNone/>
            </a:pPr>
            <a:r>
              <a:rPr lang="en-US" sz="1000" dirty="0">
                <a:solidFill>
                  <a:srgbClr val="F0F6FC"/>
                </a:solidFill>
                <a:latin typeface="Calibri" pitchFamily="34" charset="0"/>
                <a:ea typeface="Calibri" pitchFamily="34" charset="-122"/>
                <a:cs typeface="Calibri" pitchFamily="34" charset="-120"/>
              </a:rPr>
              <a:t>• Spam filters</a:t>
            </a:r>
            <a:endParaRPr lang="en-US" sz="1000" dirty="0"/>
          </a:p>
          <a:p>
            <a:pPr marL="0" indent="0">
              <a:buNone/>
            </a:pPr>
            <a:r>
              <a:rPr lang="en-US" sz="1000" dirty="0">
                <a:solidFill>
                  <a:srgbClr val="F0F6FC"/>
                </a:solidFill>
                <a:latin typeface="Calibri" pitchFamily="34" charset="0"/>
                <a:ea typeface="Calibri" pitchFamily="34" charset="-122"/>
                <a:cs typeface="Calibri" pitchFamily="34" charset="-120"/>
              </a:rPr>
              <a:t>• Recommendation algorithms</a:t>
            </a:r>
            <a:endParaRPr lang="en-US" sz="1000" dirty="0"/>
          </a:p>
          <a:p>
            <a:pPr marL="0" indent="0">
              <a:buNone/>
            </a:pPr>
            <a:endParaRPr lang="en-US" sz="1000" dirty="0"/>
          </a:p>
          <a:p>
            <a:pPr marL="0" indent="0">
              <a:buNone/>
            </a:pPr>
            <a:r>
              <a:rPr lang="en-US" sz="1000" dirty="0">
                <a:solidFill>
                  <a:srgbClr val="F0F6FC"/>
                </a:solidFill>
                <a:latin typeface="Calibri" pitchFamily="34" charset="0"/>
                <a:ea typeface="Calibri" pitchFamily="34" charset="-122"/>
                <a:cs typeface="Calibri" pitchFamily="34" charset="-120"/>
              </a:rPr>
              <a:t>GPT-4 and Claude appear general but are still technically Narrow AI — trained for language prediction.</a:t>
            </a:r>
            <a:endParaRPr lang="en-US" sz="1000" dirty="0"/>
          </a:p>
        </p:txBody>
      </p:sp>
      <p:sp>
        <p:nvSpPr>
          <p:cNvPr id="8" name="Shape 6"/>
          <p:cNvSpPr/>
          <p:nvPr/>
        </p:nvSpPr>
        <p:spPr>
          <a:xfrm>
            <a:off x="4754880" y="1325880"/>
            <a:ext cx="3977640" cy="3017520"/>
          </a:xfrm>
          <a:prstGeom prst="roundRect">
            <a:avLst>
              <a:gd name="adj" fmla="val 3636"/>
            </a:avLst>
          </a:prstGeom>
          <a:solidFill>
            <a:srgbClr val="120A28"/>
          </a:solidFill>
          <a:ln w="25400">
            <a:solidFill>
              <a:srgbClr val="A78BFA"/>
            </a:solidFill>
            <a:prstDash val="solid"/>
          </a:ln>
        </p:spPr>
        <p:txBody>
          <a:bodyPr/>
          <a:lstStyle/>
          <a:p>
            <a:endParaRPr lang="en-US"/>
          </a:p>
        </p:txBody>
      </p:sp>
      <p:sp>
        <p:nvSpPr>
          <p:cNvPr id="9" name="Text 7"/>
          <p:cNvSpPr/>
          <p:nvPr/>
        </p:nvSpPr>
        <p:spPr>
          <a:xfrm>
            <a:off x="4892040" y="1463040"/>
            <a:ext cx="3657600" cy="347472"/>
          </a:xfrm>
          <a:prstGeom prst="rect">
            <a:avLst/>
          </a:prstGeom>
          <a:noFill/>
          <a:ln/>
        </p:spPr>
        <p:txBody>
          <a:bodyPr wrap="square" rtlCol="0" anchor="ctr"/>
          <a:lstStyle/>
          <a:p>
            <a:pPr marL="0" indent="0">
              <a:buNone/>
            </a:pPr>
            <a:r>
              <a:rPr lang="en-US" sz="1800" b="1" dirty="0">
                <a:solidFill>
                  <a:srgbClr val="A78BFA"/>
                </a:solidFill>
                <a:latin typeface="Calibri" pitchFamily="34" charset="0"/>
                <a:ea typeface="Calibri" pitchFamily="34" charset="-122"/>
                <a:cs typeface="Calibri" pitchFamily="34" charset="-120"/>
              </a:rPr>
              <a:t>AGI</a:t>
            </a:r>
            <a:endParaRPr lang="en-US" sz="1800" dirty="0"/>
          </a:p>
        </p:txBody>
      </p:sp>
      <p:sp>
        <p:nvSpPr>
          <p:cNvPr id="10" name="Text 8"/>
          <p:cNvSpPr/>
          <p:nvPr/>
        </p:nvSpPr>
        <p:spPr>
          <a:xfrm>
            <a:off x="4892040" y="1810512"/>
            <a:ext cx="3657600" cy="274320"/>
          </a:xfrm>
          <a:prstGeom prst="rect">
            <a:avLst/>
          </a:prstGeom>
          <a:noFill/>
          <a:ln/>
        </p:spPr>
        <p:txBody>
          <a:bodyPr wrap="square" rtlCol="0" anchor="ctr"/>
          <a:lstStyle/>
          <a:p>
            <a:pPr marL="0" indent="0">
              <a:buNone/>
            </a:pPr>
            <a:r>
              <a:rPr lang="en-US" sz="1050" i="1" dirty="0">
                <a:solidFill>
                  <a:srgbClr val="6B7280"/>
                </a:solidFill>
                <a:latin typeface="Calibri" pitchFamily="34" charset="0"/>
                <a:ea typeface="Calibri" pitchFamily="34" charset="-122"/>
                <a:cs typeface="Calibri" pitchFamily="34" charset="-120"/>
              </a:rPr>
              <a:t>Artificial General Intelligence — NOT yet achieved</a:t>
            </a:r>
            <a:endParaRPr lang="en-US" sz="1050" dirty="0"/>
          </a:p>
        </p:txBody>
      </p:sp>
      <p:sp>
        <p:nvSpPr>
          <p:cNvPr id="11" name="Text 9"/>
          <p:cNvSpPr/>
          <p:nvPr/>
        </p:nvSpPr>
        <p:spPr>
          <a:xfrm>
            <a:off x="4892040" y="2148840"/>
            <a:ext cx="3657600" cy="2057400"/>
          </a:xfrm>
          <a:prstGeom prst="rect">
            <a:avLst/>
          </a:prstGeom>
          <a:noFill/>
          <a:ln/>
        </p:spPr>
        <p:txBody>
          <a:bodyPr wrap="square" rtlCol="0" anchor="t"/>
          <a:lstStyle/>
          <a:p>
            <a:pPr marL="0" indent="0">
              <a:buNone/>
            </a:pPr>
            <a:r>
              <a:rPr lang="en-US" sz="1000" dirty="0">
                <a:solidFill>
                  <a:srgbClr val="F0F6FC"/>
                </a:solidFill>
                <a:latin typeface="Calibri" pitchFamily="34" charset="0"/>
                <a:ea typeface="Calibri" pitchFamily="34" charset="-122"/>
                <a:cs typeface="Calibri" pitchFamily="34" charset="-120"/>
              </a:rPr>
              <a:t>A system that learns, reasons, and applies knowledge across ANY domain — just like a human.</a:t>
            </a:r>
            <a:endParaRPr lang="en-US" sz="1000" dirty="0"/>
          </a:p>
          <a:p>
            <a:pPr marL="0" indent="0">
              <a:buNone/>
            </a:pPr>
            <a:endParaRPr lang="en-US" sz="1000" dirty="0"/>
          </a:p>
          <a:p>
            <a:pPr marL="0" indent="0">
              <a:buNone/>
            </a:pPr>
            <a:r>
              <a:rPr lang="en-US" sz="1000" dirty="0">
                <a:solidFill>
                  <a:srgbClr val="F0F6FC"/>
                </a:solidFill>
                <a:latin typeface="Calibri" pitchFamily="34" charset="0"/>
                <a:ea typeface="Calibri" pitchFamily="34" charset="-122"/>
                <a:cs typeface="Calibri" pitchFamily="34" charset="-120"/>
              </a:rPr>
              <a:t>• No need to retrain for new tasks</a:t>
            </a:r>
            <a:endParaRPr lang="en-US" sz="1000" dirty="0"/>
          </a:p>
          <a:p>
            <a:pPr marL="0" indent="0">
              <a:buNone/>
            </a:pPr>
            <a:r>
              <a:rPr lang="en-US" sz="1000" dirty="0">
                <a:solidFill>
                  <a:srgbClr val="F0F6FC"/>
                </a:solidFill>
                <a:latin typeface="Calibri" pitchFamily="34" charset="0"/>
                <a:ea typeface="Calibri" pitchFamily="34" charset="-122"/>
                <a:cs typeface="Calibri" pitchFamily="34" charset="-120"/>
              </a:rPr>
              <a:t>• Transfers learning between domains</a:t>
            </a:r>
            <a:endParaRPr lang="en-US" sz="1000" dirty="0"/>
          </a:p>
          <a:p>
            <a:pPr marL="0" indent="0">
              <a:buNone/>
            </a:pPr>
            <a:r>
              <a:rPr lang="en-US" sz="1000" dirty="0">
                <a:solidFill>
                  <a:srgbClr val="F0F6FC"/>
                </a:solidFill>
                <a:latin typeface="Calibri" pitchFamily="34" charset="0"/>
                <a:ea typeface="Calibri" pitchFamily="34" charset="-122"/>
                <a:cs typeface="Calibri" pitchFamily="34" charset="-120"/>
              </a:rPr>
              <a:t>• OpenAI states AGI as their mission</a:t>
            </a:r>
            <a:endParaRPr lang="en-US" sz="1000" dirty="0"/>
          </a:p>
          <a:p>
            <a:pPr marL="0" indent="0">
              <a:buNone/>
            </a:pPr>
            <a:r>
              <a:rPr lang="en-US" sz="1000" dirty="0">
                <a:solidFill>
                  <a:srgbClr val="F0F6FC"/>
                </a:solidFill>
                <a:latin typeface="Calibri" pitchFamily="34" charset="0"/>
                <a:ea typeface="Calibri" pitchFamily="34" charset="-122"/>
                <a:cs typeface="Calibri" pitchFamily="34" charset="-120"/>
              </a:rPr>
              <a:t>• No agreed timeline among researchers</a:t>
            </a:r>
            <a:endParaRPr lang="en-US" sz="1000" dirty="0"/>
          </a:p>
          <a:p>
            <a:pPr marL="0" indent="0">
              <a:buNone/>
            </a:pPr>
            <a:endParaRPr lang="en-US" sz="1000" dirty="0"/>
          </a:p>
          <a:p>
            <a:pPr marL="0" indent="0">
              <a:buNone/>
            </a:pPr>
            <a:r>
              <a:rPr lang="en-US" sz="1000" dirty="0">
                <a:solidFill>
                  <a:srgbClr val="F0F6FC"/>
                </a:solidFill>
                <a:latin typeface="Calibri" pitchFamily="34" charset="0"/>
                <a:ea typeface="Calibri" pitchFamily="34" charset="-122"/>
                <a:cs typeface="Calibri" pitchFamily="34" charset="-120"/>
              </a:rPr>
              <a:t>IEEE: The gap between Narrow AI and AGI remains the defining unsolved challenge of this generation.</a:t>
            </a:r>
            <a:endParaRPr lang="en-US" sz="1000" dirty="0"/>
          </a:p>
        </p:txBody>
      </p:sp>
      <p:sp>
        <p:nvSpPr>
          <p:cNvPr id="12" name="Text 10"/>
          <p:cNvSpPr/>
          <p:nvPr/>
        </p:nvSpPr>
        <p:spPr>
          <a:xfrm>
            <a:off x="411480" y="4828032"/>
            <a:ext cx="832104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Source: IEEE Computer Society (n.d.)</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11480" y="146304"/>
            <a:ext cx="8321040" cy="274320"/>
          </a:xfrm>
          <a:prstGeom prst="rect">
            <a:avLst/>
          </a:prstGeom>
          <a:noFill/>
          <a:ln/>
        </p:spPr>
        <p:txBody>
          <a:bodyPr wrap="square" lIns="0" tIns="0" rIns="0" bIns="0" rtlCol="0" anchor="ctr"/>
          <a:lstStyle/>
          <a:p>
            <a:pPr marL="0" indent="0">
              <a:buNone/>
            </a:pPr>
            <a:r>
              <a:rPr lang="en-US" sz="900" b="1" kern="0" spc="400" dirty="0">
                <a:solidFill>
                  <a:srgbClr val="F59E0B"/>
                </a:solidFill>
                <a:latin typeface="Calibri" pitchFamily="34" charset="0"/>
                <a:ea typeface="Calibri" pitchFamily="34" charset="-122"/>
                <a:cs typeface="Calibri" pitchFamily="34" charset="-120"/>
              </a:rPr>
              <a:t>KEY PLAYERS  •  SILICON VALLEY RIVALRIES</a:t>
            </a:r>
            <a:endParaRPr lang="en-US" sz="900" dirty="0"/>
          </a:p>
        </p:txBody>
      </p:sp>
      <p:sp>
        <p:nvSpPr>
          <p:cNvPr id="3" name="Text 1"/>
          <p:cNvSpPr/>
          <p:nvPr/>
        </p:nvSpPr>
        <p:spPr>
          <a:xfrm>
            <a:off x="411480" y="457200"/>
            <a:ext cx="8321040" cy="749808"/>
          </a:xfrm>
          <a:prstGeom prst="rect">
            <a:avLst/>
          </a:prstGeom>
          <a:noFill/>
          <a:ln/>
        </p:spPr>
        <p:txBody>
          <a:bodyPr wrap="square" lIns="0" tIns="0" rIns="0" bIns="0" rtlCol="0" anchor="ctr"/>
          <a:lstStyle/>
          <a:p>
            <a:pPr marL="0" indent="0">
              <a:buNone/>
            </a:pPr>
            <a:r>
              <a:rPr lang="en-US" sz="3600" b="1" dirty="0">
                <a:solidFill>
                  <a:srgbClr val="F0F6FC"/>
                </a:solidFill>
                <a:latin typeface="Calibri" pitchFamily="34" charset="0"/>
                <a:ea typeface="Calibri" pitchFamily="34" charset="-122"/>
                <a:cs typeface="Calibri" pitchFamily="34" charset="-120"/>
              </a:rPr>
              <a:t>The People and Companies That Drove Progress</a:t>
            </a:r>
            <a:endParaRPr lang="en-US" sz="3600" dirty="0"/>
          </a:p>
        </p:txBody>
      </p:sp>
      <p:sp>
        <p:nvSpPr>
          <p:cNvPr id="4" name="Shape 2"/>
          <p:cNvSpPr/>
          <p:nvPr/>
        </p:nvSpPr>
        <p:spPr>
          <a:xfrm>
            <a:off x="411480" y="1325880"/>
            <a:ext cx="8321040" cy="566928"/>
          </a:xfrm>
          <a:prstGeom prst="roundRect">
            <a:avLst>
              <a:gd name="adj" fmla="val 12903"/>
            </a:avLst>
          </a:prstGeom>
          <a:solidFill>
            <a:srgbClr val="1A0E00"/>
          </a:solidFill>
          <a:ln w="12700">
            <a:solidFill>
              <a:srgbClr val="F59E0B"/>
            </a:solidFill>
            <a:prstDash val="solid"/>
          </a:ln>
        </p:spPr>
        <p:txBody>
          <a:bodyPr/>
          <a:lstStyle/>
          <a:p>
            <a:endParaRPr lang="en-US"/>
          </a:p>
        </p:txBody>
      </p:sp>
      <p:sp>
        <p:nvSpPr>
          <p:cNvPr id="5" name="Text 3"/>
          <p:cNvSpPr/>
          <p:nvPr/>
        </p:nvSpPr>
        <p:spPr>
          <a:xfrm>
            <a:off x="548640" y="1408176"/>
            <a:ext cx="8046720" cy="438912"/>
          </a:xfrm>
          <a:prstGeom prst="rect">
            <a:avLst/>
          </a:prstGeom>
          <a:noFill/>
          <a:ln/>
        </p:spPr>
        <p:txBody>
          <a:bodyPr wrap="square"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Rivalry drove pace: </a:t>
            </a:r>
            <a:r>
              <a:rPr lang="en-US" sz="1000" dirty="0">
                <a:solidFill>
                  <a:srgbClr val="F0F6FC"/>
                </a:solidFill>
                <a:latin typeface="Calibri" pitchFamily="34" charset="0"/>
                <a:ea typeface="Calibri" pitchFamily="34" charset="-122"/>
                <a:cs typeface="Calibri" pitchFamily="34" charset="-120"/>
              </a:rPr>
              <a:t>Google invented Transformer → OpenAI weaponized it with GPT → Microsoft backed OpenAI ($13B) → Meta open-sourced LLaMA to disrupt both. Nvidia became the backbone every company depended on.</a:t>
            </a:r>
            <a:endParaRPr lang="en-US" sz="1000" dirty="0"/>
          </a:p>
        </p:txBody>
      </p:sp>
      <p:sp>
        <p:nvSpPr>
          <p:cNvPr id="6" name="Shape 4"/>
          <p:cNvSpPr/>
          <p:nvPr/>
        </p:nvSpPr>
        <p:spPr>
          <a:xfrm>
            <a:off x="411480" y="2011680"/>
            <a:ext cx="3977640" cy="457200"/>
          </a:xfrm>
          <a:prstGeom prst="roundRect">
            <a:avLst>
              <a:gd name="adj" fmla="val 12000"/>
            </a:avLst>
          </a:prstGeom>
          <a:solidFill>
            <a:srgbClr val="161B22"/>
          </a:solidFill>
          <a:ln w="12700">
            <a:solidFill>
              <a:srgbClr val="22D3EE"/>
            </a:solidFill>
            <a:prstDash val="solid"/>
          </a:ln>
        </p:spPr>
        <p:txBody>
          <a:bodyPr/>
          <a:lstStyle/>
          <a:p>
            <a:endParaRPr lang="en-US"/>
          </a:p>
        </p:txBody>
      </p:sp>
      <p:sp>
        <p:nvSpPr>
          <p:cNvPr id="7" name="Text 5"/>
          <p:cNvSpPr/>
          <p:nvPr/>
        </p:nvSpPr>
        <p:spPr>
          <a:xfrm>
            <a:off x="548640" y="2048256"/>
            <a:ext cx="1828800" cy="201168"/>
          </a:xfrm>
          <a:prstGeom prst="rect">
            <a:avLst/>
          </a:prstGeom>
          <a:noFill/>
          <a:ln/>
        </p:spPr>
        <p:txBody>
          <a:bodyPr wrap="square"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Alan Turing</a:t>
            </a:r>
            <a:endParaRPr lang="en-US" sz="1100" dirty="0"/>
          </a:p>
        </p:txBody>
      </p:sp>
      <p:sp>
        <p:nvSpPr>
          <p:cNvPr id="8" name="Text 6"/>
          <p:cNvSpPr/>
          <p:nvPr/>
        </p:nvSpPr>
        <p:spPr>
          <a:xfrm>
            <a:off x="548640" y="2249424"/>
            <a:ext cx="3657600" cy="18288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1950 — Defined machine intelligence</a:t>
            </a:r>
            <a:endParaRPr lang="en-US" sz="900" dirty="0"/>
          </a:p>
        </p:txBody>
      </p:sp>
      <p:sp>
        <p:nvSpPr>
          <p:cNvPr id="9" name="Shape 7"/>
          <p:cNvSpPr/>
          <p:nvPr/>
        </p:nvSpPr>
        <p:spPr>
          <a:xfrm>
            <a:off x="411480" y="2542032"/>
            <a:ext cx="3977640" cy="457200"/>
          </a:xfrm>
          <a:prstGeom prst="roundRect">
            <a:avLst>
              <a:gd name="adj" fmla="val 12000"/>
            </a:avLst>
          </a:prstGeom>
          <a:solidFill>
            <a:srgbClr val="161B22"/>
          </a:solidFill>
          <a:ln w="12700">
            <a:solidFill>
              <a:srgbClr val="4ADE80"/>
            </a:solidFill>
            <a:prstDash val="solid"/>
          </a:ln>
        </p:spPr>
        <p:txBody>
          <a:bodyPr/>
          <a:lstStyle/>
          <a:p>
            <a:endParaRPr lang="en-US"/>
          </a:p>
        </p:txBody>
      </p:sp>
      <p:sp>
        <p:nvSpPr>
          <p:cNvPr id="10" name="Text 8"/>
          <p:cNvSpPr/>
          <p:nvPr/>
        </p:nvSpPr>
        <p:spPr>
          <a:xfrm>
            <a:off x="548640" y="2578608"/>
            <a:ext cx="1828800" cy="201168"/>
          </a:xfrm>
          <a:prstGeom prst="rect">
            <a:avLst/>
          </a:prstGeom>
          <a:noFill/>
          <a:ln/>
        </p:spPr>
        <p:txBody>
          <a:bodyPr wrap="square"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Geoffrey Hinton</a:t>
            </a:r>
            <a:endParaRPr lang="en-US" sz="1100" dirty="0"/>
          </a:p>
        </p:txBody>
      </p:sp>
      <p:sp>
        <p:nvSpPr>
          <p:cNvPr id="11" name="Text 9"/>
          <p:cNvSpPr/>
          <p:nvPr/>
        </p:nvSpPr>
        <p:spPr>
          <a:xfrm>
            <a:off x="548640" y="2779776"/>
            <a:ext cx="3657600" cy="18288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Deep learning pioneer, Nobel Prize 2024</a:t>
            </a:r>
            <a:endParaRPr lang="en-US" sz="900" dirty="0"/>
          </a:p>
        </p:txBody>
      </p:sp>
      <p:sp>
        <p:nvSpPr>
          <p:cNvPr id="12" name="Shape 10"/>
          <p:cNvSpPr/>
          <p:nvPr/>
        </p:nvSpPr>
        <p:spPr>
          <a:xfrm>
            <a:off x="411480" y="3072384"/>
            <a:ext cx="3977640" cy="457200"/>
          </a:xfrm>
          <a:prstGeom prst="roundRect">
            <a:avLst>
              <a:gd name="adj" fmla="val 12000"/>
            </a:avLst>
          </a:prstGeom>
          <a:solidFill>
            <a:srgbClr val="161B22"/>
          </a:solidFill>
          <a:ln w="12700">
            <a:solidFill>
              <a:srgbClr val="4ADE80"/>
            </a:solidFill>
            <a:prstDash val="solid"/>
          </a:ln>
        </p:spPr>
        <p:txBody>
          <a:bodyPr/>
          <a:lstStyle/>
          <a:p>
            <a:endParaRPr lang="en-US"/>
          </a:p>
        </p:txBody>
      </p:sp>
      <p:sp>
        <p:nvSpPr>
          <p:cNvPr id="13" name="Text 11"/>
          <p:cNvSpPr/>
          <p:nvPr/>
        </p:nvSpPr>
        <p:spPr>
          <a:xfrm>
            <a:off x="548640" y="3108960"/>
            <a:ext cx="1828800" cy="201168"/>
          </a:xfrm>
          <a:prstGeom prst="rect">
            <a:avLst/>
          </a:prstGeom>
          <a:noFill/>
          <a:ln/>
        </p:spPr>
        <p:txBody>
          <a:bodyPr wrap="square"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Yann LeCun</a:t>
            </a:r>
            <a:endParaRPr lang="en-US" sz="1100" dirty="0"/>
          </a:p>
        </p:txBody>
      </p:sp>
      <p:sp>
        <p:nvSpPr>
          <p:cNvPr id="14" name="Text 12"/>
          <p:cNvSpPr/>
          <p:nvPr/>
        </p:nvSpPr>
        <p:spPr>
          <a:xfrm>
            <a:off x="548640" y="3310128"/>
            <a:ext cx="3657600" cy="18288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Convolutional networks, Meta AI Chief</a:t>
            </a:r>
            <a:endParaRPr lang="en-US" sz="900" dirty="0"/>
          </a:p>
        </p:txBody>
      </p:sp>
      <p:sp>
        <p:nvSpPr>
          <p:cNvPr id="15" name="Shape 13"/>
          <p:cNvSpPr/>
          <p:nvPr/>
        </p:nvSpPr>
        <p:spPr>
          <a:xfrm>
            <a:off x="411480" y="3602736"/>
            <a:ext cx="3977640" cy="457200"/>
          </a:xfrm>
          <a:prstGeom prst="roundRect">
            <a:avLst>
              <a:gd name="adj" fmla="val 12000"/>
            </a:avLst>
          </a:prstGeom>
          <a:solidFill>
            <a:srgbClr val="161B22"/>
          </a:solidFill>
          <a:ln w="12700">
            <a:solidFill>
              <a:srgbClr val="4ADE80"/>
            </a:solidFill>
            <a:prstDash val="solid"/>
          </a:ln>
        </p:spPr>
        <p:txBody>
          <a:bodyPr/>
          <a:lstStyle/>
          <a:p>
            <a:endParaRPr lang="en-US"/>
          </a:p>
        </p:txBody>
      </p:sp>
      <p:sp>
        <p:nvSpPr>
          <p:cNvPr id="16" name="Text 14"/>
          <p:cNvSpPr/>
          <p:nvPr/>
        </p:nvSpPr>
        <p:spPr>
          <a:xfrm>
            <a:off x="548640" y="3639312"/>
            <a:ext cx="1828800" cy="201168"/>
          </a:xfrm>
          <a:prstGeom prst="rect">
            <a:avLst/>
          </a:prstGeom>
          <a:noFill/>
          <a:ln/>
        </p:spPr>
        <p:txBody>
          <a:bodyPr wrap="square"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Yoshua Bengio</a:t>
            </a:r>
            <a:endParaRPr lang="en-US" sz="1100" dirty="0"/>
          </a:p>
        </p:txBody>
      </p:sp>
      <p:sp>
        <p:nvSpPr>
          <p:cNvPr id="17" name="Text 15"/>
          <p:cNvSpPr/>
          <p:nvPr/>
        </p:nvSpPr>
        <p:spPr>
          <a:xfrm>
            <a:off x="548640" y="3840480"/>
            <a:ext cx="3657600" cy="18288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Neural language models, safety advocate</a:t>
            </a:r>
            <a:endParaRPr lang="en-US" sz="900" dirty="0"/>
          </a:p>
        </p:txBody>
      </p:sp>
      <p:sp>
        <p:nvSpPr>
          <p:cNvPr id="18" name="Shape 16"/>
          <p:cNvSpPr/>
          <p:nvPr/>
        </p:nvSpPr>
        <p:spPr>
          <a:xfrm>
            <a:off x="411480" y="4133088"/>
            <a:ext cx="3977640" cy="457200"/>
          </a:xfrm>
          <a:prstGeom prst="roundRect">
            <a:avLst>
              <a:gd name="adj" fmla="val 12000"/>
            </a:avLst>
          </a:prstGeom>
          <a:solidFill>
            <a:srgbClr val="161B22"/>
          </a:solidFill>
          <a:ln w="12700">
            <a:solidFill>
              <a:srgbClr val="4ADE80"/>
            </a:solidFill>
            <a:prstDash val="solid"/>
          </a:ln>
        </p:spPr>
        <p:txBody>
          <a:bodyPr/>
          <a:lstStyle/>
          <a:p>
            <a:endParaRPr lang="en-US"/>
          </a:p>
        </p:txBody>
      </p:sp>
      <p:sp>
        <p:nvSpPr>
          <p:cNvPr id="19" name="Text 17"/>
          <p:cNvSpPr/>
          <p:nvPr/>
        </p:nvSpPr>
        <p:spPr>
          <a:xfrm>
            <a:off x="548640" y="4169664"/>
            <a:ext cx="1828800" cy="201168"/>
          </a:xfrm>
          <a:prstGeom prst="rect">
            <a:avLst/>
          </a:prstGeom>
          <a:noFill/>
          <a:ln/>
        </p:spPr>
        <p:txBody>
          <a:bodyPr wrap="square"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Ian Goodfellow</a:t>
            </a:r>
            <a:endParaRPr lang="en-US" sz="1100" dirty="0"/>
          </a:p>
        </p:txBody>
      </p:sp>
      <p:sp>
        <p:nvSpPr>
          <p:cNvPr id="20" name="Text 18"/>
          <p:cNvSpPr/>
          <p:nvPr/>
        </p:nvSpPr>
        <p:spPr>
          <a:xfrm>
            <a:off x="548640" y="4370832"/>
            <a:ext cx="3657600" cy="18288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Invented GANs — synthetic data generation</a:t>
            </a:r>
            <a:endParaRPr lang="en-US" sz="900" dirty="0"/>
          </a:p>
        </p:txBody>
      </p:sp>
      <p:sp>
        <p:nvSpPr>
          <p:cNvPr id="21" name="Shape 19"/>
          <p:cNvSpPr/>
          <p:nvPr/>
        </p:nvSpPr>
        <p:spPr>
          <a:xfrm>
            <a:off x="4754880" y="2011680"/>
            <a:ext cx="3977640" cy="457200"/>
          </a:xfrm>
          <a:prstGeom prst="roundRect">
            <a:avLst>
              <a:gd name="adj" fmla="val 12000"/>
            </a:avLst>
          </a:prstGeom>
          <a:solidFill>
            <a:srgbClr val="161B22"/>
          </a:solidFill>
          <a:ln w="12700">
            <a:solidFill>
              <a:srgbClr val="A78BFA"/>
            </a:solidFill>
            <a:prstDash val="solid"/>
          </a:ln>
        </p:spPr>
        <p:txBody>
          <a:bodyPr/>
          <a:lstStyle/>
          <a:p>
            <a:endParaRPr lang="en-US"/>
          </a:p>
        </p:txBody>
      </p:sp>
      <p:sp>
        <p:nvSpPr>
          <p:cNvPr id="22" name="Text 20"/>
          <p:cNvSpPr/>
          <p:nvPr/>
        </p:nvSpPr>
        <p:spPr>
          <a:xfrm>
            <a:off x="4892040" y="2048256"/>
            <a:ext cx="2011680" cy="201168"/>
          </a:xfrm>
          <a:prstGeom prst="rect">
            <a:avLst/>
          </a:prstGeom>
          <a:noFill/>
          <a:ln/>
        </p:spPr>
        <p:txBody>
          <a:bodyPr wrap="square"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Google / DeepMind</a:t>
            </a:r>
            <a:endParaRPr lang="en-US" sz="1100" dirty="0"/>
          </a:p>
        </p:txBody>
      </p:sp>
      <p:sp>
        <p:nvSpPr>
          <p:cNvPr id="23" name="Text 21"/>
          <p:cNvSpPr/>
          <p:nvPr/>
        </p:nvSpPr>
        <p:spPr>
          <a:xfrm>
            <a:off x="4892040" y="2249424"/>
            <a:ext cx="3566160" cy="18288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Transformer, AlphaGo, Gemini</a:t>
            </a:r>
            <a:endParaRPr lang="en-US" sz="900" dirty="0"/>
          </a:p>
        </p:txBody>
      </p:sp>
      <p:sp>
        <p:nvSpPr>
          <p:cNvPr id="24" name="Shape 22"/>
          <p:cNvSpPr/>
          <p:nvPr/>
        </p:nvSpPr>
        <p:spPr>
          <a:xfrm>
            <a:off x="4754880" y="2542032"/>
            <a:ext cx="3977640" cy="457200"/>
          </a:xfrm>
          <a:prstGeom prst="roundRect">
            <a:avLst>
              <a:gd name="adj" fmla="val 12000"/>
            </a:avLst>
          </a:prstGeom>
          <a:solidFill>
            <a:srgbClr val="161B22"/>
          </a:solidFill>
          <a:ln w="12700">
            <a:solidFill>
              <a:srgbClr val="A78BFA"/>
            </a:solidFill>
            <a:prstDash val="solid"/>
          </a:ln>
        </p:spPr>
        <p:txBody>
          <a:bodyPr/>
          <a:lstStyle/>
          <a:p>
            <a:endParaRPr lang="en-US"/>
          </a:p>
        </p:txBody>
      </p:sp>
      <p:sp>
        <p:nvSpPr>
          <p:cNvPr id="25" name="Text 23"/>
          <p:cNvSpPr/>
          <p:nvPr/>
        </p:nvSpPr>
        <p:spPr>
          <a:xfrm>
            <a:off x="4892040" y="2578608"/>
            <a:ext cx="2011680" cy="201168"/>
          </a:xfrm>
          <a:prstGeom prst="rect">
            <a:avLst/>
          </a:prstGeom>
          <a:noFill/>
          <a:ln/>
        </p:spPr>
        <p:txBody>
          <a:bodyPr wrap="square"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Google</a:t>
            </a:r>
            <a:endParaRPr lang="en-US" sz="1100" dirty="0"/>
          </a:p>
        </p:txBody>
      </p:sp>
      <p:sp>
        <p:nvSpPr>
          <p:cNvPr id="26" name="Text 24"/>
          <p:cNvSpPr/>
          <p:nvPr/>
        </p:nvSpPr>
        <p:spPr>
          <a:xfrm>
            <a:off x="4892040" y="2779776"/>
            <a:ext cx="3566160" cy="18288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AlexNet, Google Brain, Turing Award</a:t>
            </a:r>
            <a:endParaRPr lang="en-US" sz="900" dirty="0"/>
          </a:p>
        </p:txBody>
      </p:sp>
      <p:sp>
        <p:nvSpPr>
          <p:cNvPr id="27" name="Shape 25"/>
          <p:cNvSpPr/>
          <p:nvPr/>
        </p:nvSpPr>
        <p:spPr>
          <a:xfrm>
            <a:off x="4754880" y="3072384"/>
            <a:ext cx="3977640" cy="457200"/>
          </a:xfrm>
          <a:prstGeom prst="roundRect">
            <a:avLst>
              <a:gd name="adj" fmla="val 12000"/>
            </a:avLst>
          </a:prstGeom>
          <a:solidFill>
            <a:srgbClr val="161B22"/>
          </a:solidFill>
          <a:ln w="12700">
            <a:solidFill>
              <a:srgbClr val="A78BFA"/>
            </a:solidFill>
            <a:prstDash val="solid"/>
          </a:ln>
        </p:spPr>
        <p:txBody>
          <a:bodyPr/>
          <a:lstStyle/>
          <a:p>
            <a:endParaRPr lang="en-US"/>
          </a:p>
        </p:txBody>
      </p:sp>
      <p:sp>
        <p:nvSpPr>
          <p:cNvPr id="28" name="Text 26"/>
          <p:cNvSpPr/>
          <p:nvPr/>
        </p:nvSpPr>
        <p:spPr>
          <a:xfrm>
            <a:off x="4892040" y="3108960"/>
            <a:ext cx="2011680" cy="201168"/>
          </a:xfrm>
          <a:prstGeom prst="rect">
            <a:avLst/>
          </a:prstGeom>
          <a:noFill/>
          <a:ln/>
        </p:spPr>
        <p:txBody>
          <a:bodyPr wrap="square"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Meta AI (2013–2025)</a:t>
            </a:r>
            <a:endParaRPr lang="en-US" sz="1100" dirty="0"/>
          </a:p>
        </p:txBody>
      </p:sp>
      <p:sp>
        <p:nvSpPr>
          <p:cNvPr id="29" name="Text 27"/>
          <p:cNvSpPr/>
          <p:nvPr/>
        </p:nvSpPr>
        <p:spPr>
          <a:xfrm>
            <a:off x="4892040" y="3310128"/>
            <a:ext cx="3566160" cy="18288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LLaMA — open source disruption</a:t>
            </a:r>
            <a:endParaRPr lang="en-US" sz="900" dirty="0"/>
          </a:p>
        </p:txBody>
      </p:sp>
      <p:sp>
        <p:nvSpPr>
          <p:cNvPr id="30" name="Shape 28"/>
          <p:cNvSpPr/>
          <p:nvPr/>
        </p:nvSpPr>
        <p:spPr>
          <a:xfrm>
            <a:off x="4754880" y="3602736"/>
            <a:ext cx="3977640" cy="457200"/>
          </a:xfrm>
          <a:prstGeom prst="roundRect">
            <a:avLst>
              <a:gd name="adj" fmla="val 12000"/>
            </a:avLst>
          </a:prstGeom>
          <a:solidFill>
            <a:srgbClr val="161B22"/>
          </a:solidFill>
          <a:ln w="12700">
            <a:solidFill>
              <a:srgbClr val="A78BFA"/>
            </a:solidFill>
            <a:prstDash val="solid"/>
          </a:ln>
        </p:spPr>
        <p:txBody>
          <a:bodyPr/>
          <a:lstStyle/>
          <a:p>
            <a:endParaRPr lang="en-US"/>
          </a:p>
        </p:txBody>
      </p:sp>
      <p:sp>
        <p:nvSpPr>
          <p:cNvPr id="31" name="Text 29"/>
          <p:cNvSpPr/>
          <p:nvPr/>
        </p:nvSpPr>
        <p:spPr>
          <a:xfrm>
            <a:off x="4892040" y="3639312"/>
            <a:ext cx="2011680" cy="201168"/>
          </a:xfrm>
          <a:prstGeom prst="rect">
            <a:avLst/>
          </a:prstGeom>
          <a:noFill/>
          <a:ln/>
        </p:spPr>
        <p:txBody>
          <a:bodyPr wrap="square"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Mila / Independent</a:t>
            </a:r>
            <a:endParaRPr lang="en-US" sz="1100" dirty="0"/>
          </a:p>
        </p:txBody>
      </p:sp>
      <p:sp>
        <p:nvSpPr>
          <p:cNvPr id="32" name="Text 30"/>
          <p:cNvSpPr/>
          <p:nvPr/>
        </p:nvSpPr>
        <p:spPr>
          <a:xfrm>
            <a:off x="4892040" y="3840480"/>
            <a:ext cx="3566160" cy="18288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Turing Award 2018, AI safety advocacy</a:t>
            </a:r>
            <a:endParaRPr lang="en-US" sz="900" dirty="0"/>
          </a:p>
        </p:txBody>
      </p:sp>
      <p:sp>
        <p:nvSpPr>
          <p:cNvPr id="33" name="Shape 31"/>
          <p:cNvSpPr/>
          <p:nvPr/>
        </p:nvSpPr>
        <p:spPr>
          <a:xfrm>
            <a:off x="4754880" y="4133088"/>
            <a:ext cx="3977640" cy="457200"/>
          </a:xfrm>
          <a:prstGeom prst="roundRect">
            <a:avLst>
              <a:gd name="adj" fmla="val 12000"/>
            </a:avLst>
          </a:prstGeom>
          <a:solidFill>
            <a:srgbClr val="161B22"/>
          </a:solidFill>
          <a:ln w="12700">
            <a:solidFill>
              <a:srgbClr val="F59E0B"/>
            </a:solidFill>
            <a:prstDash val="solid"/>
          </a:ln>
        </p:spPr>
        <p:txBody>
          <a:bodyPr/>
          <a:lstStyle/>
          <a:p>
            <a:endParaRPr lang="en-US"/>
          </a:p>
        </p:txBody>
      </p:sp>
      <p:sp>
        <p:nvSpPr>
          <p:cNvPr id="34" name="Text 32"/>
          <p:cNvSpPr/>
          <p:nvPr/>
        </p:nvSpPr>
        <p:spPr>
          <a:xfrm>
            <a:off x="4892040" y="4169664"/>
            <a:ext cx="2011680" cy="201168"/>
          </a:xfrm>
          <a:prstGeom prst="rect">
            <a:avLst/>
          </a:prstGeom>
          <a:noFill/>
          <a:ln/>
        </p:spPr>
        <p:txBody>
          <a:bodyPr wrap="square"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OpenAI (early team)</a:t>
            </a:r>
            <a:endParaRPr lang="en-US" sz="1100" dirty="0"/>
          </a:p>
        </p:txBody>
      </p:sp>
      <p:sp>
        <p:nvSpPr>
          <p:cNvPr id="35" name="Text 33"/>
          <p:cNvSpPr/>
          <p:nvPr/>
        </p:nvSpPr>
        <p:spPr>
          <a:xfrm>
            <a:off x="4892040" y="4370832"/>
            <a:ext cx="3566160" cy="18288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GPT foundations, early OpenAI research</a:t>
            </a:r>
            <a:endParaRPr lang="en-US" sz="900" dirty="0"/>
          </a:p>
        </p:txBody>
      </p:sp>
      <p:sp>
        <p:nvSpPr>
          <p:cNvPr id="36" name="Text 34"/>
          <p:cNvSpPr/>
          <p:nvPr/>
        </p:nvSpPr>
        <p:spPr>
          <a:xfrm>
            <a:off x="411480" y="4828032"/>
            <a:ext cx="832104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Sources: Putchuon (2024); IEEE Computer Society (n.d.)</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11480" y="118872"/>
            <a:ext cx="8321040" cy="292608"/>
          </a:xfrm>
          <a:prstGeom prst="rect">
            <a:avLst/>
          </a:prstGeom>
          <a:noFill/>
          <a:ln/>
        </p:spPr>
        <p:txBody>
          <a:bodyPr wrap="square" rtlCol="0" anchor="ctr"/>
          <a:lstStyle/>
          <a:p>
            <a:pPr marL="0" indent="0" algn="ctr">
              <a:buNone/>
            </a:pPr>
            <a:r>
              <a:rPr lang="en-US" sz="1000" b="1" kern="0" spc="500" dirty="0">
                <a:solidFill>
                  <a:srgbClr val="22D3EE"/>
                </a:solidFill>
                <a:latin typeface="Calibri" pitchFamily="34" charset="0"/>
                <a:ea typeface="Calibri" pitchFamily="34" charset="-122"/>
                <a:cs typeface="Calibri" pitchFamily="34" charset="-120"/>
              </a:rPr>
              <a:t>THANK YOU</a:t>
            </a:r>
            <a:endParaRPr lang="en-US" sz="1000" dirty="0"/>
          </a:p>
        </p:txBody>
      </p:sp>
      <p:sp>
        <p:nvSpPr>
          <p:cNvPr id="3" name="Text 1"/>
          <p:cNvSpPr/>
          <p:nvPr/>
        </p:nvSpPr>
        <p:spPr>
          <a:xfrm>
            <a:off x="411480" y="502920"/>
            <a:ext cx="8321040" cy="658368"/>
          </a:xfrm>
          <a:prstGeom prst="rect">
            <a:avLst/>
          </a:prstGeom>
          <a:noFill/>
          <a:ln/>
        </p:spPr>
        <p:txBody>
          <a:bodyPr wrap="square" rtlCol="0" anchor="ctr"/>
          <a:lstStyle/>
          <a:p>
            <a:pPr marL="0" indent="0" algn="ctr">
              <a:buNone/>
            </a:pPr>
            <a:r>
              <a:rPr lang="en-US" sz="3200" b="1" dirty="0">
                <a:solidFill>
                  <a:srgbClr val="F0F6FC"/>
                </a:solidFill>
                <a:latin typeface="Calibri" pitchFamily="34" charset="0"/>
                <a:ea typeface="Calibri" pitchFamily="34" charset="-122"/>
                <a:cs typeface="Calibri" pitchFamily="34" charset="-120"/>
              </a:rPr>
              <a:t>What This Timeline Teaches Us</a:t>
            </a:r>
            <a:endParaRPr lang="en-US" sz="3200" dirty="0"/>
          </a:p>
        </p:txBody>
      </p:sp>
      <p:sp>
        <p:nvSpPr>
          <p:cNvPr id="4" name="Shape 2"/>
          <p:cNvSpPr/>
          <p:nvPr/>
        </p:nvSpPr>
        <p:spPr>
          <a:xfrm>
            <a:off x="411480" y="1261872"/>
            <a:ext cx="4069080" cy="1298448"/>
          </a:xfrm>
          <a:prstGeom prst="roundRect">
            <a:avLst>
              <a:gd name="adj" fmla="val 7042"/>
            </a:avLst>
          </a:prstGeom>
          <a:solidFill>
            <a:srgbClr val="161B22"/>
          </a:solidFill>
          <a:ln w="12700">
            <a:solidFill>
              <a:srgbClr val="22D3EE"/>
            </a:solidFill>
            <a:prstDash val="solid"/>
          </a:ln>
          <a:effectLst>
            <a:outerShdw blurRad="76200" dist="25400" dir="2700000" algn="bl" rotWithShape="0">
              <a:srgbClr val="000000">
                <a:alpha val="20000"/>
              </a:srgbClr>
            </a:outerShdw>
          </a:effectLst>
        </p:spPr>
        <p:txBody>
          <a:bodyPr/>
          <a:lstStyle/>
          <a:p>
            <a:endParaRPr lang="en-US"/>
          </a:p>
        </p:txBody>
      </p:sp>
      <p:sp>
        <p:nvSpPr>
          <p:cNvPr id="5" name="Shape 3"/>
          <p:cNvSpPr/>
          <p:nvPr/>
        </p:nvSpPr>
        <p:spPr>
          <a:xfrm>
            <a:off x="548640" y="1737360"/>
            <a:ext cx="347472" cy="347472"/>
          </a:xfrm>
          <a:prstGeom prst="ellipse">
            <a:avLst/>
          </a:prstGeom>
          <a:solidFill>
            <a:srgbClr val="22D3EE"/>
          </a:solidFill>
          <a:ln/>
        </p:spPr>
        <p:txBody>
          <a:bodyPr/>
          <a:lstStyle/>
          <a:p>
            <a:endParaRPr lang="en-US"/>
          </a:p>
        </p:txBody>
      </p:sp>
      <p:sp>
        <p:nvSpPr>
          <p:cNvPr id="6" name="Text 4"/>
          <p:cNvSpPr/>
          <p:nvPr/>
        </p:nvSpPr>
        <p:spPr>
          <a:xfrm>
            <a:off x="548640" y="1737360"/>
            <a:ext cx="347472" cy="347472"/>
          </a:xfrm>
          <a:prstGeom prst="rect">
            <a:avLst/>
          </a:prstGeom>
          <a:noFill/>
          <a:ln/>
        </p:spPr>
        <p:txBody>
          <a:bodyPr wrap="square" lIns="0" tIns="0" rIns="0" bIns="0" rtlCol="0" anchor="ctr"/>
          <a:lstStyle/>
          <a:p>
            <a:pPr marL="0" indent="0" algn="ctr">
              <a:buNone/>
            </a:pPr>
            <a:r>
              <a:rPr lang="en-US" sz="1000" b="1" dirty="0">
                <a:solidFill>
                  <a:srgbClr val="0D1117"/>
                </a:solidFill>
                <a:latin typeface="Calibri" pitchFamily="34" charset="0"/>
                <a:ea typeface="Calibri" pitchFamily="34" charset="-122"/>
                <a:cs typeface="Calibri" pitchFamily="34" charset="-120"/>
              </a:rPr>
              <a:t>01</a:t>
            </a:r>
            <a:endParaRPr lang="en-US" sz="1000" dirty="0"/>
          </a:p>
        </p:txBody>
      </p:sp>
      <p:sp>
        <p:nvSpPr>
          <p:cNvPr id="7" name="Text 5"/>
          <p:cNvSpPr/>
          <p:nvPr/>
        </p:nvSpPr>
        <p:spPr>
          <a:xfrm>
            <a:off x="1005840" y="1517904"/>
            <a:ext cx="3337560" cy="804672"/>
          </a:xfrm>
          <a:prstGeom prst="rect">
            <a:avLst/>
          </a:prstGeom>
          <a:noFill/>
          <a:ln/>
        </p:spPr>
        <p:txBody>
          <a:bodyPr wrap="square" rtlCol="0" anchor="ctr"/>
          <a:lstStyle/>
          <a:p>
            <a:pPr marL="0" indent="0">
              <a:buNone/>
            </a:pPr>
            <a:r>
              <a:rPr lang="en-US" sz="1050" dirty="0">
                <a:solidFill>
                  <a:srgbClr val="F0F6FC"/>
                </a:solidFill>
                <a:latin typeface="Calibri" pitchFamily="34" charset="0"/>
                <a:ea typeface="Calibri" pitchFamily="34" charset="-122"/>
                <a:cs typeface="Calibri" pitchFamily="34" charset="-120"/>
              </a:rPr>
              <a:t>AI progress is not linear. Two winters prove hype without hardware leads to collapse.</a:t>
            </a:r>
            <a:endParaRPr lang="en-US" sz="1050" dirty="0"/>
          </a:p>
        </p:txBody>
      </p:sp>
      <p:sp>
        <p:nvSpPr>
          <p:cNvPr id="8" name="Shape 6"/>
          <p:cNvSpPr/>
          <p:nvPr/>
        </p:nvSpPr>
        <p:spPr>
          <a:xfrm>
            <a:off x="4663440" y="1261872"/>
            <a:ext cx="4069080" cy="1298448"/>
          </a:xfrm>
          <a:prstGeom prst="roundRect">
            <a:avLst>
              <a:gd name="adj" fmla="val 7042"/>
            </a:avLst>
          </a:prstGeom>
          <a:solidFill>
            <a:srgbClr val="161B22"/>
          </a:solidFill>
          <a:ln w="12700">
            <a:solidFill>
              <a:srgbClr val="4ADE80"/>
            </a:solidFill>
            <a:prstDash val="solid"/>
          </a:ln>
          <a:effectLst>
            <a:outerShdw blurRad="76200" dist="25400" dir="2700000" algn="bl" rotWithShape="0">
              <a:srgbClr val="000000">
                <a:alpha val="20000"/>
              </a:srgbClr>
            </a:outerShdw>
          </a:effectLst>
        </p:spPr>
        <p:txBody>
          <a:bodyPr/>
          <a:lstStyle/>
          <a:p>
            <a:endParaRPr lang="en-US"/>
          </a:p>
        </p:txBody>
      </p:sp>
      <p:sp>
        <p:nvSpPr>
          <p:cNvPr id="9" name="Shape 7"/>
          <p:cNvSpPr/>
          <p:nvPr/>
        </p:nvSpPr>
        <p:spPr>
          <a:xfrm>
            <a:off x="4800600" y="1737360"/>
            <a:ext cx="347472" cy="347472"/>
          </a:xfrm>
          <a:prstGeom prst="ellipse">
            <a:avLst/>
          </a:prstGeom>
          <a:solidFill>
            <a:srgbClr val="4ADE80"/>
          </a:solidFill>
          <a:ln/>
        </p:spPr>
        <p:txBody>
          <a:bodyPr/>
          <a:lstStyle/>
          <a:p>
            <a:endParaRPr lang="en-US"/>
          </a:p>
        </p:txBody>
      </p:sp>
      <p:sp>
        <p:nvSpPr>
          <p:cNvPr id="10" name="Text 8"/>
          <p:cNvSpPr/>
          <p:nvPr/>
        </p:nvSpPr>
        <p:spPr>
          <a:xfrm>
            <a:off x="4800600" y="1737360"/>
            <a:ext cx="347472" cy="347472"/>
          </a:xfrm>
          <a:prstGeom prst="rect">
            <a:avLst/>
          </a:prstGeom>
          <a:noFill/>
          <a:ln/>
        </p:spPr>
        <p:txBody>
          <a:bodyPr wrap="square" lIns="0" tIns="0" rIns="0" bIns="0" rtlCol="0" anchor="ctr"/>
          <a:lstStyle/>
          <a:p>
            <a:pPr marL="0" indent="0" algn="ctr">
              <a:buNone/>
            </a:pPr>
            <a:r>
              <a:rPr lang="en-US" sz="1000" b="1" dirty="0">
                <a:solidFill>
                  <a:srgbClr val="0D1117"/>
                </a:solidFill>
                <a:latin typeface="Calibri" pitchFamily="34" charset="0"/>
                <a:ea typeface="Calibri" pitchFamily="34" charset="-122"/>
                <a:cs typeface="Calibri" pitchFamily="34" charset="-120"/>
              </a:rPr>
              <a:t>02</a:t>
            </a:r>
            <a:endParaRPr lang="en-US" sz="1000" dirty="0"/>
          </a:p>
        </p:txBody>
      </p:sp>
      <p:sp>
        <p:nvSpPr>
          <p:cNvPr id="11" name="Text 9"/>
          <p:cNvSpPr/>
          <p:nvPr/>
        </p:nvSpPr>
        <p:spPr>
          <a:xfrm>
            <a:off x="5257800" y="1517904"/>
            <a:ext cx="3337560" cy="804672"/>
          </a:xfrm>
          <a:prstGeom prst="rect">
            <a:avLst/>
          </a:prstGeom>
          <a:noFill/>
          <a:ln/>
        </p:spPr>
        <p:txBody>
          <a:bodyPr wrap="square" rtlCol="0" anchor="ctr"/>
          <a:lstStyle/>
          <a:p>
            <a:pPr marL="0" indent="0">
              <a:buNone/>
            </a:pPr>
            <a:r>
              <a:rPr lang="en-US" sz="1050" dirty="0">
                <a:solidFill>
                  <a:srgbClr val="F0F6FC"/>
                </a:solidFill>
                <a:latin typeface="Calibri" pitchFamily="34" charset="0"/>
                <a:ea typeface="Calibri" pitchFamily="34" charset="-122"/>
                <a:cs typeface="Calibri" pitchFamily="34" charset="-120"/>
              </a:rPr>
              <a:t>Hardware mattered as much as math. Deep learning theory existed in the 1980s. GPUs made it real in 2012.</a:t>
            </a:r>
            <a:endParaRPr lang="en-US" sz="1050" dirty="0"/>
          </a:p>
        </p:txBody>
      </p:sp>
      <p:sp>
        <p:nvSpPr>
          <p:cNvPr id="12" name="Shape 10"/>
          <p:cNvSpPr/>
          <p:nvPr/>
        </p:nvSpPr>
        <p:spPr>
          <a:xfrm>
            <a:off x="411480" y="2724912"/>
            <a:ext cx="4069080" cy="1298448"/>
          </a:xfrm>
          <a:prstGeom prst="roundRect">
            <a:avLst>
              <a:gd name="adj" fmla="val 7042"/>
            </a:avLst>
          </a:prstGeom>
          <a:solidFill>
            <a:srgbClr val="161B22"/>
          </a:solidFill>
          <a:ln w="12700">
            <a:solidFill>
              <a:srgbClr val="F59E0B"/>
            </a:solidFill>
            <a:prstDash val="solid"/>
          </a:ln>
          <a:effectLst>
            <a:outerShdw blurRad="76200" dist="25400" dir="2700000" algn="bl" rotWithShape="0">
              <a:srgbClr val="000000">
                <a:alpha val="20000"/>
              </a:srgbClr>
            </a:outerShdw>
          </a:effectLst>
        </p:spPr>
        <p:txBody>
          <a:bodyPr/>
          <a:lstStyle/>
          <a:p>
            <a:endParaRPr lang="en-US"/>
          </a:p>
        </p:txBody>
      </p:sp>
      <p:sp>
        <p:nvSpPr>
          <p:cNvPr id="13" name="Shape 11"/>
          <p:cNvSpPr/>
          <p:nvPr/>
        </p:nvSpPr>
        <p:spPr>
          <a:xfrm>
            <a:off x="548640" y="3200400"/>
            <a:ext cx="347472" cy="347472"/>
          </a:xfrm>
          <a:prstGeom prst="ellipse">
            <a:avLst/>
          </a:prstGeom>
          <a:solidFill>
            <a:srgbClr val="F59E0B"/>
          </a:solidFill>
          <a:ln/>
        </p:spPr>
        <p:txBody>
          <a:bodyPr/>
          <a:lstStyle/>
          <a:p>
            <a:endParaRPr lang="en-US"/>
          </a:p>
        </p:txBody>
      </p:sp>
      <p:sp>
        <p:nvSpPr>
          <p:cNvPr id="14" name="Text 12"/>
          <p:cNvSpPr/>
          <p:nvPr/>
        </p:nvSpPr>
        <p:spPr>
          <a:xfrm>
            <a:off x="548640" y="3200400"/>
            <a:ext cx="347472" cy="347472"/>
          </a:xfrm>
          <a:prstGeom prst="rect">
            <a:avLst/>
          </a:prstGeom>
          <a:noFill/>
          <a:ln/>
        </p:spPr>
        <p:txBody>
          <a:bodyPr wrap="square" lIns="0" tIns="0" rIns="0" bIns="0" rtlCol="0" anchor="ctr"/>
          <a:lstStyle/>
          <a:p>
            <a:pPr marL="0" indent="0" algn="ctr">
              <a:buNone/>
            </a:pPr>
            <a:r>
              <a:rPr lang="en-US" sz="1000" b="1" dirty="0">
                <a:solidFill>
                  <a:srgbClr val="0D1117"/>
                </a:solidFill>
                <a:latin typeface="Calibri" pitchFamily="34" charset="0"/>
                <a:ea typeface="Calibri" pitchFamily="34" charset="-122"/>
                <a:cs typeface="Calibri" pitchFamily="34" charset="-120"/>
              </a:rPr>
              <a:t>03</a:t>
            </a:r>
            <a:endParaRPr lang="en-US" sz="1000" dirty="0"/>
          </a:p>
        </p:txBody>
      </p:sp>
      <p:sp>
        <p:nvSpPr>
          <p:cNvPr id="15" name="Text 13"/>
          <p:cNvSpPr/>
          <p:nvPr/>
        </p:nvSpPr>
        <p:spPr>
          <a:xfrm>
            <a:off x="1005840" y="2980944"/>
            <a:ext cx="3337560" cy="804672"/>
          </a:xfrm>
          <a:prstGeom prst="rect">
            <a:avLst/>
          </a:prstGeom>
          <a:noFill/>
          <a:ln/>
        </p:spPr>
        <p:txBody>
          <a:bodyPr wrap="square" rtlCol="0" anchor="ctr"/>
          <a:lstStyle/>
          <a:p>
            <a:pPr marL="0" indent="0">
              <a:buNone/>
            </a:pPr>
            <a:r>
              <a:rPr lang="en-US" sz="1050" dirty="0">
                <a:solidFill>
                  <a:srgbClr val="F0F6FC"/>
                </a:solidFill>
                <a:latin typeface="Calibri" pitchFamily="34" charset="0"/>
                <a:ea typeface="Calibri" pitchFamily="34" charset="-122"/>
                <a:cs typeface="Calibri" pitchFamily="34" charset="-120"/>
              </a:rPr>
              <a:t>Three researchers worked through both winters with no funding. Hinton, Bengio, LeCun created today's AI.</a:t>
            </a:r>
            <a:endParaRPr lang="en-US" sz="1050" dirty="0"/>
          </a:p>
        </p:txBody>
      </p:sp>
      <p:sp>
        <p:nvSpPr>
          <p:cNvPr id="16" name="Shape 14"/>
          <p:cNvSpPr/>
          <p:nvPr/>
        </p:nvSpPr>
        <p:spPr>
          <a:xfrm>
            <a:off x="4663440" y="2724912"/>
            <a:ext cx="4069080" cy="1298448"/>
          </a:xfrm>
          <a:prstGeom prst="roundRect">
            <a:avLst>
              <a:gd name="adj" fmla="val 7042"/>
            </a:avLst>
          </a:prstGeom>
          <a:solidFill>
            <a:srgbClr val="161B22"/>
          </a:solidFill>
          <a:ln w="12700">
            <a:solidFill>
              <a:srgbClr val="A78BFA"/>
            </a:solidFill>
            <a:prstDash val="solid"/>
          </a:ln>
          <a:effectLst>
            <a:outerShdw blurRad="76200" dist="25400" dir="2700000" algn="bl" rotWithShape="0">
              <a:srgbClr val="000000">
                <a:alpha val="20000"/>
              </a:srgbClr>
            </a:outerShdw>
          </a:effectLst>
        </p:spPr>
        <p:txBody>
          <a:bodyPr/>
          <a:lstStyle/>
          <a:p>
            <a:endParaRPr lang="en-US"/>
          </a:p>
        </p:txBody>
      </p:sp>
      <p:sp>
        <p:nvSpPr>
          <p:cNvPr id="17" name="Shape 15"/>
          <p:cNvSpPr/>
          <p:nvPr/>
        </p:nvSpPr>
        <p:spPr>
          <a:xfrm>
            <a:off x="4800600" y="3200400"/>
            <a:ext cx="347472" cy="347472"/>
          </a:xfrm>
          <a:prstGeom prst="ellipse">
            <a:avLst/>
          </a:prstGeom>
          <a:solidFill>
            <a:srgbClr val="A78BFA"/>
          </a:solidFill>
          <a:ln/>
        </p:spPr>
        <p:txBody>
          <a:bodyPr/>
          <a:lstStyle/>
          <a:p>
            <a:endParaRPr lang="en-US"/>
          </a:p>
        </p:txBody>
      </p:sp>
      <p:sp>
        <p:nvSpPr>
          <p:cNvPr id="18" name="Text 16"/>
          <p:cNvSpPr/>
          <p:nvPr/>
        </p:nvSpPr>
        <p:spPr>
          <a:xfrm>
            <a:off x="4800600" y="3200400"/>
            <a:ext cx="347472" cy="347472"/>
          </a:xfrm>
          <a:prstGeom prst="rect">
            <a:avLst/>
          </a:prstGeom>
          <a:noFill/>
          <a:ln/>
        </p:spPr>
        <p:txBody>
          <a:bodyPr wrap="square" lIns="0" tIns="0" rIns="0" bIns="0" rtlCol="0" anchor="ctr"/>
          <a:lstStyle/>
          <a:p>
            <a:pPr marL="0" indent="0" algn="ctr">
              <a:buNone/>
            </a:pPr>
            <a:r>
              <a:rPr lang="en-US" sz="1000" b="1" dirty="0">
                <a:solidFill>
                  <a:srgbClr val="0D1117"/>
                </a:solidFill>
                <a:latin typeface="Calibri" pitchFamily="34" charset="0"/>
                <a:ea typeface="Calibri" pitchFamily="34" charset="-122"/>
                <a:cs typeface="Calibri" pitchFamily="34" charset="-120"/>
              </a:rPr>
              <a:t>04</a:t>
            </a:r>
            <a:endParaRPr lang="en-US" sz="1000" dirty="0"/>
          </a:p>
        </p:txBody>
      </p:sp>
      <p:sp>
        <p:nvSpPr>
          <p:cNvPr id="19" name="Text 17"/>
          <p:cNvSpPr/>
          <p:nvPr/>
        </p:nvSpPr>
        <p:spPr>
          <a:xfrm>
            <a:off x="5257800" y="2980944"/>
            <a:ext cx="3337560" cy="804672"/>
          </a:xfrm>
          <a:prstGeom prst="rect">
            <a:avLst/>
          </a:prstGeom>
          <a:noFill/>
          <a:ln/>
        </p:spPr>
        <p:txBody>
          <a:bodyPr wrap="square" rtlCol="0" anchor="ctr"/>
          <a:lstStyle/>
          <a:p>
            <a:pPr marL="0" indent="0">
              <a:buNone/>
            </a:pPr>
            <a:r>
              <a:rPr lang="en-US" sz="1050" dirty="0">
                <a:solidFill>
                  <a:srgbClr val="F0F6FC"/>
                </a:solidFill>
                <a:latin typeface="Calibri" pitchFamily="34" charset="0"/>
                <a:ea typeface="Calibri" pitchFamily="34" charset="-122"/>
                <a:cs typeface="Calibri" pitchFamily="34" charset="-120"/>
              </a:rPr>
              <a:t>We moved from Narrow AI to approaching AGI. The pace is accelerating faster than at any point in history.</a:t>
            </a:r>
            <a:endParaRPr lang="en-US" sz="1050" dirty="0"/>
          </a:p>
        </p:txBody>
      </p:sp>
      <p:sp>
        <p:nvSpPr>
          <p:cNvPr id="20" name="Text 18"/>
          <p:cNvSpPr/>
          <p:nvPr/>
        </p:nvSpPr>
        <p:spPr>
          <a:xfrm>
            <a:off x="411480" y="4160520"/>
            <a:ext cx="8321040" cy="347472"/>
          </a:xfrm>
          <a:prstGeom prst="rect">
            <a:avLst/>
          </a:prstGeom>
          <a:noFill/>
          <a:ln/>
        </p:spPr>
        <p:txBody>
          <a:bodyPr wrap="square" rtlCol="0" anchor="ctr"/>
          <a:lstStyle/>
          <a:p>
            <a:pPr marL="0" indent="0" algn="ctr">
              <a:buNone/>
            </a:pPr>
            <a:r>
              <a:rPr lang="en-US" sz="950" i="1" dirty="0">
                <a:solidFill>
                  <a:srgbClr val="6B7280"/>
                </a:solidFill>
                <a:latin typeface="Calibri" pitchFamily="34" charset="0"/>
                <a:ea typeface="Calibri" pitchFamily="34" charset="-122"/>
                <a:cs typeface="Calibri" pitchFamily="34" charset="-120"/>
              </a:rPr>
              <a:t>Open for discussion  →  Which era surprises you most?  •  Are we close to AGI?  •  What should data analysts know about AI history?</a:t>
            </a:r>
            <a:endParaRPr lang="en-US" sz="950" dirty="0"/>
          </a:p>
        </p:txBody>
      </p:sp>
      <p:sp>
        <p:nvSpPr>
          <p:cNvPr id="21" name="Text 19"/>
          <p:cNvSpPr/>
          <p:nvPr/>
        </p:nvSpPr>
        <p:spPr>
          <a:xfrm>
            <a:off x="411480" y="4663440"/>
            <a:ext cx="8321040" cy="237744"/>
          </a:xfrm>
          <a:prstGeom prst="rect">
            <a:avLst/>
          </a:prstGeom>
          <a:noFill/>
          <a:ln/>
        </p:spPr>
        <p:txBody>
          <a:bodyPr wrap="square" rtlCol="0" anchor="ctr"/>
          <a:lstStyle/>
          <a:p>
            <a:pPr algn="ctr"/>
            <a:r>
              <a:rPr lang="en-US" sz="900" b="1" dirty="0">
                <a:latin typeface="Calibri" pitchFamily="34" charset="0"/>
                <a:ea typeface="Calibri" pitchFamily="34" charset="-122"/>
                <a:cs typeface="Calibri" pitchFamily="34" charset="-120"/>
              </a:rPr>
              <a:t>Created by Vijay Sai Kumar Katupilla  •  Indiana Wesleyan University  •  Instructor: Dr. Glory Adebayo</a:t>
            </a:r>
            <a:endParaRPr lang="en-US" sz="900"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a:spLocks noGrp="1"/>
          </p:cNvSpPr>
          <p:nvPr/>
        </p:nvSpPr>
        <p:spPr>
          <a:xfrm>
            <a:off x="457200" y="365760"/>
            <a:ext cx="8229600" cy="4572000"/>
          </a:xfrm>
          <a:prstGeom prst="roundRect">
            <a:avLst>
              <a:gd name="adj" fmla="val 50000"/>
            </a:avLst>
          </a:prstGeom>
          <a:solidFill>
            <a:srgbClr val="161B22"/>
          </a:solidFill>
          <a:ln w="19050">
            <a:solidFill>
              <a:srgbClr val="22D3EE"/>
            </a:solidFill>
          </a:ln>
        </p:spPr>
        <p:txBody>
          <a:bodyPr/>
          <a:lstStyle/>
          <a:p>
            <a:endParaRPr/>
          </a:p>
        </p:txBody>
      </p:sp>
      <p:sp>
        <p:nvSpPr>
          <p:cNvPr id="3" name="label"/>
          <p:cNvSpPr/>
          <p:nvPr/>
        </p:nvSpPr>
        <p:spPr>
          <a:xfrm>
            <a:off x="548640" y="457200"/>
            <a:ext cx="8229600" cy="342900"/>
          </a:xfrm>
          <a:prstGeom prst="rect">
            <a:avLst/>
          </a:prstGeom>
          <a:noFill/>
        </p:spPr>
        <p:txBody>
          <a:bodyPr anchor="ctr"/>
          <a:lstStyle/>
          <a:p>
            <a:pPr algn="ctr"/>
            <a:r>
              <a:rPr lang="en-US" sz="1100" b="1" spc="500" dirty="0">
                <a:solidFill>
                  <a:srgbClr val="22D3EE"/>
                </a:solidFill>
                <a:latin typeface="Calibri"/>
              </a:rPr>
              <a:t>R E F E R E N C E S</a:t>
            </a:r>
          </a:p>
        </p:txBody>
      </p:sp>
      <p:sp>
        <p:nvSpPr>
          <p:cNvPr id="4" name="title"/>
          <p:cNvSpPr/>
          <p:nvPr/>
        </p:nvSpPr>
        <p:spPr>
          <a:xfrm>
            <a:off x="548640" y="800100"/>
            <a:ext cx="8229600" cy="457200"/>
          </a:xfrm>
          <a:prstGeom prst="rect">
            <a:avLst/>
          </a:prstGeom>
          <a:noFill/>
        </p:spPr>
        <p:txBody>
          <a:bodyPr anchor="ctr"/>
          <a:lstStyle/>
          <a:p>
            <a:pPr algn="ctr"/>
            <a:r>
              <a:rPr lang="en-US" sz="2400" b="1" dirty="0">
                <a:solidFill>
                  <a:srgbClr val="F0F6FC"/>
                </a:solidFill>
                <a:latin typeface="Calibri"/>
              </a:rPr>
              <a:t>Sources Used in This Timeline</a:t>
            </a:r>
          </a:p>
        </p:txBody>
      </p:sp>
      <p:sp>
        <p:nvSpPr>
          <p:cNvPr id="5" name="refs"/>
          <p:cNvSpPr/>
          <p:nvPr/>
        </p:nvSpPr>
        <p:spPr>
          <a:xfrm>
            <a:off x="640080" y="1371600"/>
            <a:ext cx="8046720" cy="3200400"/>
          </a:xfrm>
          <a:prstGeom prst="rect">
            <a:avLst/>
          </a:prstGeom>
          <a:noFill/>
        </p:spPr>
        <p:txBody>
          <a:bodyPr wrap="square" anchor="t"/>
          <a:lstStyle/>
          <a:p>
            <a:pPr marL="457200" indent="-457200"/>
            <a:endParaRPr lang="en-US" sz="1100" dirty="0">
              <a:solidFill>
                <a:srgbClr val="F0F6FC"/>
              </a:solidFill>
              <a:latin typeface="Calibri"/>
            </a:endParaRPr>
          </a:p>
          <a:p>
            <a:pPr marL="457200" indent="-457200"/>
            <a:endParaRPr lang="en-US" sz="1100" dirty="0">
              <a:solidFill>
                <a:srgbClr val="F0F6FC"/>
              </a:solidFill>
              <a:latin typeface="Calibri"/>
            </a:endParaRPr>
          </a:p>
          <a:p>
            <a:pPr marL="457200" indent="-457200"/>
            <a:endParaRPr lang="en-US" sz="1100" dirty="0">
              <a:solidFill>
                <a:srgbClr val="F0F6FC"/>
              </a:solidFill>
              <a:latin typeface="Calibri"/>
            </a:endParaRPr>
          </a:p>
          <a:p>
            <a:pPr marL="457200" indent="-457200"/>
            <a:endParaRPr lang="en-US" sz="1100" dirty="0">
              <a:solidFill>
                <a:srgbClr val="F0F6FC"/>
              </a:solidFill>
              <a:latin typeface="Calibri"/>
            </a:endParaRPr>
          </a:p>
          <a:p>
            <a:pPr marL="457200" indent="-457200"/>
            <a:r>
              <a:rPr lang="en-US" sz="1100" dirty="0">
                <a:solidFill>
                  <a:srgbClr val="F0F6FC"/>
                </a:solidFill>
                <a:latin typeface="Calibri"/>
              </a:rPr>
              <a:t>Bender, E., &amp; Our World in Data. (n.d.). A brief history of artificial intelligence. Our World in Data. https://ourworldindata.org/brief-history-of-ai</a:t>
            </a:r>
          </a:p>
          <a:p>
            <a:endParaRPr lang="en-US" sz="1100" dirty="0">
              <a:latin typeface="Calibri"/>
            </a:endParaRPr>
          </a:p>
          <a:p>
            <a:pPr marL="457200" indent="-457200"/>
            <a:r>
              <a:rPr lang="en-US" sz="1100" dirty="0">
                <a:solidFill>
                  <a:srgbClr val="F0F6FC"/>
                </a:solidFill>
                <a:latin typeface="Calibri"/>
              </a:rPr>
              <a:t>IEEE Computer Society. (n.d.). The evolution of AI: From foundations to future prospects. https://www.computer.org/publications/tech-news/research/evolution-of-ai</a:t>
            </a:r>
          </a:p>
          <a:p>
            <a:endParaRPr lang="en-US" sz="1100" dirty="0">
              <a:latin typeface="Calibri"/>
            </a:endParaRPr>
          </a:p>
          <a:p>
            <a:pPr marL="457200" indent="-457200"/>
            <a:r>
              <a:rPr lang="en-US" sz="1100" dirty="0">
                <a:solidFill>
                  <a:srgbClr val="F0F6FC"/>
                </a:solidFill>
                <a:latin typeface="Calibri"/>
              </a:rPr>
              <a:t>Putchuon - “Put You On.” (2024, May 30). The entire history of artificial intelligence (Last 100 years) [Video]. YouTube. https://www.youtube.com/watch?v=mSd9nmPM7Vg</a:t>
            </a:r>
          </a:p>
          <a:p>
            <a:endParaRPr lang="en-US" sz="1100" dirty="0">
              <a:latin typeface="Calibri"/>
            </a:endParaRPr>
          </a:p>
        </p:txBody>
      </p:sp>
      <p:sp>
        <p:nvSpPr>
          <p:cNvPr id="6" name="footer"/>
          <p:cNvSpPr/>
          <p:nvPr/>
        </p:nvSpPr>
        <p:spPr>
          <a:xfrm>
            <a:off x="457200" y="4891881"/>
            <a:ext cx="8686080" cy="274638"/>
          </a:xfrm>
          <a:prstGeom prst="rect">
            <a:avLst/>
          </a:prstGeom>
          <a:noFill/>
        </p:spPr>
        <p:txBody>
          <a:bodyPr anchor="ctr"/>
          <a:lstStyle/>
          <a:p>
            <a:pPr algn="ctr"/>
            <a:endParaRPr lang="en-US" sz="900" b="1"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 Boardroom</Template>
  <TotalTime>70</TotalTime>
  <Words>1635</Words>
  <Application>Microsoft Office PowerPoint</Application>
  <PresentationFormat>On-screen Show (16:9)</PresentationFormat>
  <Paragraphs>185</Paragraphs>
  <Slides>11</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Century Gothic</vt:lpstr>
      <vt:lpstr>Wingdings 3</vt:lpstr>
      <vt:lpstr>Ion Boardroom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Timeline</dc:title>
  <dc:subject>PptxGenJS Presentation</dc:subject>
  <dc:creator>Vijay Sai Kumar Katupilla</dc:creator>
  <cp:lastModifiedBy>Vijay Katupilla</cp:lastModifiedBy>
  <cp:revision>2</cp:revision>
  <dcterms:created xsi:type="dcterms:W3CDTF">2026-07-06T20:49:30Z</dcterms:created>
  <dcterms:modified xsi:type="dcterms:W3CDTF">2026-07-11T16:18:17Z</dcterms:modified>
</cp:coreProperties>
</file>